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FFFFFF"/>
                </a:solidFill>
                <a:latin typeface="Microsoft YaHei"/>
              </a:rPr>
              <a:t>河北省第三测绘院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icrosoft YaHei"/>
              </a:rPr>
              <a:t>测绘资料管理系统建设汇报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Microsoft YaHei"/>
              </a:rPr>
              <a:t>面向院领导 / 科室内部 / 信息化专项  ·  标准版（含真实界面）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235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Microsoft YaHei"/>
              </a:rPr>
              <a:t>版本 1.0.0    2026年10月</a:t>
            </a:r>
          </a:p>
          <a:p>
            <a:r>
              <a:rPr sz="1400" b="0">
                <a:solidFill>
                  <a:srgbClr val="FFFFFF"/>
                </a:solidFill>
                <a:latin typeface="Microsoft YaHei"/>
              </a:rPr>
              <a:t>模拟盒 · 电子袋 ｜ 柜体 · 档口 · 盒袋 ｜ 申请 · 审批 · 签批办结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汇报提纲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一、建设背景与目标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二、建设进度、投入与计划上线（本院数据）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三、系统总体架构与用户角色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四、核心业务能力（历史存档 / 年度资料 / 库房介质 / 出入网）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五、内控治理与部署运维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六、建设成效、下一步与请示事项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说明：约半数为系统真实界面截图（资料管理员账号演示环境）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2/50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一、建设背景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资料室业务链条长：建档、立档、借还、出入网、盘库、离库需全程可追溯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模拟资料（档案盒）与电子资料（硬盘/光盘）长期存在“两套账”风险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柜体档口、介质位置、审批签批、待办催办缺少一体化工具支撑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迎检与内控要求：审批留痕、打印单据、附件扫描、操作审计可核查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建设方向：内网桌面一体化工作台，服务资料室日常办理与院内协同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3/50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界面实况｜用户登录</a:t>
            </a:r>
          </a:p>
        </p:txBody>
      </p:sp>
      <p:pic>
        <p:nvPicPr>
          <p:cNvPr id="5" name="Picture 4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887" y="914400"/>
            <a:ext cx="9265920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1722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563"/>
                </a:solidFill>
                <a:latin typeface="Microsoft YaHei"/>
              </a:rPr>
              <a:t>登录窗：院名品牌 + 版本号 + 账号认证（内网桌面端）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4/50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建设目标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一本账：年度资料与历史存档统一可查、口径一致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一条链：申请 → 审批 → 实物交接 → 签批上传 → 办结闭环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一库房：柜体 · 档口 · 盒袋 · 硬盘/光盘位置可视可控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可审计：待办驱动、打印单据、附件留存、操作日志齐全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可落地：内网多终端共用数据库，覆盖升级不伤业务库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5/50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界面实况｜系统首页工作台</a:t>
            </a:r>
          </a:p>
        </p:txBody>
      </p:sp>
      <p:pic>
        <p:nvPicPr>
          <p:cNvPr id="5" name="Picture 4" descr="02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979" y="914400"/>
            <a:ext cx="9535737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1722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563"/>
                </a:solidFill>
                <a:latin typeface="Microsoft YaHei"/>
              </a:rPr>
              <a:t>登录后首页：待办角标引导办理，左侧按四大业务域导航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6/50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系统定位与使用角色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定位：河北省第三测绘院测绘资料管理系统（DocMgr）内网桌面客户端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部门资料员：提交各类申请（建档、借出、归还、出入网、硬盘出库等）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资料管理员：审批、立档、盘库、离库、开柜、交接办结（资料室）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系统管理员：用户/部门/角色、高级数据、操作日志等运维（不代办业务）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网管负责人：维护服务器路径设置（出入网落点）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说明：领导节点以纸质亲笔签为主，资料室在系统录入签字人姓名与日期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7/50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界面实况｜个人设置与待办偏好</a:t>
            </a:r>
          </a:p>
        </p:txBody>
      </p:sp>
      <p:pic>
        <p:nvPicPr>
          <p:cNvPr id="5" name="Picture 4" descr="37_user_pr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979" y="914400"/>
            <a:ext cx="9535737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1722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563"/>
                </a:solidFill>
                <a:latin typeface="Microsoft YaHei"/>
              </a:rPr>
              <a:t>个人设置：待办弹窗/角标/刷新策略，保障漏办可提醒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8/50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总体功能架构（四大域）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① 历史存档：地形图、航片、其他资料台账与离库处置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② 年度资料：建档立档、迁档、检索、借还、出入网、盘库离库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③ 库房与介质：库管总览、档案柜、硬盘全链路、光盘台账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④ 系统治理：审批规则、用户权限、待办、日志、会话、手册与备份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首页理念：模拟盒 · 电子袋 ｜ 柜体 · 档口 · 盒袋 ｜ 申请 · 审批 · 签批办结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9/50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界面实况｜库管资料总览</a:t>
            </a:r>
          </a:p>
        </p:txBody>
      </p:sp>
      <p:pic>
        <p:nvPicPr>
          <p:cNvPr id="5" name="Picture 4" descr="28_stock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979" y="914400"/>
            <a:ext cx="9535737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1722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563"/>
                </a:solidFill>
                <a:latin typeface="Microsoft YaHei"/>
              </a:rPr>
              <a:t>库房视角总览：盒/袋与存储位置集中查看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10/50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二、建设进度（本院数据）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C45C26"/>
                </a:solidFill>
                <a:latin typeface="Microsoft YaHei"/>
              </a:rPr>
              <a:t>总体进度：【待填：如 85%】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C45C26"/>
                </a:solidFill>
                <a:latin typeface="Microsoft YaHei"/>
              </a:rPr>
              <a:t>当前阶段：【待填：如 试运行 / 功能收口 / 数据导入】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已完成：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  · 核心业务闭环（建档—立档—借还—出入网—盘库—离库）已落地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  · 历史存档、档案柜、硬盘/光盘、审批与待办已具备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  · 内网部署、备份还原、覆盖升级与操作手册已具备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进行中：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C45C26"/>
                </a:solidFill>
                <a:latin typeface="Microsoft YaHei"/>
              </a:rPr>
              <a:t>  · 【待填：如历史台账导入、科室培训、试运行问题闭环】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待开展：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C45C26"/>
                </a:solidFill>
                <a:latin typeface="Microsoft YaHei"/>
              </a:rPr>
              <a:t>  · 【待填：如正式上线、验收、运维交接】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A5563"/>
                </a:solidFill>
                <a:latin typeface="Microsoft YaHei"/>
              </a:rPr>
              <a:t>橙色【待填】项请在 docs/ppt-report/institute_data.yaml 填写后重新生成 PPT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11/50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投入概算与计划节点（本院数据）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C45C26"/>
                </a:solidFill>
                <a:latin typeface="Microsoft YaHei"/>
              </a:rPr>
              <a:t>启动时间：【待填：立项/启动时间，如 2025年X月】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C45C26"/>
                </a:solidFill>
                <a:latin typeface="Microsoft YaHei"/>
              </a:rPr>
              <a:t>设计定稿：【待填：需求与设计定稿时间】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C45C26"/>
                </a:solidFill>
                <a:latin typeface="Microsoft YaHei"/>
              </a:rPr>
              <a:t>开发主体完成：【待填：开发主体完成时间】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C45C26"/>
                </a:solidFill>
                <a:latin typeface="Microsoft YaHei"/>
              </a:rPr>
              <a:t>试运行开始：【待填：试运行开始时间】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C45C26"/>
                </a:solidFill>
                <a:latin typeface="Microsoft YaHei"/>
              </a:rPr>
              <a:t>计划正式上线：【待填：计划正式上线时间，如 2026年X月】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C45C26"/>
                </a:solidFill>
                <a:latin typeface="Microsoft YaHei"/>
              </a:rPr>
              <a:t>计划验收：【待填：计划验收时间】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C45C26"/>
                </a:solidFill>
                <a:latin typeface="Microsoft YaHei"/>
              </a:rPr>
              <a:t>人力投入：【待填：人天或人月】　硬件：【待填：服务器/终端，如沿用现有内网环境则写「沿用现有」】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C45C26"/>
                </a:solidFill>
                <a:latin typeface="Microsoft YaHei"/>
              </a:rPr>
              <a:t>软件/许可：【待填：许可/工具费用，无则写「无额外采购」】　总投入：【待填：总投入概算】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C45C26"/>
                </a:solidFill>
                <a:latin typeface="Microsoft YaHei"/>
              </a:rPr>
              <a:t>经费说明：【待填：经费来源或说明】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C45C26"/>
                </a:solidFill>
                <a:latin typeface="Microsoft YaHei"/>
              </a:rPr>
              <a:t>试点科室：【待填：试点科室，如 资料室、航测外业室】　试运行规模：【待填：试运行账号规模】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C45C26"/>
                </a:solidFill>
                <a:latin typeface="Microsoft YaHei"/>
              </a:rPr>
              <a:t>数据量级：【待填：已导入台账/办件量级】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12/50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三、历史存档管理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覆盖：地形图图件、航摄胶片/像片、其他资料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支持按盒管理、台账查询、Excel 导入与离库处置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处置方式含销毁/转交/其他，办结前确认实物撤柜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与标准档案柜档口用途联动（历史专用 / 混用）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价值：长周期存量资料与年度资料同一平台管理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13/50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界面实况｜地形图图件</a:t>
            </a:r>
          </a:p>
        </p:txBody>
      </p:sp>
      <p:pic>
        <p:nvPicPr>
          <p:cNvPr id="5" name="Picture 4" descr="03_topo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979" y="914400"/>
            <a:ext cx="9535737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14/50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界面实况｜航摄胶片、像片</a:t>
            </a:r>
          </a:p>
        </p:txBody>
      </p:sp>
      <p:pic>
        <p:nvPicPr>
          <p:cNvPr id="5" name="Picture 4" descr="04_aerial_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979" y="914400"/>
            <a:ext cx="9535737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15/50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界面实况｜历史存档台账与处置</a:t>
            </a:r>
          </a:p>
        </p:txBody>
      </p:sp>
      <p:pic>
        <p:nvPicPr>
          <p:cNvPr id="5" name="Picture 4" descr="06_hist_box_led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979" y="914400"/>
            <a:ext cx="9535737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1722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563"/>
                </a:solidFill>
                <a:latin typeface="Microsoft YaHei"/>
              </a:rPr>
              <a:t>历史盒台账；处置见 07_hist_disposal.png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16/50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四、年度资料全生命周期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建档申请 → 建档审批 → 实物交接/签批 → 办结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→ 资料立档（模拟入盒落柜 / 电子入袋落盘柜）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→ 检索 / 检索池 → 借出 → 归还 → 迁档 → 盘库 → 离库处置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提效路径：存量硬盘直办、存档文本直办（可跳过完整建档审批）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全程形成流转台账，支持撤回、逾期提醒与强制作废（按规则）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17/50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界面实况｜建档申请</a:t>
            </a:r>
          </a:p>
        </p:txBody>
      </p:sp>
      <p:pic>
        <p:nvPicPr>
          <p:cNvPr id="5" name="Picture 4" descr="09_register_app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979" y="914400"/>
            <a:ext cx="9535737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18/50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界面实况｜建档审批（签字录入）</a:t>
            </a:r>
          </a:p>
        </p:txBody>
      </p:sp>
      <p:pic>
        <p:nvPicPr>
          <p:cNvPr id="5" name="Picture 4" descr="10_register_appro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979" y="914400"/>
            <a:ext cx="9535737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1722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563"/>
                </a:solidFill>
                <a:latin typeface="Microsoft YaHei"/>
              </a:rPr>
              <a:t>资料室录入各部门签字人；领导线下亲笔签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19/50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界面实况｜资料立档</a:t>
            </a:r>
          </a:p>
        </p:txBody>
      </p:sp>
      <p:pic>
        <p:nvPicPr>
          <p:cNvPr id="5" name="Picture 4" descr="11_archive_fi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979" y="914400"/>
            <a:ext cx="9535737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20/50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双轨立档：模拟盒 + 电子袋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模拟介质：档案盒 → 标准/混用档口，支撑纸质与模拟资料落位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电子介质：硬盘袋/光盘袋 → 磁盘柜档口，支持空盘立档、并档等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同一项目与台账口径，避免纸质与电子“两套账”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立档后进入检索、借还、迁档、盘库、离库统一闭环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21/50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界面实况｜立档台账 / 存量硬盘直办</a:t>
            </a:r>
          </a:p>
        </p:txBody>
      </p:sp>
      <p:pic>
        <p:nvPicPr>
          <p:cNvPr id="5" name="Picture 4" descr="13_filing_led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979" y="914400"/>
            <a:ext cx="9535737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1722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563"/>
                </a:solidFill>
                <a:latin typeface="Microsoft YaHei"/>
              </a:rPr>
              <a:t>另见存量硬盘直办 12_stock_hdd_direct.png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22/50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界面实况｜资料检索（综合模式）</a:t>
            </a:r>
          </a:p>
        </p:txBody>
      </p:sp>
      <p:pic>
        <p:nvPicPr>
          <p:cNvPr id="5" name="Picture 4" descr="16_search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979" y="914400"/>
            <a:ext cx="9535737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23/50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界面实况｜检索池</a:t>
            </a:r>
          </a:p>
        </p:txBody>
      </p:sp>
      <p:pic>
        <p:nvPicPr>
          <p:cNvPr id="5" name="Picture 4" descr="17_search_p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979" y="914400"/>
            <a:ext cx="9535737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1722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563"/>
                </a:solidFill>
                <a:latin typeface="Microsoft YaHei"/>
              </a:rPr>
              <a:t>检索结果可入池，支撑后续借出/出入网等批量办理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24/50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实物流转：借出与归还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借出：申请 → 审批（多级签字）→ 实物交接 → 签批上传 → 办结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归还：完好归还与灭失分流；灭失须更完整审批与说明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流转台账记录借还全过程，便于催还与审计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与容器状态、份数、密级核实等业务规则联动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25/50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界面实况｜借出申请</a:t>
            </a:r>
          </a:p>
        </p:txBody>
      </p:sp>
      <p:pic>
        <p:nvPicPr>
          <p:cNvPr id="5" name="Picture 4" descr="18_outbound_app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979" y="914400"/>
            <a:ext cx="9535737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26/50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界面实况｜借出审批</a:t>
            </a:r>
          </a:p>
        </p:txBody>
      </p:sp>
      <p:pic>
        <p:nvPicPr>
          <p:cNvPr id="5" name="Picture 4" descr="19_outbound_appro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979" y="914400"/>
            <a:ext cx="9535737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27/50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界面实况｜归还申请 / 流转台账</a:t>
            </a:r>
          </a:p>
        </p:txBody>
      </p:sp>
      <p:pic>
        <p:nvPicPr>
          <p:cNvPr id="5" name="Picture 4" descr="19_outbound_appro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979" y="914400"/>
            <a:ext cx="9535737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1722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563"/>
                </a:solidFill>
                <a:latin typeface="Microsoft YaHei"/>
              </a:rPr>
              <a:t>流转台账见 21_circulation_ledger.png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28/50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出入网与在网数据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入网 / 出网：申请—审批—交接—路径/目录补录—办结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在网数据台账：掌握已入网资料状态与版本信息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在网数据处置：对在网资产走正式审批与办结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跨域流转台账：串联出网转建档等跨业务链条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与服务器路径设置联动，规范入网落点与责任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29/50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界面实况｜入网申请</a:t>
            </a:r>
          </a:p>
        </p:txBody>
      </p:sp>
      <p:pic>
        <p:nvPicPr>
          <p:cNvPr id="5" name="Picture 4" descr="22_net_inbound_app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979" y="914400"/>
            <a:ext cx="9535737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30/50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界面实况｜出网申请 / 在网台账</a:t>
            </a:r>
          </a:p>
        </p:txBody>
      </p:sp>
      <p:pic>
        <p:nvPicPr>
          <p:cNvPr id="5" name="Picture 4" descr="23_net_outbound_app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979" y="914400"/>
            <a:ext cx="9535737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1722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563"/>
                </a:solidFill>
                <a:latin typeface="Microsoft YaHei"/>
              </a:rPr>
              <a:t>在网台账 24、跨域台账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31/50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界面实况｜跨域流转台账</a:t>
            </a:r>
          </a:p>
        </p:txBody>
      </p:sp>
      <p:pic>
        <p:nvPicPr>
          <p:cNvPr id="5" name="Picture 4" descr="23_net_outbound_app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979" y="914400"/>
            <a:ext cx="9535737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32/50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盘库与离库处置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盘库：对在库模拟/电子资料进行核对登记，支撑账实一致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离库：销毁/转交等正式审批，上传签批与现场照片（按规则）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可联动撤柜确认、低格留盘确认等实物动作勾选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管理价值：从“能借出”升级为“盘得准、处置有据”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33/50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界面实况｜模拟资料盘库</a:t>
            </a:r>
          </a:p>
        </p:txBody>
      </p:sp>
      <p:pic>
        <p:nvPicPr>
          <p:cNvPr id="5" name="Picture 4" descr="26_sim_inven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979" y="914400"/>
            <a:ext cx="9535737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34/50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界面实况｜电子资料离库处置</a:t>
            </a:r>
          </a:p>
        </p:txBody>
      </p:sp>
      <p:pic>
        <p:nvPicPr>
          <p:cNvPr id="5" name="Picture 4" descr="27_ele_dispos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979" y="914400"/>
            <a:ext cx="9535737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35/50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五、库房与介质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档案柜：柜体登记、开柜查看、档口用途（年度/历史/混用/空白硬盘等）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硬盘：概览 KPI、初始登记、出库/归还、盘库、离库、台账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光盘：概览与台账，随资料业务联动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库管总览：盒袋与位置集中可视，减少“靠记忆找资料”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36/50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界面实况｜档案柜登记</a:t>
            </a:r>
          </a:p>
        </p:txBody>
      </p:sp>
      <p:pic>
        <p:nvPicPr>
          <p:cNvPr id="5" name="Picture 4" descr="29_cabinet_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979" y="914400"/>
            <a:ext cx="9535737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37/50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界面实况｜开柜查看</a:t>
            </a:r>
          </a:p>
        </p:txBody>
      </p:sp>
      <p:pic>
        <p:nvPicPr>
          <p:cNvPr id="5" name="Picture 4" descr="30_cabinet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979" y="914400"/>
            <a:ext cx="9535737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38/50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界面实况｜硬盘概览</a:t>
            </a:r>
          </a:p>
        </p:txBody>
      </p:sp>
      <p:pic>
        <p:nvPicPr>
          <p:cNvPr id="5" name="Picture 4" descr="31_hdd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979" y="914400"/>
            <a:ext cx="9535737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39/50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界面实况｜硬盘台账 / 出库申请</a:t>
            </a:r>
          </a:p>
        </p:txBody>
      </p:sp>
      <p:pic>
        <p:nvPicPr>
          <p:cNvPr id="5" name="Picture 4" descr="34_hdd_led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979" y="914400"/>
            <a:ext cx="9535737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1722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563"/>
                </a:solidFill>
                <a:latin typeface="Microsoft YaHei"/>
              </a:rPr>
              <a:t>出库申请见 33_hdd_outbound.png；初始登记见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40/50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界面实况｜光盘概览与台账</a:t>
            </a:r>
          </a:p>
        </p:txBody>
      </p:sp>
      <p:pic>
        <p:nvPicPr>
          <p:cNvPr id="5" name="Picture 4" descr="35_od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979" y="914400"/>
            <a:ext cx="9535737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1722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563"/>
                </a:solidFill>
                <a:latin typeface="Microsoft YaHei"/>
              </a:rPr>
              <a:t>光盘台账见 36_od_ledger.png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41/50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六、内控治理能力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审批规则可配置：部门负责人、资料室、生产科、分管领导等节点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打印审批单/交接单；办结前签字栏留白，办结后可预填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附件：签批扫描、资料/处置/硬盘照片；支持高拍仪直拍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待办角标/弹窗/总览驱动办理；逾期设置可配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数据库操作日志、在线用户与登录记录，满足审计与运维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42/50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界面实况｜审核审批规则</a:t>
            </a:r>
          </a:p>
        </p:txBody>
      </p:sp>
      <p:pic>
        <p:nvPicPr>
          <p:cNvPr id="5" name="Picture 4" descr="39_approval_w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979" y="914400"/>
            <a:ext cx="9535737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43/50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界面实况｜待办事项总览</a:t>
            </a:r>
          </a:p>
        </p:txBody>
      </p:sp>
      <p:pic>
        <p:nvPicPr>
          <p:cNvPr id="5" name="Picture 4" descr="40_todo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979" y="914400"/>
            <a:ext cx="9535737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44/50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界面实况｜用户 / 会话 / 操作日志</a:t>
            </a:r>
          </a:p>
        </p:txBody>
      </p:sp>
      <p:pic>
        <p:nvPicPr>
          <p:cNvPr id="5" name="Picture 4" descr="38_user_mgm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979" y="914400"/>
            <a:ext cx="9535737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1722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563"/>
                </a:solidFill>
                <a:latin typeface="Microsoft YaHei"/>
              </a:rPr>
              <a:t>会话 42_session.png；日志 41_db_log.png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45/50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部署与运维方式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形态：Windows 桌面客户端（WPF），非互联网公开系统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数据：内网数据库多终端共用；升级前全员退出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升级：只换程序文件，不覆盖业务库；支持自动迁移前备份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交付：覆盖发布脚本 / 自包含安装包 / 可选安装向导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运维：高级数据管理备份还原；操作手册内置（版本与库路径可见）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46/50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界面实况｜操作手册</a:t>
            </a:r>
          </a:p>
        </p:txBody>
      </p:sp>
      <p:pic>
        <p:nvPicPr>
          <p:cNvPr id="5" name="Picture 4" descr="43_he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979" y="914400"/>
            <a:ext cx="9535737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1722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A5563"/>
                </a:solidFill>
                <a:latin typeface="Microsoft YaHei"/>
              </a:rPr>
              <a:t>当前演示版本：1.0.0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47/50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建设成效（可按试运行数据再充实）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业务闭环已覆盖：建档—立档—借还—出入网—盘库—离库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历史存档、柜体档口、硬盘/光盘与年度资料同一工作台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审批、打印、附件、待办、日志齐全，满足内控与迎检留痕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角色权限清晰：申请侧与资料室办理侧分离，减少越权代办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C45C26"/>
                </a:solidFill>
                <a:latin typeface="Microsoft YaHei"/>
              </a:rPr>
              <a:t>试运行：【待填：试点科室，如 资料室、航测外业室】；数据量级：【待填：已导入台账/办件量级】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48/50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397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icrosoft YaHei"/>
              </a:rPr>
              <a:t>下一步计划与请示事项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C45C26"/>
                </a:solidFill>
                <a:latin typeface="Microsoft YaHei"/>
              </a:rPr>
              <a:t>按计划节点推进上线：【待填：计划正式上线时间，如 2026年X月】（请审定）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扩大试点科室培训，固化《操作规程》与角色分工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完成历史台账/存量数据导入与盘点核对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根据试运行反馈优化审批节点、逾期提醒与报表通报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请示：是否同意按上述计划进入试运行/正式上线阶段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A37"/>
                </a:solidFill>
                <a:latin typeface="Microsoft YaHei"/>
              </a:rPr>
              <a:t>请示：建设投入与保障条件是否按本院数据口径予以确认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49/50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icrosoft YaHei"/>
              </a:rPr>
              <a:t>敬请批评指正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Microsoft YaHei"/>
              </a:rPr>
              <a:t>河北省第三测绘院 · 测绘资料管理系统</a:t>
            </a:r>
          </a:p>
          <a:p>
            <a:r>
              <a:rPr sz="1400" b="0">
                <a:solidFill>
                  <a:srgbClr val="FFFFFF"/>
                </a:solidFill>
                <a:latin typeface="Microsoft YaHei"/>
              </a:rPr>
              <a:t>数据填写：docs/ppt-report/institute_data.yaml</a:t>
            </a:r>
          </a:p>
          <a:p>
            <a:r>
              <a:rPr sz="1400" b="0">
                <a:solidFill>
                  <a:srgbClr val="FFFFFF"/>
                </a:solidFill>
                <a:latin typeface="Microsoft YaHei"/>
              </a:rPr>
              <a:t>重新生成：python docs/ppt-report/build_pptx.py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3"/>
                </a:solidFill>
                <a:latin typeface="Microsoft YaHei"/>
              </a:rPr>
              <a:t>河北省第三测绘院 · 测绘资料管理系统  |  50/50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