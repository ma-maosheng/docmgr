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61" r:id="rId17"/>
    <p:sldId id="273" r:id="rId18"/>
    <p:sldId id="263" r:id="rId19"/>
    <p:sldId id="274" r:id="rId20"/>
    <p:sldId id="292" r:id="rId21"/>
    <p:sldId id="293" r:id="rId22"/>
    <p:sldId id="294" r:id="rId23"/>
    <p:sldId id="347" r:id="rId24"/>
    <p:sldId id="348" r:id="rId25"/>
    <p:sldId id="349" r:id="rId26"/>
    <p:sldId id="350" r:id="rId27"/>
    <p:sldId id="351" r:id="rId28"/>
    <p:sldId id="352" r:id="rId29"/>
    <p:sldId id="353" r:id="rId30"/>
    <p:sldId id="354" r:id="rId31"/>
    <p:sldId id="355" r:id="rId32"/>
    <p:sldId id="356" r:id="rId33"/>
    <p:sldId id="276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07" r:id="rId46"/>
    <p:sldId id="308" r:id="rId47"/>
    <p:sldId id="309" r:id="rId48"/>
    <p:sldId id="310" r:id="rId49"/>
    <p:sldId id="311" r:id="rId50"/>
    <p:sldId id="313" r:id="rId51"/>
    <p:sldId id="314" r:id="rId52"/>
    <p:sldId id="315" r:id="rId53"/>
    <p:sldId id="316" r:id="rId54"/>
    <p:sldId id="317" r:id="rId55"/>
    <p:sldId id="318" r:id="rId56"/>
    <p:sldId id="319" r:id="rId57"/>
    <p:sldId id="320" r:id="rId58"/>
    <p:sldId id="321" r:id="rId59"/>
    <p:sldId id="280" r:id="rId60"/>
    <p:sldId id="322" r:id="rId61"/>
    <p:sldId id="323" r:id="rId62"/>
    <p:sldId id="324" r:id="rId63"/>
    <p:sldId id="325" r:id="rId64"/>
    <p:sldId id="326" r:id="rId65"/>
    <p:sldId id="327" r:id="rId66"/>
    <p:sldId id="329" r:id="rId67"/>
    <p:sldId id="328" r:id="rId68"/>
    <p:sldId id="330" r:id="rId69"/>
    <p:sldId id="331" r:id="rId70"/>
    <p:sldId id="332" r:id="rId71"/>
    <p:sldId id="284" r:id="rId72"/>
    <p:sldId id="333" r:id="rId73"/>
    <p:sldId id="334" r:id="rId74"/>
    <p:sldId id="335" r:id="rId75"/>
    <p:sldId id="336" r:id="rId76"/>
    <p:sldId id="338" r:id="rId77"/>
    <p:sldId id="339" r:id="rId78"/>
    <p:sldId id="340" r:id="rId79"/>
    <p:sldId id="341" r:id="rId80"/>
    <p:sldId id="288" r:id="rId81"/>
    <p:sldId id="342" r:id="rId82"/>
    <p:sldId id="344" r:id="rId83"/>
    <p:sldId id="345" r:id="rId84"/>
    <p:sldId id="346" r:id="rId85"/>
    <p:sldId id="357" r:id="rId86"/>
    <p:sldId id="291" r:id="rId87"/>
    <p:sldId id="358" r:id="rId88"/>
    <p:sldId id="359" r:id="rId89"/>
    <p:sldId id="360" r:id="rId90"/>
    <p:sldId id="361" r:id="rId91"/>
    <p:sldId id="362" r:id="rId92"/>
    <p:sldId id="275" r:id="rId93"/>
    <p:sldId id="363" r:id="rId94"/>
    <p:sldId id="277" r:id="rId95"/>
    <p:sldId id="278" r:id="rId96"/>
    <p:sldId id="279" r:id="rId97"/>
    <p:sldId id="364" r:id="rId98"/>
    <p:sldId id="281" r:id="rId99"/>
    <p:sldId id="282" r:id="rId100"/>
    <p:sldId id="283" r:id="rId101"/>
    <p:sldId id="365" r:id="rId102"/>
    <p:sldId id="285" r:id="rId103"/>
    <p:sldId id="286" r:id="rId104"/>
    <p:sldId id="287" r:id="rId105"/>
    <p:sldId id="366" r:id="rId106"/>
    <p:sldId id="289" r:id="rId107"/>
    <p:sldId id="290" r:id="rId108"/>
    <p:sldId id="367" r:id="rId109"/>
    <p:sldId id="368" r:id="rId110"/>
    <p:sldId id="295" r:id="rId111"/>
    <p:sldId id="369" r:id="rId112"/>
    <p:sldId id="370" r:id="rId113"/>
    <p:sldId id="371" r:id="rId114"/>
    <p:sldId id="372" r:id="rId115"/>
    <p:sldId id="373" r:id="rId116"/>
    <p:sldId id="374" r:id="rId117"/>
    <p:sldId id="375" r:id="rId118"/>
    <p:sldId id="376" r:id="rId119"/>
    <p:sldId id="377" r:id="rId120"/>
    <p:sldId id="378" r:id="rId121"/>
    <p:sldId id="379" r:id="rId122"/>
    <p:sldId id="380" r:id="rId123"/>
    <p:sldId id="381" r:id="rId124"/>
    <p:sldId id="382" r:id="rId125"/>
    <p:sldId id="383" r:id="rId126"/>
    <p:sldId id="384" r:id="rId127"/>
    <p:sldId id="385" r:id="rId128"/>
    <p:sldId id="386" r:id="rId129"/>
    <p:sldId id="387" r:id="rId130"/>
    <p:sldId id="388" r:id="rId1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54DBF5-A915-F610-6155-D1304745F5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116904-B89F-1D8F-3685-ED1E89E830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BD561F-B318-4EB7-1F93-41161DF75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5B42-92F3-4427-9743-E30E4C445EB2}" type="datetimeFigureOut">
              <a:rPr lang="zh-CN" altLang="en-US" smtClean="0"/>
              <a:t>2026-10-19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3A5CBC-ABF9-489C-B2F4-85FB5DB13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259626-FD56-54C1-8CFA-61AA58FAC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ED0D-7EF7-4241-B393-0F2279512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504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65BC4-FADA-CB29-F76E-5452603E2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744C94-0CC4-AF8A-3E47-ED40383C6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64B0DF-45B6-984C-9805-3728483CB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5B42-92F3-4427-9743-E30E4C445EB2}" type="datetimeFigureOut">
              <a:rPr lang="zh-CN" altLang="en-US" smtClean="0"/>
              <a:t>2026-10-19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876942-EE28-CEED-CC6B-2E01B33E6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260B59-8C64-CEC8-A806-A3CE9303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ED0D-7EF7-4241-B393-0F2279512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5962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D8A0DB-A4D2-8CE6-0DE4-B30E01C07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8A220F-AAC6-14D2-2402-ABF7CF748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53843E-6C28-5AB1-9FF5-3A3042B97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5B42-92F3-4427-9743-E30E4C445EB2}" type="datetimeFigureOut">
              <a:rPr lang="zh-CN" altLang="en-US" smtClean="0"/>
              <a:t>2026-10-19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5390B1-4BCE-BED1-55C4-4E86E4ED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4119B2-2FAE-D48D-160A-65522B9A9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ED0D-7EF7-4241-B393-0F2279512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342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B37892-23B2-5832-0C66-B4231478F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4326A4-5730-F9EF-DADC-2974536DE3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EC7B340-13C5-F3FC-BA8B-F525D5D4DA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C4BE12-9DFA-81FC-2479-E5B7F005B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5B42-92F3-4427-9743-E30E4C445EB2}" type="datetimeFigureOut">
              <a:rPr lang="zh-CN" altLang="en-US" smtClean="0"/>
              <a:t>2026-10-19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D3B46D-6B1D-3461-3A8C-5063AECED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1F506C-09E6-50B6-EFDC-775F38D1B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ED0D-7EF7-4241-B393-0F2279512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687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0E7DE6-83E9-576A-5FD8-7D5F5D0C0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5B40F5-4B24-902D-27FF-B00751C3F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10C1C7B-CDAB-2B62-4DD0-0A5CD943C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7AD3611-13D8-3757-3751-A887C0AD55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639BC3E-FA8C-C703-2779-C85C326F4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8985624-8361-A43F-8BFE-5648FBCA6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5B42-92F3-4427-9743-E30E4C445EB2}" type="datetimeFigureOut">
              <a:rPr lang="zh-CN" altLang="en-US" smtClean="0"/>
              <a:t>2026-10-19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717B79A-A159-752E-3FD3-DA1D38598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48BBDDF-F659-0005-66BA-017AED6FD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ED0D-7EF7-4241-B393-0F2279512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3687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9CACDC-A982-C3C5-A655-959E7E6F1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B96E847-E07F-71E0-3050-E8A7208B2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5B42-92F3-4427-9743-E30E4C445EB2}" type="datetimeFigureOut">
              <a:rPr lang="zh-CN" altLang="en-US" smtClean="0"/>
              <a:t>2026-10-19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B7FFD79-9800-A6AB-5C07-140F6DABE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11AFF7D-213A-47F3-2C3A-907CD71F7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ED0D-7EF7-4241-B393-0F2279512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153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87AC7A-CEAD-1EE1-F437-6B9F8333E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5B42-92F3-4427-9743-E30E4C445EB2}" type="datetimeFigureOut">
              <a:rPr lang="zh-CN" altLang="en-US" smtClean="0"/>
              <a:t>2026-10-19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DB93FD6-AC2D-2FE5-5A25-00701ED0B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91642C-12C6-573F-D15D-7A7824D0D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ED0D-7EF7-4241-B393-0F2279512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203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4741D5-2FDE-0298-15E5-549DBDEE0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41E588-3AC4-59EB-E87D-240289F5B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3CBE662-06D3-F856-3B4B-9BA0BE13B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736794-F0C2-3EC2-A746-3F3B3C737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5B42-92F3-4427-9743-E30E4C445EB2}" type="datetimeFigureOut">
              <a:rPr lang="zh-CN" altLang="en-US" smtClean="0"/>
              <a:t>2026-10-19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B2A156-B25D-EFA7-4AAF-09125ADC7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8CB4D4-3120-0D9B-5A97-5D6BD746A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ED0D-7EF7-4241-B393-0F2279512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3361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706967-B4DC-1719-F97E-91AF9DC29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68753ED-6936-BDCB-8E67-1BEBF5D5204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C3D0D5-A25B-319E-DA02-2538E8F1D8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14857B-7CBC-89D5-602E-555F4CAA6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5B42-92F3-4427-9743-E30E4C445EB2}" type="datetimeFigureOut">
              <a:rPr lang="zh-CN" altLang="en-US" smtClean="0"/>
              <a:t>2026-10-19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4AEF72-0AE3-F75F-336C-0F8C18BF4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025B902-A192-201F-1199-C3522ED5C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ED0D-7EF7-4241-B393-0F2279512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048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B81D77-7005-5641-1348-86C10FB32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C666F9-BDED-79DC-4821-CEC2F8ECE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E4E1A4-6F15-BED5-6133-DD87EC798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5B42-92F3-4427-9743-E30E4C445EB2}" type="datetimeFigureOut">
              <a:rPr lang="zh-CN" altLang="en-US" smtClean="0"/>
              <a:t>2026-10-19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9A5B7C-697B-7539-E2B1-FF03742EB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1AE5F7-D0ED-B878-08D0-C93A60A60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ED0D-7EF7-4241-B393-0F2279512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1589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D8CBD88-8597-230E-FEB1-39BC8C423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A1BA38B-3132-3A84-3C2B-C86A7763D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8C459E-5637-BA5B-1983-2FF009C9D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5B42-92F3-4427-9743-E30E4C445EB2}" type="datetimeFigureOut">
              <a:rPr lang="zh-CN" altLang="en-US" smtClean="0"/>
              <a:t>2026-10-19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FEE0D-2D5D-EBAC-50D0-C610FD34D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D3D3AE-A07D-30D5-EE2C-6134A7D34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ED0D-7EF7-4241-B393-0F2279512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738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F5039DC-4770-1160-E918-3FFA20F6E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50AE57-2D1E-FD93-132D-489620283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68F8-42CF-483E-9BF6-4FCC4AAE5F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D05B42-92F3-4427-9743-E30E4C445EB2}" type="datetimeFigureOut">
              <a:rPr lang="zh-CN" altLang="en-US" smtClean="0"/>
              <a:t>2026-10-19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970AE3-C098-F9F9-9310-CB84CC390F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8C4B6D-5A5E-A6A0-33DF-35DD6CB00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D4ED0D-7EF7-4241-B393-0F2279512B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259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7" Type="http://schemas.openxmlformats.org/officeDocument/2006/relationships/image" Target="../media/image115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8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5.png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FFFFFF"/>
                </a:solidFill>
                <a:latin typeface="Microsoft YaHei"/>
              </a:rPr>
              <a:t>河北省第三测绘院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icrosoft YaHei"/>
              </a:rPr>
              <a:t>测绘资料管理系统建设汇报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Microsoft YaHei"/>
              </a:rPr>
              <a:t>面向院领导 / 科室内部 / 信息化专项  ·  标准版（含真实界面）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23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Microsoft YaHei"/>
              </a:rPr>
              <a:t>版本 1.0.0    2026年10月</a:t>
            </a:r>
          </a:p>
          <a:p>
            <a:r>
              <a:rPr sz="1400" b="0">
                <a:solidFill>
                  <a:srgbClr val="FFFFFF"/>
                </a:solidFill>
                <a:latin typeface="Microsoft YaHei"/>
              </a:rPr>
              <a:t>模拟盒 · 电子袋 ｜ 柜体 · 档口 · 盒袋 ｜ 申请 · 审批 · 签批办结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9BA6D07-19E6-4240-81E6-FD327B2465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D521B77-8269-D9A8-C5D7-F10CCD4A7F64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AB5BE49-A3EA-65AA-5C75-D512A28C4DAA}"/>
              </a:ext>
            </a:extLst>
          </p:cNvPr>
          <p:cNvSpPr txBox="1"/>
          <p:nvPr/>
        </p:nvSpPr>
        <p:spPr>
          <a:xfrm>
            <a:off x="355600" y="177800"/>
            <a:ext cx="114808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>
                <a:solidFill>
                  <a:srgbClr val="FFFFFF"/>
                </a:solidFill>
                <a:latin typeface="Microsoft YaHei" panose="020B0503020204020204" pitchFamily="34" charset="-122"/>
              </a:rPr>
              <a:t>汇报提纲（合成版）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05D02B3-AF7A-9FD7-C1BA-8C515E82E82F}"/>
              </a:ext>
            </a:extLst>
          </p:cNvPr>
          <p:cNvSpPr txBox="1"/>
          <p:nvPr/>
        </p:nvSpPr>
        <p:spPr>
          <a:xfrm>
            <a:off x="457200" y="1143000"/>
            <a:ext cx="11277600" cy="258532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一、建设背景、目标与系统定位</a:t>
            </a:r>
          </a:p>
          <a:p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二、建设进度、投入与计划节点（本院数据）</a:t>
            </a:r>
          </a:p>
          <a:p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三、功能导航：左侧菜单结构总览</a:t>
            </a:r>
          </a:p>
          <a:p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四、核心业务与界面实况（历史存档 </a:t>
            </a:r>
            <a:r>
              <a:rPr lang="en-US" altLang="zh-CN">
                <a:solidFill>
                  <a:srgbClr val="1F2A37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年度资料 </a:t>
            </a:r>
            <a:r>
              <a:rPr lang="en-US" altLang="zh-CN">
                <a:solidFill>
                  <a:srgbClr val="1F2A37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库房介质）</a:t>
            </a:r>
          </a:p>
          <a:p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五、内控治理、部署运维与操作手册</a:t>
            </a:r>
          </a:p>
          <a:p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六、建设成效、下一步与请示事项</a:t>
            </a:r>
          </a:p>
          <a:p>
            <a:endParaRPr lang="zh-CN" altLang="en-US">
              <a:solidFill>
                <a:srgbClr val="1F2A37"/>
              </a:solidFill>
              <a:latin typeface="Microsoft YaHei" panose="020B0503020204020204" pitchFamily="34" charset="-122"/>
            </a:endParaRPr>
          </a:p>
          <a:p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说明：本版由「建设汇报叙事」</a:t>
            </a:r>
            <a:r>
              <a:rPr lang="en-US" altLang="zh-CN">
                <a:solidFill>
                  <a:srgbClr val="1F2A37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「菜单结构图」</a:t>
            </a:r>
            <a:r>
              <a:rPr lang="en-US" altLang="zh-CN">
                <a:solidFill>
                  <a:srgbClr val="1F2A37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「界面图」梳理合成；</a:t>
            </a:r>
          </a:p>
          <a:p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界面实况收录</a:t>
            </a:r>
            <a:r>
              <a:rPr lang="en-US" altLang="zh-CN">
                <a:solidFill>
                  <a:srgbClr val="1F2A37"/>
                </a:solidFill>
                <a:latin typeface="Microsoft YaHei" panose="020B0503020204020204" pitchFamily="34" charset="-122"/>
              </a:rPr>
              <a:t>《</a:t>
            </a:r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测绘资料管理系统</a:t>
            </a:r>
            <a:r>
              <a:rPr lang="en-US" altLang="zh-CN">
                <a:solidFill>
                  <a:srgbClr val="1F2A37"/>
                </a:solidFill>
                <a:latin typeface="Microsoft YaHei" panose="020B0503020204020204" pitchFamily="34" charset="-122"/>
              </a:rPr>
              <a:t>-</a:t>
            </a:r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界面图</a:t>
            </a:r>
            <a:r>
              <a:rPr lang="en-US" altLang="zh-CN">
                <a:solidFill>
                  <a:srgbClr val="1F2A37"/>
                </a:solidFill>
                <a:latin typeface="Microsoft YaHei" panose="020B0503020204020204" pitchFamily="34" charset="-122"/>
              </a:rPr>
              <a:t>》</a:t>
            </a:r>
            <a:r>
              <a:rPr lang="zh-CN" altLang="en-US">
                <a:solidFill>
                  <a:srgbClr val="1F2A37"/>
                </a:solidFill>
                <a:latin typeface="Microsoft YaHei" panose="020B0503020204020204" pitchFamily="34" charset="-122"/>
              </a:rPr>
              <a:t>全部页面，按业务章节编排。</a:t>
            </a:r>
          </a:p>
        </p:txBody>
      </p:sp>
    </p:spTree>
    <p:extLst>
      <p:ext uri="{BB962C8B-B14F-4D97-AF65-F5344CB8AC3E}">
        <p14:creationId xmlns:p14="http://schemas.microsoft.com/office/powerpoint/2010/main" val="2024363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A8B4E5F-EA0C-B5FD-E940-C112146DE2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E49E0A-1262-4F4B-391D-49DD6E5E32D6}"/>
              </a:ext>
            </a:extLst>
          </p:cNvPr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0304F6A-DABB-CC1C-11FB-2665BCFE45FB}"/>
              </a:ext>
            </a:extLst>
          </p:cNvPr>
          <p:cNvSpPr txBox="1"/>
          <p:nvPr/>
        </p:nvSpPr>
        <p:spPr>
          <a:xfrm>
            <a:off x="685800" y="1524000"/>
            <a:ext cx="10820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第一部分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4A52BC-9574-28B0-E1ED-AB5ACE4D5E30}"/>
              </a:ext>
            </a:extLst>
          </p:cNvPr>
          <p:cNvSpPr txBox="1"/>
          <p:nvPr/>
        </p:nvSpPr>
        <p:spPr>
          <a:xfrm>
            <a:off x="685800" y="2159000"/>
            <a:ext cx="1082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建设背景、目标与定位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11A3968-FF2E-72F1-F0FB-17FF63E034FC}"/>
              </a:ext>
            </a:extLst>
          </p:cNvPr>
          <p:cNvSpPr txBox="1"/>
          <p:nvPr/>
        </p:nvSpPr>
        <p:spPr>
          <a:xfrm>
            <a:off x="685800" y="3429000"/>
            <a:ext cx="108204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为什么建：资料室全链路可追溯、模拟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电子一本账、柜体档口可视</a:t>
            </a:r>
          </a:p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建成什么：内网桌面一体化工作台，服务申请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审批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交接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办结</a:t>
            </a:r>
          </a:p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谁在用：部门资料员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资料管理员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系统管理员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网管负责人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804FA41-B3D1-47E6-D13E-DC80B3B11C0D}"/>
              </a:ext>
            </a:extLst>
          </p:cNvPr>
          <p:cNvSpPr txBox="1"/>
          <p:nvPr/>
        </p:nvSpPr>
        <p:spPr>
          <a:xfrm>
            <a:off x="685800" y="6121400"/>
            <a:ext cx="10820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河北省第三测绘院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测绘资料管理系统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建设汇报（合成版）</a:t>
            </a:r>
          </a:p>
        </p:txBody>
      </p:sp>
    </p:spTree>
    <p:extLst>
      <p:ext uri="{BB962C8B-B14F-4D97-AF65-F5344CB8AC3E}">
        <p14:creationId xmlns:p14="http://schemas.microsoft.com/office/powerpoint/2010/main" val="1618093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一、建设背景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资料室业务链条长：建档、立档、借还、出入网、盘库、离库需全程可追溯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模拟资料（档案盒）与电子资料（硬盘/光盘）长期存在“两套账”风险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柜体档口、介质位置、审批签批、待办催办缺少一体化工具支撑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迎检与内控要求：审批留痕、打印单据、附件扫描、操作审计可核查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建设方向：内网桌面一体化工作台，服务资料室日常办理与院内协同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3/50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建设目标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一本账：年度资料与历史存档统一可查、口径一致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一条链：申请 → 审批 → 实物交接 → 签批上传 → 办结闭环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一库房：柜体 · 档口 · 盒袋 · 硬盘/光盘位置可视可控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可审计：待办驱动、打印单据、附件留存、操作日志齐全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可落地：内网多终端共用数据库，覆盖升级不伤业务库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5/50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系统定位与使用角色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定位：河北省第三测绘院测绘资料管理系统（DocMgr）内网桌面客户端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部门资料员：提交各类申请（建档、借出、归还、出入网、硬盘出库等）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资料管理员：审批、立档、盘库、离库、开柜、交接办结（资料室）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系统管理员：用户/部门/角色、高级数据、操作日志等运维（不代办业务）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网管负责人：维护服务器路径设置（出入网落点）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说明：领导节点以纸质亲笔签为主，资料室在系统录入签字人姓名与日期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7/50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总体功能架构（四大域）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① 历史存档：地形图、航片、其他资料台账与离库处置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② 年度资料：建档立档、迁档、检索、借还、出入网、盘库离库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③ 库房与介质：库管总览、档案柜、硬盘全链路、光盘台账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④ 系统治理：审批规则、用户权限、待办、日志、会话、手册与备份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首页理念：模拟盒 · 电子袋 ｜ 柜体 · 档口 · 盒袋 ｜ 申请 · 审批 · 签批办结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9/50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258926A-6ADB-ADD8-7764-1DA67514165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B65F9C-3D3D-D6C9-5203-41AFD0DEF51C}"/>
              </a:ext>
            </a:extLst>
          </p:cNvPr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83016FC-E9A9-993B-E0B4-A3CBED4E155B}"/>
              </a:ext>
            </a:extLst>
          </p:cNvPr>
          <p:cNvSpPr txBox="1"/>
          <p:nvPr/>
        </p:nvSpPr>
        <p:spPr>
          <a:xfrm>
            <a:off x="685800" y="1524000"/>
            <a:ext cx="10820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第二部分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1F6F866-59FD-6828-2750-185F70B77442}"/>
              </a:ext>
            </a:extLst>
          </p:cNvPr>
          <p:cNvSpPr txBox="1"/>
          <p:nvPr/>
        </p:nvSpPr>
        <p:spPr>
          <a:xfrm>
            <a:off x="685800" y="2159000"/>
            <a:ext cx="1082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建设进度与投入计划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28A8A96-640B-4DA7-D3A4-D17B1199A326}"/>
              </a:ext>
            </a:extLst>
          </p:cNvPr>
          <p:cNvSpPr txBox="1"/>
          <p:nvPr/>
        </p:nvSpPr>
        <p:spPr>
          <a:xfrm>
            <a:off x="685800" y="3429000"/>
            <a:ext cx="108204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进度、阶段、已完成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进行中事项（本院数据）</a:t>
            </a:r>
          </a:p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投入概算与计划上线节点（待填项见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institute_data.yaml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CAD0B80-3942-F230-21FD-9B8AFF824994}"/>
              </a:ext>
            </a:extLst>
          </p:cNvPr>
          <p:cNvSpPr txBox="1"/>
          <p:nvPr/>
        </p:nvSpPr>
        <p:spPr>
          <a:xfrm>
            <a:off x="685800" y="6121400"/>
            <a:ext cx="10820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河北省第三测绘院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测绘资料管理系统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建设汇报（合成版）</a:t>
            </a:r>
          </a:p>
        </p:txBody>
      </p:sp>
    </p:spTree>
    <p:extLst>
      <p:ext uri="{BB962C8B-B14F-4D97-AF65-F5344CB8AC3E}">
        <p14:creationId xmlns:p14="http://schemas.microsoft.com/office/powerpoint/2010/main" val="3830397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二、建设进度（本院数据）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C45C26"/>
                </a:solidFill>
                <a:latin typeface="Microsoft YaHei"/>
              </a:rPr>
              <a:t>总体进度：【待填：如 85%】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C45C26"/>
                </a:solidFill>
                <a:latin typeface="Microsoft YaHei"/>
              </a:rPr>
              <a:t>当前阶段：【待填：如 试运行 / 功能收口 / 数据导入】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已完成：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  · 核心业务闭环（建档—立档—借还—出入网—盘库—离库）已落地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  · 历史存档、档案柜、硬盘/光盘、审批与待办已具备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  · 内网部署、备份还原、覆盖升级与操作手册已具备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进行中：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C45C26"/>
                </a:solidFill>
                <a:latin typeface="Microsoft YaHei"/>
              </a:rPr>
              <a:t>  · 【待填：如历史台账导入、科室培训、试运行问题闭环】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待开展：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C45C26"/>
                </a:solidFill>
                <a:latin typeface="Microsoft YaHei"/>
              </a:rPr>
              <a:t>  · 【待填：如正式上线、验收、运维交接】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A5563"/>
                </a:solidFill>
                <a:latin typeface="Microsoft YaHei"/>
              </a:rPr>
              <a:t>橙色【待填】项请在 docs/ppt-report/institute_data.yaml 填写后重新生成 PPT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11/50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投入概算与计划节点（本院数据）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C45C26"/>
                </a:solidFill>
                <a:latin typeface="Microsoft YaHei"/>
              </a:rPr>
              <a:t>启动时间：【待填：立项/启动时间，如 2025年X月】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C45C26"/>
                </a:solidFill>
                <a:latin typeface="Microsoft YaHei"/>
              </a:rPr>
              <a:t>设计定稿：【待填：需求与设计定稿时间】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C45C26"/>
                </a:solidFill>
                <a:latin typeface="Microsoft YaHei"/>
              </a:rPr>
              <a:t>开发主体完成：【待填：开发主体完成时间】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C45C26"/>
                </a:solidFill>
                <a:latin typeface="Microsoft YaHei"/>
              </a:rPr>
              <a:t>试运行开始：【待填：试运行开始时间】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C45C26"/>
                </a:solidFill>
                <a:latin typeface="Microsoft YaHei"/>
              </a:rPr>
              <a:t>计划正式上线：【待填：计划正式上线时间，如 2026年X月】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C45C26"/>
                </a:solidFill>
                <a:latin typeface="Microsoft YaHei"/>
              </a:rPr>
              <a:t>计划验收：【待填：计划验收时间】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C45C26"/>
                </a:solidFill>
                <a:latin typeface="Microsoft YaHei"/>
              </a:rPr>
              <a:t>人力投入：【待填：人天或人月】　硬件：【待填：服务器/终端，如沿用现有内网环境则写「沿用现有」】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C45C26"/>
                </a:solidFill>
                <a:latin typeface="Microsoft YaHei"/>
              </a:rPr>
              <a:t>软件/许可：【待填：许可/工具费用，无则写「无额外采购」】　总投入：【待填：总投入概算】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C45C26"/>
                </a:solidFill>
                <a:latin typeface="Microsoft YaHei"/>
              </a:rPr>
              <a:t>经费说明：【待填：经费来源或说明】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C45C26"/>
                </a:solidFill>
                <a:latin typeface="Microsoft YaHei"/>
              </a:rPr>
              <a:t>试点科室：【待填：试点科室，如 资料室、航测外业室】　试运行规模：【待填：试运行账号规模】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C45C26"/>
                </a:solidFill>
                <a:latin typeface="Microsoft YaHei"/>
              </a:rPr>
              <a:t>数据量级：【待填：已导入台账/办件量级】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12/50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41EAADF-C1F2-4159-669F-A6575F521B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EA2DCF-69D6-2A3C-12DA-4F27747C05FC}"/>
              </a:ext>
            </a:extLst>
          </p:cNvPr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A60B673-59DE-1AFF-1EC6-E75E39D27544}"/>
              </a:ext>
            </a:extLst>
          </p:cNvPr>
          <p:cNvSpPr txBox="1"/>
          <p:nvPr/>
        </p:nvSpPr>
        <p:spPr>
          <a:xfrm>
            <a:off x="685800" y="1524000"/>
            <a:ext cx="10820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第三部分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2FFF0A0-6948-3C87-605E-03C3868F00AA}"/>
              </a:ext>
            </a:extLst>
          </p:cNvPr>
          <p:cNvSpPr txBox="1"/>
          <p:nvPr/>
        </p:nvSpPr>
        <p:spPr>
          <a:xfrm>
            <a:off x="685800" y="2159000"/>
            <a:ext cx="1082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功能导航：菜单结构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D9F749F-2178-EC5F-CE01-2A18AB49BF01}"/>
              </a:ext>
            </a:extLst>
          </p:cNvPr>
          <p:cNvSpPr txBox="1"/>
          <p:nvPr/>
        </p:nvSpPr>
        <p:spPr>
          <a:xfrm>
            <a:off x="685800" y="3429000"/>
            <a:ext cx="108204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与主窗口左侧导航一致，五大一级模块</a:t>
            </a:r>
          </a:p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便于领导快速把握系统覆盖范围与入口层级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1F30407-C386-B4DF-8675-138A91C1CD42}"/>
              </a:ext>
            </a:extLst>
          </p:cNvPr>
          <p:cNvSpPr txBox="1"/>
          <p:nvPr/>
        </p:nvSpPr>
        <p:spPr>
          <a:xfrm>
            <a:off x="685800" y="6121400"/>
            <a:ext cx="10820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河北省第三测绘院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测绘资料管理系统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建设汇报（合成版）</a:t>
            </a:r>
          </a:p>
        </p:txBody>
      </p:sp>
    </p:spTree>
    <p:extLst>
      <p:ext uri="{BB962C8B-B14F-4D97-AF65-F5344CB8AC3E}">
        <p14:creationId xmlns:p14="http://schemas.microsoft.com/office/powerpoint/2010/main" val="3448713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一、导航总览（与主窗口左侧菜单一致）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97280"/>
            <a:ext cx="2148840" cy="502920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历史存档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64208"/>
            <a:ext cx="2148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1F2A37"/>
                </a:solidFill>
                <a:latin typeface="Microsoft YaHei"/>
              </a:rPr>
              <a:t>图件台账与历史离库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24912" y="1097280"/>
            <a:ext cx="2148840" cy="502920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年度资料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24912" y="1664208"/>
            <a:ext cx="2148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1F2A37"/>
                </a:solidFill>
                <a:latin typeface="Microsoft YaHei"/>
              </a:rPr>
              <a:t>建档立档→流转→出入网→盘库离库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38344" y="1097280"/>
            <a:ext cx="2148840" cy="502920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库房与介质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38344" y="1664208"/>
            <a:ext cx="2148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1F2A37"/>
                </a:solidFill>
                <a:latin typeface="Microsoft YaHei"/>
              </a:rPr>
              <a:t>柜体 · 硬盘 · 光盘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51776" y="1097280"/>
            <a:ext cx="2148840" cy="502920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系统设置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51776" y="1664208"/>
            <a:ext cx="2148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1F2A37"/>
                </a:solidFill>
                <a:latin typeface="Microsoft YaHei"/>
              </a:rPr>
              <a:t>用户权限 · 审核 · 运维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65208" y="1097280"/>
            <a:ext cx="2148840" cy="502920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帮助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65208" y="1664208"/>
            <a:ext cx="2148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1F2A37"/>
                </a:solidFill>
                <a:latin typeface="Microsoft YaHei"/>
              </a:rPr>
              <a:t>操作手册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11247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F2A37"/>
                </a:solidFill>
                <a:latin typeface="Microsoft YaHei"/>
              </a:rPr>
              <a:t>• 层级约定：一级模块（手风琴）→ 二级分组/直达菜单 → 三级功能页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F2A37"/>
                </a:solidFill>
                <a:latin typeface="Microsoft YaHei"/>
              </a:rPr>
              <a:t>• 年度资料按生命周期编排：项目信息 → 建档与立档 → 迁档 → 检索 → 实物流转 → 出入网 → 盘库与离库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F2A37"/>
                </a:solidFill>
                <a:latin typeface="Microsoft YaHei"/>
              </a:rPr>
              <a:t>• 库房与介质：库管总览 + 档案柜 + 硬盘全流程 + 光盘台账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F2A37"/>
                </a:solidFill>
                <a:latin typeface="Microsoft YaHei"/>
              </a:rPr>
              <a:t>• 导航全员可进浏览；写入/办理仍按角色控制（详见「角色概览」）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· 左侧导航菜单结构  |  2/8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二、历史存档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194560" cy="438912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历史存档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00200"/>
            <a:ext cx="2697480" cy="329184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地形图图件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600200"/>
            <a:ext cx="2697480" cy="329184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航摄胶片、像片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600200"/>
            <a:ext cx="2697480" cy="329184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其他资料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1600200"/>
            <a:ext cx="2697480" cy="329184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资料台账与资料处置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88552" y="1984248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台账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8552" y="2368296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处置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· 左侧导航菜单结构  |  3/8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二、年度资料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194560" cy="438912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年度资料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554480"/>
            <a:ext cx="2724912" cy="338328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项目信息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554480"/>
            <a:ext cx="2724912" cy="292608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建档与立档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00984" y="1901952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建档申请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00984" y="2231136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建档审批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00984" y="2560320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资料立档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00984" y="2889504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存量硬盘直办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00984" y="3218688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存档文本直办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00984" y="3547872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立档台账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554480"/>
            <a:ext cx="2724912" cy="292608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迁档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5624" y="1901952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模拟介质资料迁档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4" y="2231136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电子介质资料迁档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5624" y="2560320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迁档台账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1554480"/>
            <a:ext cx="2724912" cy="292608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检索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0264" y="1901952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资料检索(综合模式)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4" y="2231136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电子介质资料检索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0264" y="2560320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模拟介质资料检索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0264" y="2889504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检索池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977639"/>
            <a:ext cx="3669792" cy="292608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实物流转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" y="4325112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借出申请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" y="4654296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借出审批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" y="4983479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归还申请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" y="5312664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归还审批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" y="5641848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流转台账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91000" y="3977639"/>
            <a:ext cx="3669792" cy="292608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出入网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45864" y="4325112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入网申请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45864" y="4654296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入网审批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45864" y="4983479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出网申请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45864" y="5312664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出网审批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45864" y="5641848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在网数据台账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45864" y="5971031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在网数据处置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45864" y="6300216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跨域流转台账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70520" y="3977639"/>
            <a:ext cx="3669792" cy="292608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盘库与离库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25384" y="4325112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模拟资料盘库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25384" y="4654296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电子资料盘库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25384" y="4983479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模拟资料离库处置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25384" y="5312664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电子资料离库处置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· 左侧导航菜单结构  |  4/8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二、库房与介质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194560" cy="438912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库房与介质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00200"/>
            <a:ext cx="2697480" cy="329184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库管资料总览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600200"/>
            <a:ext cx="2697480" cy="329184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档案柜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9272" y="1984248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档案柜登记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9272" y="2368296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开柜查看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600200"/>
            <a:ext cx="2697480" cy="329184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硬盘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984248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概览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2368296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初始登记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2752344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出库申请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3136391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出库办理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3912" y="3520439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归还申请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3912" y="3904487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归还办理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3912" y="4288536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盘库登记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4672583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离库处置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5056631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硬盘台账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1600200"/>
            <a:ext cx="2697480" cy="329184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光盘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88552" y="1984248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概览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88552" y="2368296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光盘台账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· 左侧导航菜单结构  |  5/8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二、系统设置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194560" cy="438912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系统设置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个人设置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59" y="1600200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用户管理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600200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部门设置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12264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角色概览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59" y="2112264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审核审批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2112264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服务器路径设置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24328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逾期设置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59" y="2624328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数据库操作日志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624328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在线用户与登录记录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136392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待办事项总览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59" y="3136392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高级数据管理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· 左侧导航菜单结构  |  6/8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二、帮助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194560" cy="438912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帮助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00200"/>
            <a:ext cx="11201400" cy="329184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操作手册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· 左侧导航菜单结构  |  7/8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三、功能入口清单（完整路径）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5577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历史存档 · 地形图图件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历史存档 · 航摄胶片、像片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历史存档 · 其他资料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历史存档 · 资料台账与资料处置 · 台账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历史存档 · 资料台账与资料处置 · 处置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项目信息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建档与立档 · 建档申请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建档与立档 · 建档审批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建档与立档 · 资料立档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建档与立档 · 存量硬盘直办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建档与立档 · 存档文本直办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建档与立档 · 立档台账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迁档 · 模拟介质资料迁档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迁档 · 电子介质资料迁档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迁档 · 迁档台账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检索 · 资料检索(综合模式)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检索 · 电子介质资料检索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检索 · 模拟介质资料检索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检索 · 检索池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实物流转 · 借出申请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实物流转 · 借出审批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实物流转 · 归还申请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实物流转 · 归还审批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实物流转 · 流转台账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出入网 · 入网申请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出入网 · 入网审批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出入网 · 出网申请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出入网 · 出网审批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出入网 · 在网数据台账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出入网 · 在网数据处置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出入网 · 跨域流转台账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914400"/>
            <a:ext cx="5577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盘库与离库 · 模拟资料盘库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盘库与离库 · 电子资料盘库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盘库与离库 · 模拟资料离库处置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盘库与离库 · 电子资料离库处置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库管资料总览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档案柜 · 档案柜登记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档案柜 · 开柜查看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硬盘 · 概览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硬盘 · 初始登记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硬盘 · 出库申请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硬盘 · 出库办理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硬盘 · 归还申请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硬盘 · 归还办理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硬盘 · 盘库登记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硬盘 · 离库处置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硬盘 · 硬盘台账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光盘 · 概览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光盘 · 光盘台账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个人设置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用户管理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部门设置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角色概览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审核审批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服务器路径设置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逾期设置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数据库操作日志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在线用户与登录记录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待办事项总览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高级数据管理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帮助 · 操作手册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· 左侧导航菜单结构  |  8/8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DBE3E09-E2F8-D7DA-4020-D7D80B869F2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11EEEA3-1A56-BFF2-73F9-C8A9FB8D34F3}"/>
              </a:ext>
            </a:extLst>
          </p:cNvPr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22FD59D-AEF3-E3FE-981A-DA4876FBF01D}"/>
              </a:ext>
            </a:extLst>
          </p:cNvPr>
          <p:cNvSpPr txBox="1"/>
          <p:nvPr/>
        </p:nvSpPr>
        <p:spPr>
          <a:xfrm>
            <a:off x="685800" y="1524000"/>
            <a:ext cx="10820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第四部分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580314D-0A7F-9CDE-A6A4-E0D69B4FDA8C}"/>
              </a:ext>
            </a:extLst>
          </p:cNvPr>
          <p:cNvSpPr txBox="1"/>
          <p:nvPr/>
        </p:nvSpPr>
        <p:spPr>
          <a:xfrm>
            <a:off x="685800" y="2159000"/>
            <a:ext cx="1082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核心业务与界面实况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92C1494-09BC-6369-9CB1-86B4D81E1B0C}"/>
              </a:ext>
            </a:extLst>
          </p:cNvPr>
          <p:cNvSpPr txBox="1"/>
          <p:nvPr/>
        </p:nvSpPr>
        <p:spPr>
          <a:xfrm>
            <a:off x="685800" y="3429000"/>
            <a:ext cx="108204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以下界面页完整收录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《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测绘资料管理系统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-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界面图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》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全部内容</a:t>
            </a:r>
          </a:p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编排顺序：历史存档 → 年度资料 → 库房与介质 → 系统设置与手册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5E06184-F2DA-A20B-B728-571EA6554CE1}"/>
              </a:ext>
            </a:extLst>
          </p:cNvPr>
          <p:cNvSpPr txBox="1"/>
          <p:nvPr/>
        </p:nvSpPr>
        <p:spPr>
          <a:xfrm>
            <a:off x="685800" y="6121400"/>
            <a:ext cx="10820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河北省第三测绘院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测绘资料管理系统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建设汇报（合成版）</a:t>
            </a:r>
          </a:p>
        </p:txBody>
      </p:sp>
    </p:spTree>
    <p:extLst>
      <p:ext uri="{BB962C8B-B14F-4D97-AF65-F5344CB8AC3E}">
        <p14:creationId xmlns:p14="http://schemas.microsoft.com/office/powerpoint/2010/main" val="27323187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1729E0D-1391-19AB-FE38-3628E3BFB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285875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5743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85EF621-6514-D624-9C16-E91DA912B7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002CAB-5A3A-D2B6-F561-49ECCC1000D7}"/>
              </a:ext>
            </a:extLst>
          </p:cNvPr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43B1C6F-6B84-B108-B75B-970352095D73}"/>
              </a:ext>
            </a:extLst>
          </p:cNvPr>
          <p:cNvSpPr txBox="1"/>
          <p:nvPr/>
        </p:nvSpPr>
        <p:spPr>
          <a:xfrm>
            <a:off x="685800" y="1524000"/>
            <a:ext cx="10820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第四部分 </a:t>
            </a:r>
            <a:r>
              <a:rPr lang="en-US" altLang="zh-CN">
                <a:solidFill>
                  <a:srgbClr val="FFFFFF"/>
                </a:solidFill>
                <a:latin typeface="Microsoft YaHei" panose="020B0503020204020204" pitchFamily="34" charset="-122"/>
              </a:rPr>
              <a:t>· A</a:t>
            </a:r>
            <a:endParaRPr lang="zh-CN" altLang="en-US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A9769C6-DEF4-67F5-E750-09F1919FD401}"/>
              </a:ext>
            </a:extLst>
          </p:cNvPr>
          <p:cNvSpPr txBox="1"/>
          <p:nvPr/>
        </p:nvSpPr>
        <p:spPr>
          <a:xfrm>
            <a:off x="685800" y="2159000"/>
            <a:ext cx="1082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历史存档管理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56EF164-F0CA-48AE-8E3C-E162237073B5}"/>
              </a:ext>
            </a:extLst>
          </p:cNvPr>
          <p:cNvSpPr txBox="1"/>
          <p:nvPr/>
        </p:nvSpPr>
        <p:spPr>
          <a:xfrm>
            <a:off x="685800" y="3429000"/>
            <a:ext cx="108204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地形图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航片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其他资料台账</a:t>
            </a:r>
          </a:p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离库处置与柜体档口联动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ECEE73-5E3B-F249-7A11-EDA1F9D325FC}"/>
              </a:ext>
            </a:extLst>
          </p:cNvPr>
          <p:cNvSpPr txBox="1"/>
          <p:nvPr/>
        </p:nvSpPr>
        <p:spPr>
          <a:xfrm>
            <a:off x="685800" y="6121400"/>
            <a:ext cx="10820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河北省第三测绘院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测绘资料管理系统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建设汇报（合成版）</a:t>
            </a:r>
          </a:p>
        </p:txBody>
      </p:sp>
    </p:spTree>
    <p:extLst>
      <p:ext uri="{BB962C8B-B14F-4D97-AF65-F5344CB8AC3E}">
        <p14:creationId xmlns:p14="http://schemas.microsoft.com/office/powerpoint/2010/main" val="5045054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三、历史存档管理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覆盖：地形图图件、航摄胶片/像片、其他资料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支持按盒管理、台账查询、Excel 导入与离库处置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处置方式含销毁/转交/其他，办结前确认实物撤柜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与标准档案柜档口用途联动（历史专用 / 混用）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价值：长周期存量资料与年度资料同一平台管理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13/50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CCEC3-4B8E-A220-B31D-825E3E11F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870BF1-FF0B-95FC-064A-0E2179488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历史存档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地形图图件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AB31F1C-292D-30D3-0874-5C3208503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316" y="845666"/>
            <a:ext cx="9663368" cy="571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8734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7E1FE-21A4-F537-A5D9-E6CC0197E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AB843F-FB5D-E3C5-292F-05781E5AC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历史存档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地形图图件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A789341-CD2B-E640-324B-687BDC6B5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9" y="830471"/>
            <a:ext cx="10154194" cy="552134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F277B9C-0100-2C27-805F-6CA9A90DE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4148" y="3001796"/>
            <a:ext cx="6093804" cy="349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7509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F04A0-89EC-7A34-1052-9B82EC420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49EBAB-0BFD-73B7-F95D-440070601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历史存档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航摄胶片、像片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83ABEAB-8C49-CB1F-D2E6-756685429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617" y="827466"/>
            <a:ext cx="9952402" cy="5894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0242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F3599-5EF3-7C38-1FAA-F928C7F78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C264AF-B3EF-3046-FF00-B90CE3D05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历史存档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航摄胶片、像片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DA70A25-9F55-B272-4B87-B57BE5D77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457" y="873779"/>
            <a:ext cx="10755086" cy="584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572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38A52-4767-F5F9-EF29-9EA7C462E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D3C8E5-D326-7822-C8B2-E403BE820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历史存档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航摄胶片、像片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601D311-9770-EA72-468A-1B9234824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880169"/>
            <a:ext cx="9807295" cy="5711059"/>
          </a:xfrm>
          <a:prstGeom prst="rect">
            <a:avLst/>
          </a:prstGeom>
        </p:spPr>
      </p:pic>
      <p:sp>
        <p:nvSpPr>
          <p:cNvPr id="6" name="标注: 左箭头 5">
            <a:extLst>
              <a:ext uri="{FF2B5EF4-FFF2-40B4-BE49-F238E27FC236}">
                <a16:creationId xmlns:a16="http://schemas.microsoft.com/office/drawing/2014/main" id="{945A2161-CB68-0704-B0B2-E1EAA9539DAE}"/>
              </a:ext>
            </a:extLst>
          </p:cNvPr>
          <p:cNvSpPr/>
          <p:nvPr/>
        </p:nvSpPr>
        <p:spPr>
          <a:xfrm>
            <a:off x="10789920" y="2629989"/>
            <a:ext cx="914400" cy="2046514"/>
          </a:xfrm>
          <a:prstGeom prst="lef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自动检测冲突</a:t>
            </a:r>
          </a:p>
        </p:txBody>
      </p:sp>
    </p:spTree>
    <p:extLst>
      <p:ext uri="{BB962C8B-B14F-4D97-AF65-F5344CB8AC3E}">
        <p14:creationId xmlns:p14="http://schemas.microsoft.com/office/powerpoint/2010/main" val="28433644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ECEF3-9195-1CF2-D354-34B8607FD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D67C3C-B5FF-12AE-ED4E-AFFEF2F47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4084" y="23079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历史存档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其他资料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1E8F02A-F6E3-6496-830A-9EDCCBF23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143" y="951955"/>
            <a:ext cx="9935781" cy="5402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8671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BB1AE-BDAD-D19C-6A3B-6DC602663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128F7F-2F9E-2219-122A-100440FB9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4084" y="23079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历史存档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资料台账与资料处置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台账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E843102-4330-2447-B28E-E48DAB623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817" y="897512"/>
            <a:ext cx="10537371" cy="572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5096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11196-2DD9-357B-8E99-DD0B555F6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39AEC8-A2D0-0FAC-98D1-00FC62D45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4084" y="23079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历史存档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资料台账与资料处置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处置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53AADA1-C2C2-9717-E350-F61A8EEB9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417" y="951148"/>
            <a:ext cx="9437058" cy="5676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0023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A6E888D-39B4-F0E8-BE19-0F7561E31B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1C1895-DD0C-86E0-D263-A3F23AA6DD60}"/>
              </a:ext>
            </a:extLst>
          </p:cNvPr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5EFEA6C-CCC8-DFB2-E3FE-AFF69FDF2173}"/>
              </a:ext>
            </a:extLst>
          </p:cNvPr>
          <p:cNvSpPr txBox="1"/>
          <p:nvPr/>
        </p:nvSpPr>
        <p:spPr>
          <a:xfrm>
            <a:off x="685800" y="1524000"/>
            <a:ext cx="10820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第四部分 </a:t>
            </a:r>
            <a:r>
              <a:rPr lang="en-US" altLang="zh-CN">
                <a:solidFill>
                  <a:srgbClr val="FFFFFF"/>
                </a:solidFill>
                <a:latin typeface="Microsoft YaHei" panose="020B0503020204020204" pitchFamily="34" charset="-122"/>
              </a:rPr>
              <a:t>· B</a:t>
            </a:r>
            <a:endParaRPr lang="zh-CN" altLang="en-US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1A67162-F82D-8DF9-CBB8-78856F4AFA98}"/>
              </a:ext>
            </a:extLst>
          </p:cNvPr>
          <p:cNvSpPr txBox="1"/>
          <p:nvPr/>
        </p:nvSpPr>
        <p:spPr>
          <a:xfrm>
            <a:off x="685800" y="2159000"/>
            <a:ext cx="1082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年度资料全生命周期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2A4BBE-84EB-E33C-CF60-3DB27D0AD714}"/>
              </a:ext>
            </a:extLst>
          </p:cNvPr>
          <p:cNvSpPr txBox="1"/>
          <p:nvPr/>
        </p:nvSpPr>
        <p:spPr>
          <a:xfrm>
            <a:off x="685800" y="3429000"/>
            <a:ext cx="108204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建档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立档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检索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借还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出入网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盘库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离库</a:t>
            </a:r>
          </a:p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模拟盒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电子袋双轨立档，同一口径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D083743-3E4E-CF23-A0AD-5448BF07AED6}"/>
              </a:ext>
            </a:extLst>
          </p:cNvPr>
          <p:cNvSpPr txBox="1"/>
          <p:nvPr/>
        </p:nvSpPr>
        <p:spPr>
          <a:xfrm>
            <a:off x="685800" y="6121400"/>
            <a:ext cx="10820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河北省第三测绘院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测绘资料管理系统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建设汇报（合成版）</a:t>
            </a:r>
          </a:p>
        </p:txBody>
      </p:sp>
    </p:spTree>
    <p:extLst>
      <p:ext uri="{BB962C8B-B14F-4D97-AF65-F5344CB8AC3E}">
        <p14:creationId xmlns:p14="http://schemas.microsoft.com/office/powerpoint/2010/main" val="20504014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四、年度资料全生命周期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建档申请 → 建档审批 → 实物交接/签批 → 办结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→ 资料立档（模拟入盒落柜 / 电子入袋落盘柜）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→ 检索 / 检索池 → 借出 → 归还 → 迁档 → 盘库 → 离库处置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提效路径：存量硬盘直办、存档文本直办（可跳过完整建档审批）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全程形成流转台账，支持撤回、逾期提醒与强制作废（按规则）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17/50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双轨立档：模拟盒 + 电子袋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模拟介质：档案盒 → 标准/混用档口，支撑纸质与模拟资料落位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电子介质：硬盘袋/光盘袋 → 磁盘柜档口，支持空盘立档、并档等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同一项目与台账口径，避免纸质与电子“两套账”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立档后进入检索、借还、迁档、盘库、离库统一闭环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21/50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68B47-FA85-B348-AC77-9A3973D34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6A937D-CEE6-C9C4-E914-389E32F5E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A52C955-922E-11D1-1672-360EF5D19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810" y="1223612"/>
            <a:ext cx="2029108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6050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1F8AB-D791-619D-33E3-F6BBBA34C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12AAB5-6272-9230-37F6-D0AA68238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项目信息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24A1A7A-A1D8-8D44-9C66-414259AA9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477" y="712818"/>
            <a:ext cx="8791045" cy="579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6780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88A70-223B-D07F-05AF-32D5BCD7A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5B2C36-8B94-1C0F-FCA2-3ADFA3588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ECE2E49-5190-2F6C-DDD7-A244A5C25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7992" y="1104081"/>
            <a:ext cx="2057687" cy="346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4800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81B88-825D-F02D-6671-581F6D93B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C5B379-A8CC-A4B4-3916-7D0C9CDC4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建档申请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6431215-19EC-2946-E2FD-4182839D4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253" y="726983"/>
            <a:ext cx="10385267" cy="6087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2879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DC859-DD3F-6B05-AD18-086EF2893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69B5D60E-E85A-9147-F5E2-D4428FC6C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3" y="1094206"/>
            <a:ext cx="10501745" cy="571032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99D3B17D-53F9-407F-1F73-00BB31EAE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218" y="53470"/>
            <a:ext cx="7202225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建档申请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申请信息录入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CD7ECDE-65B7-43C0-0ADD-C47DD4409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0783" y="217918"/>
            <a:ext cx="2897254" cy="1704455"/>
          </a:xfrm>
          <a:prstGeom prst="rect">
            <a:avLst/>
          </a:prstGeom>
        </p:spPr>
      </p:pic>
      <p:sp>
        <p:nvSpPr>
          <p:cNvPr id="8" name="箭头: 上 7">
            <a:extLst>
              <a:ext uri="{FF2B5EF4-FFF2-40B4-BE49-F238E27FC236}">
                <a16:creationId xmlns:a16="http://schemas.microsoft.com/office/drawing/2014/main" id="{C4034A45-FA3A-024E-F333-C4CC0D177B00}"/>
              </a:ext>
            </a:extLst>
          </p:cNvPr>
          <p:cNvSpPr/>
          <p:nvPr/>
        </p:nvSpPr>
        <p:spPr>
          <a:xfrm rot="3777324">
            <a:off x="6767688" y="-205749"/>
            <a:ext cx="299754" cy="454103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606E644-E03D-7665-BE82-F1D7A6A174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9982" y="3388329"/>
            <a:ext cx="2465763" cy="3416202"/>
          </a:xfrm>
          <a:prstGeom prst="rect">
            <a:avLst/>
          </a:prstGeom>
        </p:spPr>
      </p:pic>
      <p:sp>
        <p:nvSpPr>
          <p:cNvPr id="13" name="箭头: 上 12">
            <a:extLst>
              <a:ext uri="{FF2B5EF4-FFF2-40B4-BE49-F238E27FC236}">
                <a16:creationId xmlns:a16="http://schemas.microsoft.com/office/drawing/2014/main" id="{87FAA015-820A-677B-EAAB-1B3535C045B7}"/>
              </a:ext>
            </a:extLst>
          </p:cNvPr>
          <p:cNvSpPr/>
          <p:nvPr/>
        </p:nvSpPr>
        <p:spPr>
          <a:xfrm rot="4674228">
            <a:off x="4072824" y="3099716"/>
            <a:ext cx="304800" cy="5967932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6999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901E5-9A02-3CDC-FA86-C6F3A9EB3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C9C4EA-7A3F-64BA-5403-4C8BC552C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建档审批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90F16D9-95C4-5A06-DF8D-DC57C62C6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587" y="641033"/>
            <a:ext cx="10346826" cy="616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4609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C92E0-E697-ABC1-620A-BB4BA1851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4D4A7C-E0F1-BA4F-D785-540580F8E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建档审批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2EBD46A-C89D-4EEB-811E-1EE824C55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74" y="1568355"/>
            <a:ext cx="9467272" cy="515114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4632C8B-EBA2-C971-AD0F-CDA5DEDDA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4554" y="657289"/>
            <a:ext cx="6095996" cy="852587"/>
          </a:xfrm>
          <a:prstGeom prst="rect">
            <a:avLst/>
          </a:prstGeom>
        </p:spPr>
      </p:pic>
      <p:sp>
        <p:nvSpPr>
          <p:cNvPr id="9" name="箭头: 直角上 8">
            <a:extLst>
              <a:ext uri="{FF2B5EF4-FFF2-40B4-BE49-F238E27FC236}">
                <a16:creationId xmlns:a16="http://schemas.microsoft.com/office/drawing/2014/main" id="{C69164FE-7536-A721-4610-FBC2C074ADB3}"/>
              </a:ext>
            </a:extLst>
          </p:cNvPr>
          <p:cNvSpPr/>
          <p:nvPr/>
        </p:nvSpPr>
        <p:spPr>
          <a:xfrm>
            <a:off x="9836728" y="1603928"/>
            <a:ext cx="812800" cy="5080000"/>
          </a:xfrm>
          <a:prstGeom prst="bentUpArrow">
            <a:avLst>
              <a:gd name="adj1" fmla="val 9354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4560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D4867-47B1-95C1-75A8-043730A82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2B475B-2425-FCDC-13E8-1EF47D95D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919466" cy="545341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资料立档（模拟介质）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6CCF346-125F-BC55-DC4D-163E1A498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945" y="908977"/>
            <a:ext cx="10298545" cy="558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1061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B6186-45BE-BD04-EEA1-58E279E0F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A12DBE-C577-C5D4-3F4D-19BA49A4F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919466" cy="545341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资料立档（电子介质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46177FC-85CC-B4CA-5AFC-40880A742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54" y="598811"/>
            <a:ext cx="10945091" cy="5951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4471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84A29-7572-C0DF-7598-ACB8B61E1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80C786-3B86-FD89-AD44-55FD49751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919466" cy="545341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资料立档（电子介质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-2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7A74E24-6D5C-5C61-1F59-B9DDF0B6F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08" y="598811"/>
            <a:ext cx="11018982" cy="599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1893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BC3E1-1176-3C0A-06D8-2F88DF423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788738-0ACA-F574-F224-DB9C73DB2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919466" cy="545341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资料立档（电子介质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-3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1A3FF1E-71F3-2D0C-8AE2-F0C75D058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33" y="1671781"/>
            <a:ext cx="5121747" cy="471516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985CC94-249F-0F3E-A83E-A57D5C9ED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327" y="1671781"/>
            <a:ext cx="5522694" cy="453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2859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10434-10E3-C49A-BCF3-4BCD74915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09C076-FD49-F5D1-2875-29EC20E2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91946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资料立档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8BA57D2-F5C9-A4EA-E4A7-ED1D469EF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34" y="1274610"/>
            <a:ext cx="5285523" cy="302029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D78905D-759A-1A49-C099-9914A917C886}"/>
              </a:ext>
            </a:extLst>
          </p:cNvPr>
          <p:cNvSpPr txBox="1"/>
          <p:nvPr/>
        </p:nvSpPr>
        <p:spPr>
          <a:xfrm>
            <a:off x="4531983" y="770568"/>
            <a:ext cx="2117887" cy="369332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待立档</a:t>
            </a:r>
            <a:r>
              <a:rPr lang="en-US" altLang="zh-CN" dirty="0"/>
              <a:t>/</a:t>
            </a:r>
            <a:r>
              <a:rPr lang="zh-CN" altLang="en-US" dirty="0"/>
              <a:t>已立档情况</a:t>
            </a:r>
          </a:p>
        </p:txBody>
      </p:sp>
      <p:sp>
        <p:nvSpPr>
          <p:cNvPr id="8" name="箭头: 上 7">
            <a:extLst>
              <a:ext uri="{FF2B5EF4-FFF2-40B4-BE49-F238E27FC236}">
                <a16:creationId xmlns:a16="http://schemas.microsoft.com/office/drawing/2014/main" id="{CB2C8529-4F63-F018-2FD9-D3EC0CA58B58}"/>
              </a:ext>
            </a:extLst>
          </p:cNvPr>
          <p:cNvSpPr/>
          <p:nvPr/>
        </p:nvSpPr>
        <p:spPr>
          <a:xfrm rot="15044181">
            <a:off x="3290855" y="226268"/>
            <a:ext cx="253198" cy="227277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1122213-EB7A-9513-8062-39AD9CF12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2013" y="3186544"/>
            <a:ext cx="2986653" cy="336547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408BBE8-9DB5-0AC5-D6B3-930CFA9C24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5224" y="770568"/>
            <a:ext cx="3266872" cy="201881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07338BB-C1A5-5EEB-9574-E3BD9C0AE5DB}"/>
              </a:ext>
            </a:extLst>
          </p:cNvPr>
          <p:cNvSpPr txBox="1"/>
          <p:nvPr/>
        </p:nvSpPr>
        <p:spPr>
          <a:xfrm>
            <a:off x="6452122" y="3186544"/>
            <a:ext cx="1869423" cy="646331"/>
          </a:xfrm>
          <a:prstGeom prst="rect">
            <a:avLst/>
          </a:prstGeom>
          <a:noFill/>
          <a:ln w="22225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模拟资料档案盒</a:t>
            </a:r>
            <a:endParaRPr lang="en-US" altLang="zh-CN" dirty="0"/>
          </a:p>
          <a:p>
            <a:r>
              <a:rPr lang="zh-CN" altLang="en-US" dirty="0"/>
              <a:t>电子介质硬盘袋</a:t>
            </a:r>
          </a:p>
        </p:txBody>
      </p:sp>
      <p:sp>
        <p:nvSpPr>
          <p:cNvPr id="14" name="箭头: 上 13">
            <a:extLst>
              <a:ext uri="{FF2B5EF4-FFF2-40B4-BE49-F238E27FC236}">
                <a16:creationId xmlns:a16="http://schemas.microsoft.com/office/drawing/2014/main" id="{072E2121-786A-7E48-68C3-D0E1FF5935BD}"/>
              </a:ext>
            </a:extLst>
          </p:cNvPr>
          <p:cNvSpPr/>
          <p:nvPr/>
        </p:nvSpPr>
        <p:spPr>
          <a:xfrm rot="3246154">
            <a:off x="7677850" y="1733654"/>
            <a:ext cx="358731" cy="157941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上 14">
            <a:extLst>
              <a:ext uri="{FF2B5EF4-FFF2-40B4-BE49-F238E27FC236}">
                <a16:creationId xmlns:a16="http://schemas.microsoft.com/office/drawing/2014/main" id="{86E23EE8-ABC1-705F-9068-6BBA2B581983}"/>
              </a:ext>
            </a:extLst>
          </p:cNvPr>
          <p:cNvSpPr/>
          <p:nvPr/>
        </p:nvSpPr>
        <p:spPr>
          <a:xfrm rot="7072857">
            <a:off x="7875035" y="3732263"/>
            <a:ext cx="328255" cy="130232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7880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32A49-DC86-500D-1A04-C01494959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D56F81-3711-9CD2-30B2-7D5867ADB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91946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立档台账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C409244-2B9E-9EA4-6B19-0F1C6A7C2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45" y="783705"/>
            <a:ext cx="10825018" cy="588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360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B3C44-7E08-685F-D461-7E2D97542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6F78B1-EB94-B2B2-8DD4-FFC238324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91946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立档台账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F3163BB-9438-5CF9-164A-D31F17952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10" y="922144"/>
            <a:ext cx="7528681" cy="406427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C99E9EE-F02E-409F-8EB8-C3AEE2014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545" y="5139903"/>
            <a:ext cx="10400145" cy="159190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861B0B29-DC78-F512-0D9A-F7B30F386548}"/>
              </a:ext>
            </a:extLst>
          </p:cNvPr>
          <p:cNvSpPr txBox="1"/>
          <p:nvPr/>
        </p:nvSpPr>
        <p:spPr>
          <a:xfrm>
            <a:off x="9033164" y="2130693"/>
            <a:ext cx="2614818" cy="1477328"/>
          </a:xfrm>
          <a:prstGeom prst="rect">
            <a:avLst/>
          </a:prstGeom>
          <a:noFill/>
          <a:ln w="22225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、建档与资料信息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、存放与容器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、立档与生命周期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、流转履历</a:t>
            </a:r>
            <a:endParaRPr lang="en-US" altLang="zh-CN" dirty="0"/>
          </a:p>
          <a:p>
            <a:r>
              <a:rPr lang="en-US" altLang="zh-CN" dirty="0"/>
              <a:t>5</a:t>
            </a:r>
            <a:r>
              <a:rPr lang="zh-CN" altLang="en-US" dirty="0"/>
              <a:t>、电子介质目录与明细</a:t>
            </a:r>
          </a:p>
        </p:txBody>
      </p:sp>
      <p:sp>
        <p:nvSpPr>
          <p:cNvPr id="15" name="箭头: 左 14">
            <a:extLst>
              <a:ext uri="{FF2B5EF4-FFF2-40B4-BE49-F238E27FC236}">
                <a16:creationId xmlns:a16="http://schemas.microsoft.com/office/drawing/2014/main" id="{649EDFB3-AD88-2F1F-CC8B-47465BF52EED}"/>
              </a:ext>
            </a:extLst>
          </p:cNvPr>
          <p:cNvSpPr/>
          <p:nvPr/>
        </p:nvSpPr>
        <p:spPr>
          <a:xfrm rot="408427">
            <a:off x="1296594" y="1627133"/>
            <a:ext cx="7666181" cy="18192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左 15">
            <a:extLst>
              <a:ext uri="{FF2B5EF4-FFF2-40B4-BE49-F238E27FC236}">
                <a16:creationId xmlns:a16="http://schemas.microsoft.com/office/drawing/2014/main" id="{00FE8BBB-C03A-EC60-1914-B0B63F03E71E}"/>
              </a:ext>
            </a:extLst>
          </p:cNvPr>
          <p:cNvSpPr/>
          <p:nvPr/>
        </p:nvSpPr>
        <p:spPr>
          <a:xfrm>
            <a:off x="1365343" y="2416235"/>
            <a:ext cx="7528681" cy="23090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左 16">
            <a:extLst>
              <a:ext uri="{FF2B5EF4-FFF2-40B4-BE49-F238E27FC236}">
                <a16:creationId xmlns:a16="http://schemas.microsoft.com/office/drawing/2014/main" id="{0D60D0B2-F5F4-6599-4B6D-404A7F1E8795}"/>
              </a:ext>
            </a:extLst>
          </p:cNvPr>
          <p:cNvSpPr/>
          <p:nvPr/>
        </p:nvSpPr>
        <p:spPr>
          <a:xfrm rot="21243631">
            <a:off x="1066710" y="3166990"/>
            <a:ext cx="7730242" cy="22829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左 17">
            <a:extLst>
              <a:ext uri="{FF2B5EF4-FFF2-40B4-BE49-F238E27FC236}">
                <a16:creationId xmlns:a16="http://schemas.microsoft.com/office/drawing/2014/main" id="{57464562-3844-DB87-ADA5-EA4B4CD82B0E}"/>
              </a:ext>
            </a:extLst>
          </p:cNvPr>
          <p:cNvSpPr/>
          <p:nvPr/>
        </p:nvSpPr>
        <p:spPr>
          <a:xfrm rot="20581877">
            <a:off x="2332436" y="4044509"/>
            <a:ext cx="6564784" cy="23090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左 18">
            <a:extLst>
              <a:ext uri="{FF2B5EF4-FFF2-40B4-BE49-F238E27FC236}">
                <a16:creationId xmlns:a16="http://schemas.microsoft.com/office/drawing/2014/main" id="{9C3F9036-A3B8-6808-F75A-465604D7F64F}"/>
              </a:ext>
            </a:extLst>
          </p:cNvPr>
          <p:cNvSpPr/>
          <p:nvPr/>
        </p:nvSpPr>
        <p:spPr>
          <a:xfrm rot="20308802">
            <a:off x="2514331" y="4669044"/>
            <a:ext cx="6631473" cy="17292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5601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FF1D9-23EE-5322-4B70-AADA1C26E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F80765-9083-3620-457F-41C9882EE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91946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存量硬盘直办立档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7015B1-E61E-4FB5-E800-7C346E1B477F}"/>
              </a:ext>
            </a:extLst>
          </p:cNvPr>
          <p:cNvSpPr txBox="1"/>
          <p:nvPr/>
        </p:nvSpPr>
        <p:spPr>
          <a:xfrm>
            <a:off x="1838037" y="6259189"/>
            <a:ext cx="10153742" cy="369332"/>
          </a:xfrm>
          <a:prstGeom prst="rect">
            <a:avLst/>
          </a:prstGeom>
          <a:noFill/>
          <a:ln w="15875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用途：资料室存档数据硬盘的资料录入        文件组织形式：</a:t>
            </a:r>
            <a:r>
              <a:rPr lang="en-US" altLang="zh-CN" dirty="0"/>
              <a:t>D:\2026\</a:t>
            </a:r>
            <a:r>
              <a:rPr lang="zh-CN" altLang="en-US" dirty="0"/>
              <a:t>基础测绘</a:t>
            </a:r>
            <a:r>
              <a:rPr lang="en-US" altLang="zh-CN" dirty="0"/>
              <a:t>\</a:t>
            </a:r>
            <a:r>
              <a:rPr lang="zh-CN" altLang="en-US" dirty="0"/>
              <a:t>原始资料</a:t>
            </a:r>
            <a:r>
              <a:rPr lang="en-US" altLang="zh-CN" dirty="0"/>
              <a:t>\</a:t>
            </a:r>
            <a:r>
              <a:rPr lang="zh-CN" altLang="en-US" dirty="0"/>
              <a:t>影像成果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D07DCDD-4114-0AAC-F9CA-42CFAF20D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64" y="664239"/>
            <a:ext cx="10169236" cy="5529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8562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FA2E3-C8C9-64C0-07B0-3CF9C505E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2DF3F2E-0DCA-4CF4-5018-6657B8410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963" y="1450109"/>
            <a:ext cx="9610237" cy="522556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E05ECCB-F972-3751-E413-789E8BF6F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862" y="182325"/>
            <a:ext cx="591946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存量文本直办立档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06AB140-A325-A7A5-6CBF-646490811ED7}"/>
              </a:ext>
            </a:extLst>
          </p:cNvPr>
          <p:cNvSpPr txBox="1"/>
          <p:nvPr/>
        </p:nvSpPr>
        <p:spPr>
          <a:xfrm>
            <a:off x="230909" y="358666"/>
            <a:ext cx="3647152" cy="923330"/>
          </a:xfrm>
          <a:prstGeom prst="rect">
            <a:avLst/>
          </a:prstGeom>
          <a:noFill/>
          <a:ln w="15875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用途：资料室存档文本的资料录入</a:t>
            </a:r>
            <a:endParaRPr lang="en-US" altLang="zh-CN" dirty="0"/>
          </a:p>
          <a:p>
            <a:r>
              <a:rPr lang="zh-CN" altLang="en-US" dirty="0"/>
              <a:t>方式</a:t>
            </a:r>
            <a:r>
              <a:rPr lang="en-US" altLang="zh-CN" dirty="0"/>
              <a:t>1</a:t>
            </a:r>
            <a:r>
              <a:rPr lang="zh-CN" altLang="en-US" dirty="0"/>
              <a:t>：交互式录入</a:t>
            </a:r>
            <a:endParaRPr lang="en-US" altLang="zh-CN" dirty="0"/>
          </a:p>
          <a:p>
            <a:r>
              <a:rPr lang="zh-CN" altLang="en-US" dirty="0"/>
              <a:t>方式</a:t>
            </a:r>
            <a:r>
              <a:rPr lang="en-US" altLang="zh-CN" dirty="0"/>
              <a:t>2</a:t>
            </a:r>
            <a:r>
              <a:rPr lang="zh-CN" altLang="en-US" dirty="0"/>
              <a:t>：批量导入        </a:t>
            </a:r>
          </a:p>
        </p:txBody>
      </p:sp>
      <p:sp>
        <p:nvSpPr>
          <p:cNvPr id="5" name="箭头: 上 4">
            <a:extLst>
              <a:ext uri="{FF2B5EF4-FFF2-40B4-BE49-F238E27FC236}">
                <a16:creationId xmlns:a16="http://schemas.microsoft.com/office/drawing/2014/main" id="{A534A8F5-26F2-C120-151F-3C6375F7666F}"/>
              </a:ext>
            </a:extLst>
          </p:cNvPr>
          <p:cNvSpPr/>
          <p:nvPr/>
        </p:nvSpPr>
        <p:spPr>
          <a:xfrm rot="6049631">
            <a:off x="4071580" y="-587981"/>
            <a:ext cx="271474" cy="356821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1573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58FC4-7322-2A46-199E-880D61EE0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E51406-C276-B4A1-9B27-9FA016A90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862" y="182325"/>
            <a:ext cx="591946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存量文本直办立档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92EB6AD-2718-F552-48D2-64F61CE6BE38}"/>
              </a:ext>
            </a:extLst>
          </p:cNvPr>
          <p:cNvSpPr txBox="1"/>
          <p:nvPr/>
        </p:nvSpPr>
        <p:spPr>
          <a:xfrm>
            <a:off x="230909" y="358666"/>
            <a:ext cx="3647152" cy="923330"/>
          </a:xfrm>
          <a:prstGeom prst="rect">
            <a:avLst/>
          </a:prstGeom>
          <a:noFill/>
          <a:ln w="15875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用途：资料室存档文本的资料录入</a:t>
            </a:r>
            <a:endParaRPr lang="en-US" altLang="zh-CN" dirty="0"/>
          </a:p>
          <a:p>
            <a:r>
              <a:rPr lang="zh-CN" altLang="en-US" dirty="0"/>
              <a:t>方式</a:t>
            </a:r>
            <a:r>
              <a:rPr lang="en-US" altLang="zh-CN" dirty="0"/>
              <a:t>1</a:t>
            </a:r>
            <a:r>
              <a:rPr lang="zh-CN" altLang="en-US" dirty="0"/>
              <a:t>：交互式录入</a:t>
            </a:r>
            <a:endParaRPr lang="en-US" altLang="zh-CN" dirty="0"/>
          </a:p>
          <a:p>
            <a:r>
              <a:rPr lang="zh-CN" altLang="en-US" dirty="0"/>
              <a:t>方式</a:t>
            </a:r>
            <a:r>
              <a:rPr lang="en-US" altLang="zh-CN" dirty="0"/>
              <a:t>2</a:t>
            </a:r>
            <a:r>
              <a:rPr lang="zh-CN" altLang="en-US" dirty="0"/>
              <a:t>：批量导入        </a:t>
            </a:r>
          </a:p>
        </p:txBody>
      </p:sp>
      <p:sp>
        <p:nvSpPr>
          <p:cNvPr id="5" name="箭头: 上 4">
            <a:extLst>
              <a:ext uri="{FF2B5EF4-FFF2-40B4-BE49-F238E27FC236}">
                <a16:creationId xmlns:a16="http://schemas.microsoft.com/office/drawing/2014/main" id="{05EC8379-D888-0493-8066-162A18E1251B}"/>
              </a:ext>
            </a:extLst>
          </p:cNvPr>
          <p:cNvSpPr/>
          <p:nvPr/>
        </p:nvSpPr>
        <p:spPr>
          <a:xfrm rot="6898791">
            <a:off x="4017872" y="214094"/>
            <a:ext cx="271474" cy="356821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00282CF-D4FD-E174-0D60-358DB99B3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3854" y="825072"/>
            <a:ext cx="3247273" cy="239374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F1C4349-BD48-2953-0D5E-36F36D615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62" y="3268737"/>
            <a:ext cx="8732291" cy="347679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AC45D1F-1803-E6A2-A3E4-9D11218576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2441" y="3316219"/>
            <a:ext cx="2600803" cy="342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7733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2490E-21A9-6A5A-6255-5B13F0903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809B8A-98E3-69EA-BE5F-4A29071F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862" y="182325"/>
            <a:ext cx="591946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建档与立档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存量文本直办立档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6C84567-9240-90C1-B41C-948BE6974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6" y="583658"/>
            <a:ext cx="8155709" cy="443466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46A6C15-843D-90FB-A7CA-F027FBCD8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6133" y="2800991"/>
            <a:ext cx="6096000" cy="33147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D28BED3-BAB8-F5FE-F00D-1CEACBD769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1771" y="4779190"/>
            <a:ext cx="3607343" cy="189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067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AB60E-FC26-B2F2-4FA8-39678BB0E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AE9C09-FE6F-F114-B870-65E646A87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591946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迁档（模拟资料）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8F4EEA8-79E0-C6F0-E723-ED8BD776D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472" y="859683"/>
            <a:ext cx="9818255" cy="5338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9105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DD1AF-B64D-498D-16CB-3D5FA5818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FA5E82-EEC6-669A-71E2-35C54E640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591946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迁档（电子资料）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D0D7E0F-4673-796A-9340-722FB9FF8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18" y="681484"/>
            <a:ext cx="7871187" cy="427995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6070909-0CF7-8266-FA4F-95312384C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006" y="1307090"/>
            <a:ext cx="7804727" cy="424382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3E01EFB-C327-E02E-FE82-B2B5394798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198" y="1931901"/>
            <a:ext cx="7592291" cy="412830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6112A2B-BB38-58A9-2D97-94CDA8AE87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0254" y="2729150"/>
            <a:ext cx="7342909" cy="399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52791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F7E6F-2AFE-A461-85E4-718B3C392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EC9199-41EA-A626-BA67-72D7ACBF6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591946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迁档（迁档台账）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9587254-BD6F-76DD-AECC-4915EFB2D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1729"/>
            <a:ext cx="4053220" cy="218543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4A9643D-4B16-5DA0-3966-07E5C7109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9933" y="2457876"/>
            <a:ext cx="8610393" cy="426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3162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3488A-8E73-46CD-09FC-D6BDBA723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7234CF-A60C-7678-AB4A-203453A7B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591946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检索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综合模式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728B516-91AF-78BD-B219-5EA4C7898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011" y="921629"/>
            <a:ext cx="10145977" cy="551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931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92EAB-FA47-8786-85CF-021FF2CAF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64C7B-32D1-7D2F-B498-132EDFD10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检索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电子资料检索模式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B9D2717-1670-A73E-1F07-354BD25DC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08" y="952326"/>
            <a:ext cx="9816346" cy="533763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0B54BA0-08D5-542F-21CF-0536013AFA2F}"/>
              </a:ext>
            </a:extLst>
          </p:cNvPr>
          <p:cNvSpPr txBox="1"/>
          <p:nvPr/>
        </p:nvSpPr>
        <p:spPr>
          <a:xfrm>
            <a:off x="9011246" y="4655128"/>
            <a:ext cx="2949846" cy="646331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用途：检索结果将用于</a:t>
            </a:r>
            <a:endParaRPr lang="en-US" altLang="zh-CN" dirty="0"/>
          </a:p>
          <a:p>
            <a:r>
              <a:rPr lang="en-US" altLang="zh-CN" dirty="0"/>
              <a:t>           </a:t>
            </a:r>
            <a:r>
              <a:rPr lang="zh-CN" altLang="en-US" dirty="0"/>
              <a:t>资料借出和入网业务</a:t>
            </a:r>
          </a:p>
        </p:txBody>
      </p:sp>
    </p:spTree>
    <p:extLst>
      <p:ext uri="{BB962C8B-B14F-4D97-AF65-F5344CB8AC3E}">
        <p14:creationId xmlns:p14="http://schemas.microsoft.com/office/powerpoint/2010/main" val="39984977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1EFBF-F6A7-50E6-C2BA-60FF83B6B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693D079-CF4F-C63E-7869-1E98D5A82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7" y="1204710"/>
            <a:ext cx="9845964" cy="535374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74E36B1-E2B9-E90C-DEF7-99D281C58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检索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模拟资料检索模式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546B614-1A1D-47A9-ED7C-E5445C0177AA}"/>
              </a:ext>
            </a:extLst>
          </p:cNvPr>
          <p:cNvSpPr txBox="1"/>
          <p:nvPr/>
        </p:nvSpPr>
        <p:spPr>
          <a:xfrm>
            <a:off x="8604846" y="5330124"/>
            <a:ext cx="2949846" cy="646331"/>
          </a:xfrm>
          <a:prstGeom prst="rect">
            <a:avLst/>
          </a:prstGeom>
          <a:noFill/>
          <a:ln w="22225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用途：检索结果将用于</a:t>
            </a:r>
            <a:endParaRPr lang="en-US" altLang="zh-CN" dirty="0"/>
          </a:p>
          <a:p>
            <a:r>
              <a:rPr lang="en-US" altLang="zh-CN" dirty="0"/>
              <a:t>           </a:t>
            </a:r>
            <a:r>
              <a:rPr lang="zh-CN" altLang="en-US" dirty="0"/>
              <a:t>资料借出和入网业务</a:t>
            </a:r>
          </a:p>
        </p:txBody>
      </p:sp>
    </p:spTree>
    <p:extLst>
      <p:ext uri="{BB962C8B-B14F-4D97-AF65-F5344CB8AC3E}">
        <p14:creationId xmlns:p14="http://schemas.microsoft.com/office/powerpoint/2010/main" val="41862551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F79A7-4FAB-3ECF-CEA8-90192F298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E42C79-0AAF-E951-EFA4-23390FECD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检索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检索池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FFC79E3-964E-51BF-A391-C18C6997508B}"/>
              </a:ext>
            </a:extLst>
          </p:cNvPr>
          <p:cNvSpPr txBox="1"/>
          <p:nvPr/>
        </p:nvSpPr>
        <p:spPr>
          <a:xfrm>
            <a:off x="8290810" y="893162"/>
            <a:ext cx="2949846" cy="646331"/>
          </a:xfrm>
          <a:prstGeom prst="rect">
            <a:avLst/>
          </a:prstGeom>
          <a:noFill/>
          <a:ln w="22225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用途：检索结果将用于</a:t>
            </a:r>
            <a:endParaRPr lang="en-US" altLang="zh-CN" dirty="0"/>
          </a:p>
          <a:p>
            <a:r>
              <a:rPr lang="en-US" altLang="zh-CN" dirty="0"/>
              <a:t>           </a:t>
            </a:r>
            <a:r>
              <a:rPr lang="zh-CN" altLang="en-US" dirty="0"/>
              <a:t>资料借出和入网业务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B5804C4-2A80-9656-9B66-5D22D5B30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72" y="681483"/>
            <a:ext cx="6917163" cy="376120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99820CC-E03E-8570-ECA6-77D3B6299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296" y="2787597"/>
            <a:ext cx="7185891" cy="3907328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77CB111-BA10-C43D-F6AA-7ECAEFC46A97}"/>
              </a:ext>
            </a:extLst>
          </p:cNvPr>
          <p:cNvSpPr txBox="1"/>
          <p:nvPr/>
        </p:nvSpPr>
        <p:spPr>
          <a:xfrm>
            <a:off x="1335774" y="5007962"/>
            <a:ext cx="1800493" cy="646331"/>
          </a:xfrm>
          <a:prstGeom prst="rect">
            <a:avLst/>
          </a:prstGeom>
          <a:noFill/>
          <a:ln w="22225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电子资料检索集</a:t>
            </a:r>
            <a:endParaRPr lang="en-US" altLang="zh-CN" dirty="0"/>
          </a:p>
          <a:p>
            <a:r>
              <a:rPr lang="zh-CN" altLang="en-US" dirty="0"/>
              <a:t>模拟资料检索集</a:t>
            </a:r>
          </a:p>
        </p:txBody>
      </p:sp>
      <p:sp>
        <p:nvSpPr>
          <p:cNvPr id="13" name="箭头: 上 12">
            <a:extLst>
              <a:ext uri="{FF2B5EF4-FFF2-40B4-BE49-F238E27FC236}">
                <a16:creationId xmlns:a16="http://schemas.microsoft.com/office/drawing/2014/main" id="{F187D0D4-2B2C-5301-5ED5-CA0D8FA84C32}"/>
              </a:ext>
            </a:extLst>
          </p:cNvPr>
          <p:cNvSpPr/>
          <p:nvPr/>
        </p:nvSpPr>
        <p:spPr>
          <a:xfrm>
            <a:off x="1775404" y="1539494"/>
            <a:ext cx="330487" cy="336501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直角上 15">
            <a:extLst>
              <a:ext uri="{FF2B5EF4-FFF2-40B4-BE49-F238E27FC236}">
                <a16:creationId xmlns:a16="http://schemas.microsoft.com/office/drawing/2014/main" id="{6F710A54-2BAE-CA69-EB39-F5DAD2D125DA}"/>
              </a:ext>
            </a:extLst>
          </p:cNvPr>
          <p:cNvSpPr/>
          <p:nvPr/>
        </p:nvSpPr>
        <p:spPr>
          <a:xfrm>
            <a:off x="3335684" y="3703889"/>
            <a:ext cx="3287624" cy="1627238"/>
          </a:xfrm>
          <a:prstGeom prst="bentUpArrow">
            <a:avLst>
              <a:gd name="adj1" fmla="val 7999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503002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实物流转：借出与归还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借出：申请 → 审批（多级签字）→ 实物交接 → 签批上传 → 办结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归还：完好归还与灭失分流；灭失须更完整审批与说明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流转台账记录借还全过程，便于催还与审计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与容器状态、份数、密级核实等业务规则联动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25/50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90090-89FA-048C-2D45-18E65321D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7339DC-DE2B-D730-DC7B-4797D0AC9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BEB3846-3A96-EAE1-D665-705DEDE89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509" y="775915"/>
            <a:ext cx="2010056" cy="5306165"/>
          </a:xfrm>
          <a:prstGeom prst="rect">
            <a:avLst/>
          </a:prstGeom>
        </p:spPr>
      </p:pic>
      <p:sp>
        <p:nvSpPr>
          <p:cNvPr id="5" name="左大括号 4">
            <a:extLst>
              <a:ext uri="{FF2B5EF4-FFF2-40B4-BE49-F238E27FC236}">
                <a16:creationId xmlns:a16="http://schemas.microsoft.com/office/drawing/2014/main" id="{E543C812-797F-684B-E974-025215439F68}"/>
              </a:ext>
            </a:extLst>
          </p:cNvPr>
          <p:cNvSpPr/>
          <p:nvPr/>
        </p:nvSpPr>
        <p:spPr>
          <a:xfrm>
            <a:off x="4959928" y="3428998"/>
            <a:ext cx="822036" cy="1754909"/>
          </a:xfrm>
          <a:prstGeom prst="leftBrace">
            <a:avLst>
              <a:gd name="adj1" fmla="val 8333"/>
              <a:gd name="adj2" fmla="val 4894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4B786C4-EFE1-0966-288F-C92CCC534CC6}"/>
              </a:ext>
            </a:extLst>
          </p:cNvPr>
          <p:cNvSpPr txBox="1"/>
          <p:nvPr/>
        </p:nvSpPr>
        <p:spPr>
          <a:xfrm>
            <a:off x="3136267" y="4075619"/>
            <a:ext cx="15147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1202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EF353-899E-A7CF-4014-63CD52EA1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5D1D4B-FC94-E420-F15C-3B957505A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借出申请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9121CF0-53C4-1FAB-FBA9-A93887735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473" y="743597"/>
            <a:ext cx="10006994" cy="597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5657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D1B92-0DAE-A992-6DA2-64B22D56D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F34DFC-5619-B139-D064-D69A1CCA3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借出申请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77E76B5-7370-2660-F81E-230A14466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06" y="1726139"/>
            <a:ext cx="3218036" cy="182293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C9D58E1-BD7E-8949-3051-66712C043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07" y="3838556"/>
            <a:ext cx="3218036" cy="188189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BD3FC7B-B68F-BB99-79A0-D7A25F8D17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437" y="1587593"/>
            <a:ext cx="3338109" cy="181766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EC3AA34-532F-9FBC-9FD5-4B91D60FBC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8437" y="3684712"/>
            <a:ext cx="5532516" cy="186659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29EADAF-2A33-5169-26DE-88DE044F85D6}"/>
              </a:ext>
            </a:extLst>
          </p:cNvPr>
          <p:cNvSpPr txBox="1"/>
          <p:nvPr/>
        </p:nvSpPr>
        <p:spPr>
          <a:xfrm>
            <a:off x="4687348" y="4593728"/>
            <a:ext cx="1194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复制</a:t>
            </a:r>
            <a:r>
              <a:rPr lang="en-US" altLang="zh-CN" dirty="0"/>
              <a:t>/</a:t>
            </a:r>
            <a:r>
              <a:rPr lang="zh-CN" altLang="en-US" dirty="0"/>
              <a:t>拷贝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770F0AB-F60D-B4D1-A290-024F05761946}"/>
              </a:ext>
            </a:extLst>
          </p:cNvPr>
          <p:cNvSpPr txBox="1"/>
          <p:nvPr/>
        </p:nvSpPr>
        <p:spPr>
          <a:xfrm>
            <a:off x="7015018" y="112202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电子资料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EF372B4-4C53-BFBC-D8B9-700EFA330F8F}"/>
              </a:ext>
            </a:extLst>
          </p:cNvPr>
          <p:cNvSpPr txBox="1"/>
          <p:nvPr/>
        </p:nvSpPr>
        <p:spPr>
          <a:xfrm>
            <a:off x="4950691" y="263760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提档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5351408-5407-2048-268F-B27E634E40EC}"/>
              </a:ext>
            </a:extLst>
          </p:cNvPr>
          <p:cNvSpPr txBox="1"/>
          <p:nvPr/>
        </p:nvSpPr>
        <p:spPr>
          <a:xfrm>
            <a:off x="1565564" y="126076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模拟资料</a:t>
            </a: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DA08A0EF-FC8F-BE38-35C5-FE2FFCBFAF81}"/>
              </a:ext>
            </a:extLst>
          </p:cNvPr>
          <p:cNvSpPr/>
          <p:nvPr/>
        </p:nvSpPr>
        <p:spPr>
          <a:xfrm>
            <a:off x="5729614" y="2729939"/>
            <a:ext cx="360218" cy="1846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3F72BB08-DFB2-4212-88BB-C0301851A938}"/>
              </a:ext>
            </a:extLst>
          </p:cNvPr>
          <p:cNvSpPr/>
          <p:nvPr/>
        </p:nvSpPr>
        <p:spPr>
          <a:xfrm>
            <a:off x="5909723" y="4686061"/>
            <a:ext cx="360218" cy="1846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左 20">
            <a:extLst>
              <a:ext uri="{FF2B5EF4-FFF2-40B4-BE49-F238E27FC236}">
                <a16:creationId xmlns:a16="http://schemas.microsoft.com/office/drawing/2014/main" id="{9A86C5CD-31FB-BEDD-482B-B8A582FE7D43}"/>
              </a:ext>
            </a:extLst>
          </p:cNvPr>
          <p:cNvSpPr/>
          <p:nvPr/>
        </p:nvSpPr>
        <p:spPr>
          <a:xfrm>
            <a:off x="4396509" y="2744326"/>
            <a:ext cx="554182" cy="18466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箭头: 左 24">
            <a:extLst>
              <a:ext uri="{FF2B5EF4-FFF2-40B4-BE49-F238E27FC236}">
                <a16:creationId xmlns:a16="http://schemas.microsoft.com/office/drawing/2014/main" id="{56245C9C-5C72-7063-D652-BC1CAF3B1F20}"/>
              </a:ext>
            </a:extLst>
          </p:cNvPr>
          <p:cNvSpPr/>
          <p:nvPr/>
        </p:nvSpPr>
        <p:spPr>
          <a:xfrm>
            <a:off x="4137892" y="4686061"/>
            <a:ext cx="554182" cy="18466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017106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8347D-8276-9902-7D58-A4BCBD2BD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03A026-0561-67A2-1926-F297E6652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借出申请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274CDC4-3B42-02D4-E3C6-4556584F9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35" y="865187"/>
            <a:ext cx="10797309" cy="5856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50853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0E0B4-F070-BF5A-79DF-02527D7B9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7F4A3-7020-248E-C711-80CFFD44D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借出申请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B68B744-AC85-350C-B3A4-8DA221B93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2361" y="883796"/>
            <a:ext cx="5909973" cy="392122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17B5FB8-A3AA-48A3-A6FB-31BEE1D6B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59" y="524466"/>
            <a:ext cx="4496427" cy="421063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280CBE4-7395-7162-B939-E9ADCF35E370}"/>
              </a:ext>
            </a:extLst>
          </p:cNvPr>
          <p:cNvSpPr txBox="1"/>
          <p:nvPr/>
        </p:nvSpPr>
        <p:spPr>
          <a:xfrm>
            <a:off x="2484582" y="143111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复制模式借出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20A6F4C-580B-0E01-D4E0-4C2FDEDC35CB}"/>
              </a:ext>
            </a:extLst>
          </p:cNvPr>
          <p:cNvSpPr txBox="1"/>
          <p:nvPr/>
        </p:nvSpPr>
        <p:spPr>
          <a:xfrm>
            <a:off x="8388355" y="173686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提档模式借出</a:t>
            </a:r>
          </a:p>
        </p:txBody>
      </p:sp>
      <p:sp>
        <p:nvSpPr>
          <p:cNvPr id="11" name="箭头: 左 10">
            <a:extLst>
              <a:ext uri="{FF2B5EF4-FFF2-40B4-BE49-F238E27FC236}">
                <a16:creationId xmlns:a16="http://schemas.microsoft.com/office/drawing/2014/main" id="{2CD3EBF4-3447-A701-E3DE-4F094325A58F}"/>
              </a:ext>
            </a:extLst>
          </p:cNvPr>
          <p:cNvSpPr/>
          <p:nvPr/>
        </p:nvSpPr>
        <p:spPr>
          <a:xfrm>
            <a:off x="1498907" y="1496322"/>
            <a:ext cx="905163" cy="23892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B2AE17EE-5D45-7AA5-88BE-D92546DDD6BD}"/>
              </a:ext>
            </a:extLst>
          </p:cNvPr>
          <p:cNvSpPr/>
          <p:nvPr/>
        </p:nvSpPr>
        <p:spPr>
          <a:xfrm rot="10800000">
            <a:off x="6486497" y="1799872"/>
            <a:ext cx="1727200" cy="2632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195771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95FE3-1FAF-68FA-B609-F9F9018BB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7C94BE-7993-50C7-2D4F-AF824073B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借出审批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AE674E0-4680-31AF-34D0-EA1100635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17" y="681484"/>
            <a:ext cx="10806545" cy="587605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8B6843F-78FF-7486-6811-3B60DADE6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960" y="2119150"/>
            <a:ext cx="1904860" cy="1768799"/>
          </a:xfrm>
          <a:prstGeom prst="rect">
            <a:avLst/>
          </a:prstGeom>
        </p:spPr>
      </p:pic>
      <p:sp>
        <p:nvSpPr>
          <p:cNvPr id="13" name="箭头: 左 12">
            <a:extLst>
              <a:ext uri="{FF2B5EF4-FFF2-40B4-BE49-F238E27FC236}">
                <a16:creationId xmlns:a16="http://schemas.microsoft.com/office/drawing/2014/main" id="{30CBED6C-AE9F-0029-165C-32F5D7039AB5}"/>
              </a:ext>
            </a:extLst>
          </p:cNvPr>
          <p:cNvSpPr/>
          <p:nvPr/>
        </p:nvSpPr>
        <p:spPr>
          <a:xfrm rot="20629734" flipV="1">
            <a:off x="3265663" y="3009789"/>
            <a:ext cx="1388746" cy="12025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24377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91FC2-F7D8-BF0C-D89F-4AA6225ED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86CD53-CD11-1818-E6FB-0AD0A9CC2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借出审批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9FFA14E-FA9F-C0C8-04A7-0B4C8D05E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17" y="681484"/>
            <a:ext cx="10806545" cy="587605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E4CB1B2-9053-69F7-B77D-B4BC3B27E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61" y="2828260"/>
            <a:ext cx="2934520" cy="402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336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C7E9F-4444-4F00-6FF3-BDF195542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57266F-7545-D0EE-F9E8-9EAD8AE1D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借出前后比较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2C1A139-58FC-846F-7310-2A63C6EF4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2361" y="883796"/>
            <a:ext cx="5909973" cy="392122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D0C7492-597B-F6A1-5907-0436C9DED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59" y="524466"/>
            <a:ext cx="4496427" cy="421063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9134E6B-A5AA-DCA9-E7D4-E63B90E714E7}"/>
              </a:ext>
            </a:extLst>
          </p:cNvPr>
          <p:cNvSpPr txBox="1"/>
          <p:nvPr/>
        </p:nvSpPr>
        <p:spPr>
          <a:xfrm>
            <a:off x="2484582" y="143111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复制模式借出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8650BA1-A1F5-0010-1479-3733BD3FC782}"/>
              </a:ext>
            </a:extLst>
          </p:cNvPr>
          <p:cNvSpPr txBox="1"/>
          <p:nvPr/>
        </p:nvSpPr>
        <p:spPr>
          <a:xfrm>
            <a:off x="8388355" y="173686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提档模式借出</a:t>
            </a:r>
          </a:p>
        </p:txBody>
      </p:sp>
      <p:sp>
        <p:nvSpPr>
          <p:cNvPr id="11" name="箭头: 左 10">
            <a:extLst>
              <a:ext uri="{FF2B5EF4-FFF2-40B4-BE49-F238E27FC236}">
                <a16:creationId xmlns:a16="http://schemas.microsoft.com/office/drawing/2014/main" id="{86FC4C45-5976-75BA-7304-206DE07BD69D}"/>
              </a:ext>
            </a:extLst>
          </p:cNvPr>
          <p:cNvSpPr/>
          <p:nvPr/>
        </p:nvSpPr>
        <p:spPr>
          <a:xfrm>
            <a:off x="1498907" y="1496322"/>
            <a:ext cx="905163" cy="23892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350A9FC3-61E4-5C70-4E13-4D8385A2FA7C}"/>
              </a:ext>
            </a:extLst>
          </p:cNvPr>
          <p:cNvSpPr/>
          <p:nvPr/>
        </p:nvSpPr>
        <p:spPr>
          <a:xfrm rot="10800000">
            <a:off x="6486497" y="1799872"/>
            <a:ext cx="1727200" cy="2632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24F8B8A-FF39-20FA-BDB7-84CBF4571C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2938" y="3917341"/>
            <a:ext cx="3679179" cy="288867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FD19332-05B4-2A6E-ACC5-5CA166DCB3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3806" y="3917341"/>
            <a:ext cx="4185841" cy="2536268"/>
          </a:xfrm>
          <a:prstGeom prst="rect">
            <a:avLst/>
          </a:prstGeom>
        </p:spPr>
      </p:pic>
      <p:sp>
        <p:nvSpPr>
          <p:cNvPr id="15" name="标注: 左右箭头 14">
            <a:extLst>
              <a:ext uri="{FF2B5EF4-FFF2-40B4-BE49-F238E27FC236}">
                <a16:creationId xmlns:a16="http://schemas.microsoft.com/office/drawing/2014/main" id="{12D83ECA-EED6-58EA-381A-384972705629}"/>
              </a:ext>
            </a:extLst>
          </p:cNvPr>
          <p:cNvSpPr/>
          <p:nvPr/>
        </p:nvSpPr>
        <p:spPr>
          <a:xfrm>
            <a:off x="5482117" y="5007329"/>
            <a:ext cx="1951445" cy="1227216"/>
          </a:xfrm>
          <a:prstGeom prst="left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借出后视图</a:t>
            </a:r>
          </a:p>
        </p:txBody>
      </p:sp>
      <p:sp>
        <p:nvSpPr>
          <p:cNvPr id="17" name="标注: 左右箭头 16">
            <a:extLst>
              <a:ext uri="{FF2B5EF4-FFF2-40B4-BE49-F238E27FC236}">
                <a16:creationId xmlns:a16="http://schemas.microsoft.com/office/drawing/2014/main" id="{B8B4E378-F305-746E-52B3-80F97047B44F}"/>
              </a:ext>
            </a:extLst>
          </p:cNvPr>
          <p:cNvSpPr/>
          <p:nvPr/>
        </p:nvSpPr>
        <p:spPr>
          <a:xfrm>
            <a:off x="4005621" y="1936478"/>
            <a:ext cx="1951445" cy="1227216"/>
          </a:xfrm>
          <a:prstGeom prst="left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借出前视图</a:t>
            </a:r>
          </a:p>
        </p:txBody>
      </p:sp>
    </p:spTree>
    <p:extLst>
      <p:ext uri="{BB962C8B-B14F-4D97-AF65-F5344CB8AC3E}">
        <p14:creationId xmlns:p14="http://schemas.microsoft.com/office/powerpoint/2010/main" val="108563537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08CA8-C68C-49CE-5BD0-4E0D7ACEA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CF137B-3818-43C5-F19F-A3BEE80B8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归还申请（正常归还）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F1C4CBC-6215-7FE0-0A89-DC8F6A2CD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06" y="935666"/>
            <a:ext cx="10349021" cy="5627280"/>
          </a:xfrm>
          <a:prstGeom prst="rect">
            <a:avLst/>
          </a:prstGeom>
        </p:spPr>
      </p:pic>
      <p:sp>
        <p:nvSpPr>
          <p:cNvPr id="6" name="标注: 上箭头 5">
            <a:extLst>
              <a:ext uri="{FF2B5EF4-FFF2-40B4-BE49-F238E27FC236}">
                <a16:creationId xmlns:a16="http://schemas.microsoft.com/office/drawing/2014/main" id="{A3ECB11B-FB3E-022D-9087-D3C9AD7D6ED8}"/>
              </a:ext>
            </a:extLst>
          </p:cNvPr>
          <p:cNvSpPr/>
          <p:nvPr/>
        </p:nvSpPr>
        <p:spPr>
          <a:xfrm>
            <a:off x="7549116" y="2514600"/>
            <a:ext cx="3519376" cy="914400"/>
          </a:xfrm>
          <a:prstGeom prst="up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通过归还份数确定是否正常归还</a:t>
            </a:r>
          </a:p>
        </p:txBody>
      </p:sp>
    </p:spTree>
    <p:extLst>
      <p:ext uri="{BB962C8B-B14F-4D97-AF65-F5344CB8AC3E}">
        <p14:creationId xmlns:p14="http://schemas.microsoft.com/office/powerpoint/2010/main" val="284990406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FE0C8-AE96-5026-B39E-56CCB06D5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CC1DE23-47BA-F24A-B9C0-8A9392634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362" y="764713"/>
            <a:ext cx="10770781" cy="585661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FDC5344-8AF4-F81B-48F0-A008BE70A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归还申请（非正常归还）</a:t>
            </a:r>
          </a:p>
        </p:txBody>
      </p:sp>
      <p:sp>
        <p:nvSpPr>
          <p:cNvPr id="7" name="箭头: 圆角右 6">
            <a:extLst>
              <a:ext uri="{FF2B5EF4-FFF2-40B4-BE49-F238E27FC236}">
                <a16:creationId xmlns:a16="http://schemas.microsoft.com/office/drawing/2014/main" id="{A5A6FE64-C8D5-32DE-C79E-D6420D4FB3A9}"/>
              </a:ext>
            </a:extLst>
          </p:cNvPr>
          <p:cNvSpPr/>
          <p:nvPr/>
        </p:nvSpPr>
        <p:spPr>
          <a:xfrm rot="10800000">
            <a:off x="7208873" y="4258338"/>
            <a:ext cx="2955852" cy="2195623"/>
          </a:xfrm>
          <a:prstGeom prst="bentArrow">
            <a:avLst>
              <a:gd name="adj1" fmla="val 7620"/>
              <a:gd name="adj2" fmla="val 12797"/>
              <a:gd name="adj3" fmla="val 24009"/>
              <a:gd name="adj4" fmla="val 4332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标注: 上箭头 5">
            <a:extLst>
              <a:ext uri="{FF2B5EF4-FFF2-40B4-BE49-F238E27FC236}">
                <a16:creationId xmlns:a16="http://schemas.microsoft.com/office/drawing/2014/main" id="{907277B8-CF7B-5A2A-BDCD-C78EAACB4A86}"/>
              </a:ext>
            </a:extLst>
          </p:cNvPr>
          <p:cNvSpPr/>
          <p:nvPr/>
        </p:nvSpPr>
        <p:spPr>
          <a:xfrm>
            <a:off x="8304027" y="2339163"/>
            <a:ext cx="3519376" cy="2004237"/>
          </a:xfrm>
          <a:prstGeom prst="upArrowCallout">
            <a:avLst>
              <a:gd name="adj1" fmla="val 25000"/>
              <a:gd name="adj2" fmla="val 25000"/>
              <a:gd name="adj3" fmla="val 25000"/>
              <a:gd name="adj4" fmla="val 1723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通过归还份数确定是否正常归还</a:t>
            </a:r>
          </a:p>
        </p:txBody>
      </p:sp>
    </p:spTree>
    <p:extLst>
      <p:ext uri="{BB962C8B-B14F-4D97-AF65-F5344CB8AC3E}">
        <p14:creationId xmlns:p14="http://schemas.microsoft.com/office/powerpoint/2010/main" val="238932466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AF10A-8A0A-36A5-63D2-3E41489F6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0C1C9E-B68B-311D-F5FC-589E4C173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实物流转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流转台账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66A094E-2123-A2A9-FB6C-C7DAC4E92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49" y="607007"/>
            <a:ext cx="11245702" cy="61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67462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出入网与在网数据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入网 / 出网：申请—审批—交接—路径/目录补录—办结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在网数据台账：掌握已入网资料状态与版本信息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在网数据处置：对在网资产走正式审批与办结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跨域流转台账：串联出网转建档等跨业务链条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与服务器路径设置联动，规范入网落点与责任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29/50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39B1F-0D26-B68D-A7F1-63819BFFF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0136CB-F290-FE4E-37B2-005BB909E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出入网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入网申请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6EBD1EC-9898-D2BD-F84A-8B705A270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479" y="849760"/>
            <a:ext cx="10113654" cy="6008240"/>
          </a:xfrm>
          <a:prstGeom prst="rect">
            <a:avLst/>
          </a:prstGeom>
        </p:spPr>
      </p:pic>
      <p:sp>
        <p:nvSpPr>
          <p:cNvPr id="6" name="标注: 右箭头 5">
            <a:extLst>
              <a:ext uri="{FF2B5EF4-FFF2-40B4-BE49-F238E27FC236}">
                <a16:creationId xmlns:a16="http://schemas.microsoft.com/office/drawing/2014/main" id="{12186EAB-8C61-DDA8-99AB-C15814720779}"/>
              </a:ext>
            </a:extLst>
          </p:cNvPr>
          <p:cNvSpPr/>
          <p:nvPr/>
        </p:nvSpPr>
        <p:spPr>
          <a:xfrm>
            <a:off x="609600" y="3317965"/>
            <a:ext cx="2142308" cy="1271452"/>
          </a:xfrm>
          <a:prstGeom prst="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档外资料</a:t>
            </a:r>
          </a:p>
        </p:txBody>
      </p:sp>
    </p:spTree>
    <p:extLst>
      <p:ext uri="{BB962C8B-B14F-4D97-AF65-F5344CB8AC3E}">
        <p14:creationId xmlns:p14="http://schemas.microsoft.com/office/powerpoint/2010/main" val="396204866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D041E-5F8C-AFDD-DDF2-CED7D029E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870D3BE-857C-A723-7964-A8F7A7443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080" y="876355"/>
            <a:ext cx="10598331" cy="576284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0E3E76E-A023-1E74-61D8-F9D98F324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出入网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入网申请</a:t>
            </a:r>
          </a:p>
        </p:txBody>
      </p:sp>
      <p:sp>
        <p:nvSpPr>
          <p:cNvPr id="6" name="标注: 右箭头 5">
            <a:extLst>
              <a:ext uri="{FF2B5EF4-FFF2-40B4-BE49-F238E27FC236}">
                <a16:creationId xmlns:a16="http://schemas.microsoft.com/office/drawing/2014/main" id="{86FECBD4-F892-5AB5-7FA8-745A6868B4FE}"/>
              </a:ext>
            </a:extLst>
          </p:cNvPr>
          <p:cNvSpPr/>
          <p:nvPr/>
        </p:nvSpPr>
        <p:spPr>
          <a:xfrm>
            <a:off x="348342" y="2290353"/>
            <a:ext cx="1245325" cy="1271452"/>
          </a:xfrm>
          <a:prstGeom prst="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存档资料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901CEF3-8020-7C95-791B-057295D98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064" y="136143"/>
            <a:ext cx="2909059" cy="4071257"/>
          </a:xfrm>
          <a:prstGeom prst="rect">
            <a:avLst/>
          </a:prstGeom>
        </p:spPr>
      </p:pic>
      <p:sp>
        <p:nvSpPr>
          <p:cNvPr id="9" name="箭头: 右 8">
            <a:extLst>
              <a:ext uri="{FF2B5EF4-FFF2-40B4-BE49-F238E27FC236}">
                <a16:creationId xmlns:a16="http://schemas.microsoft.com/office/drawing/2014/main" id="{AD056778-6409-E090-D6F2-29F6A31D859A}"/>
              </a:ext>
            </a:extLst>
          </p:cNvPr>
          <p:cNvSpPr/>
          <p:nvPr/>
        </p:nvSpPr>
        <p:spPr>
          <a:xfrm rot="20157166">
            <a:off x="2663038" y="5038259"/>
            <a:ext cx="6070493" cy="2264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527681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D8AE8-51CA-0D60-72ED-3F06CDD0A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AE8DD6-AD36-3F7F-7BD3-5E4CAFBE0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出入网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入网审批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398CA14-60EA-8A87-DB40-A944153DF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657" y="918971"/>
            <a:ext cx="10519954" cy="572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30598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444EC-6855-206C-FBE2-F3463FEB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0483BD-97FE-65D3-CB90-EF0B6295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出入网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出网申请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C47C8EF-9F34-B40D-9193-827260B97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863" y="817843"/>
            <a:ext cx="10641874" cy="578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02803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C88AC-117D-43E2-011B-C5C6432CE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66C37E-495C-E434-1DBD-1F7CCABEA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出入网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出网审批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002903E-D396-1786-427B-C35F500AC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155" y="934702"/>
            <a:ext cx="10458994" cy="568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11928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9F984-CD0C-F246-01D5-7EC315BD9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6C35D3-8204-DE92-5F45-2A6975A32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出入网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在网数据台账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9B1CE80-855B-6F73-E40D-BC2E36C55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737" y="1155735"/>
            <a:ext cx="10084526" cy="548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9928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EEEE0-F7B4-6160-7D35-94EEB5CB0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C0F1AB-580B-2BD2-7224-0353D6408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出入网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在网数据处置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F1762DA-B193-B604-4016-D74FD8869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862" y="681484"/>
            <a:ext cx="10361460" cy="6100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43959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4FEE2-929B-03B8-AB29-2B6F92B74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AD30C7-1BF0-4000-FC3A-E3FB7A6F6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出入网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跨域流转台账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43B2298-B13A-6FCF-FABE-C2FBBCC3B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211" y="874504"/>
            <a:ext cx="10441577" cy="567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53341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盘库与离库处置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盘库：对在库模拟/电子资料进行核对登记，支撑账实一致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离库：销毁/转交等正式审批，上传签批与现场照片（按规则）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可联动撤柜确认、低格留盘确认等实物动作勾选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管理价值：从“能借出”升级为“盘得准、处置有据”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33/50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C14EF-99E2-E9F2-42D0-56D8B496F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751980-6C07-AA19-B340-E63A7F556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盘库与离库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模拟资料盘库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E5F60B8-B07E-CEC6-D3F1-9D631716D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395" y="766937"/>
            <a:ext cx="8555303" cy="586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0063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53A6F-4A69-0C91-9580-435AF22DE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4AC5D5-A68D-C6CC-28FA-E71092CE1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盘库与离库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电子资料盘库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7D0BA85-5046-33DD-3349-19DE7D0E8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366" y="980488"/>
            <a:ext cx="8131820" cy="587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59362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385A1-8E3B-7746-D0D4-97629820D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58AD25-41AC-095B-9AAA-8A87EF44D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盘库与离库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模拟资料离库处置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5925EF6-4672-6918-D690-BA6338E6D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908" y="765371"/>
            <a:ext cx="10015395" cy="595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25149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1C620-5C14-F0A0-4342-76A1B6A8F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E7F00-1B09-0244-06DC-7477D6E10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267" y="136143"/>
            <a:ext cx="6700460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年度资料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盘库与离库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电子资料离库处置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A3C79ED-8717-C3A7-1B23-6633F7985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314" y="970321"/>
            <a:ext cx="8466720" cy="5887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70323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4444771-F643-E54A-E76A-B9E2ADE260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E39A864-9B55-6C23-194B-AA22F0FE2610}"/>
              </a:ext>
            </a:extLst>
          </p:cNvPr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964A6FD-D773-EAEA-C29D-1E0B2C6D7870}"/>
              </a:ext>
            </a:extLst>
          </p:cNvPr>
          <p:cNvSpPr txBox="1"/>
          <p:nvPr/>
        </p:nvSpPr>
        <p:spPr>
          <a:xfrm>
            <a:off x="685800" y="1524000"/>
            <a:ext cx="10820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第四部分 </a:t>
            </a:r>
            <a:r>
              <a:rPr lang="en-US" altLang="zh-CN">
                <a:solidFill>
                  <a:srgbClr val="FFFFFF"/>
                </a:solidFill>
                <a:latin typeface="Microsoft YaHei" panose="020B0503020204020204" pitchFamily="34" charset="-122"/>
              </a:rPr>
              <a:t>· C</a:t>
            </a:r>
            <a:endParaRPr lang="zh-CN" altLang="en-US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5A0BEEB-2874-6057-C2D0-6A2ED838E27F}"/>
              </a:ext>
            </a:extLst>
          </p:cNvPr>
          <p:cNvSpPr txBox="1"/>
          <p:nvPr/>
        </p:nvSpPr>
        <p:spPr>
          <a:xfrm>
            <a:off x="685800" y="2159000"/>
            <a:ext cx="1082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库房与介质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70AA673-83D7-70AE-BF44-489B0E210699}"/>
              </a:ext>
            </a:extLst>
          </p:cNvPr>
          <p:cNvSpPr txBox="1"/>
          <p:nvPr/>
        </p:nvSpPr>
        <p:spPr>
          <a:xfrm>
            <a:off x="685800" y="3429000"/>
            <a:ext cx="108204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档案柜登记与开柜档口</a:t>
            </a:r>
          </a:p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硬盘全链路（登记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出库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归还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盘库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离库）</a:t>
            </a:r>
          </a:p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光盘概览与台账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997DCCC-C136-77FB-9385-B209B2557C28}"/>
              </a:ext>
            </a:extLst>
          </p:cNvPr>
          <p:cNvSpPr txBox="1"/>
          <p:nvPr/>
        </p:nvSpPr>
        <p:spPr>
          <a:xfrm>
            <a:off x="685800" y="6121400"/>
            <a:ext cx="10820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河北省第三测绘院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测绘资料管理系统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建设汇报（合成版）</a:t>
            </a:r>
          </a:p>
        </p:txBody>
      </p:sp>
    </p:spTree>
    <p:extLst>
      <p:ext uri="{BB962C8B-B14F-4D97-AF65-F5344CB8AC3E}">
        <p14:creationId xmlns:p14="http://schemas.microsoft.com/office/powerpoint/2010/main" val="37488642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五、库房与介质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档案柜：柜体登记、开柜查看、档口用途（年度/历史/混用/空白硬盘等）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硬盘：概览 KPI、初始登记、出库/归还、盘库、离库、台账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光盘：概览与台账，随资料业务联动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库管总览：盒袋与位置集中可视，减少“靠记忆找资料”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36/50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DD991-4113-F09E-47C3-16351A722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CB4EE2-B9DB-9742-5684-657CC1789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479385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档案柜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档案柜登记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10001BB-9115-BA66-1B34-4FD7A5A81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081" y="721231"/>
            <a:ext cx="10447504" cy="608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0950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F5C6A-E1FF-F3E8-33D8-D44D9E46C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AB6DCA5F-60F3-46D2-4023-9B807CC3A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299" y="598811"/>
            <a:ext cx="4182059" cy="454405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A295669-9E73-369C-0B09-A6E528CF5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8" y="53470"/>
            <a:ext cx="6078901" cy="545341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档案柜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档案柜登记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新增档案柜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FB6685F-FFC7-63BA-D1E5-BBC11FDEF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343" y="1144152"/>
            <a:ext cx="3243151" cy="535888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1703F59-E3C7-A245-AA98-121C92EACB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077" y="1897167"/>
            <a:ext cx="2907542" cy="482689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83365E5-F5E9-4777-BA76-56FB8E69A5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924" y="3745421"/>
            <a:ext cx="3087692" cy="251092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745455C-324F-1CAD-DA8E-F80A34A308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2507" y="666205"/>
            <a:ext cx="3087692" cy="2325189"/>
          </a:xfrm>
          <a:prstGeom prst="rect">
            <a:avLst/>
          </a:prstGeom>
        </p:spPr>
      </p:pic>
      <p:sp>
        <p:nvSpPr>
          <p:cNvPr id="14" name="箭头: 下 13">
            <a:extLst>
              <a:ext uri="{FF2B5EF4-FFF2-40B4-BE49-F238E27FC236}">
                <a16:creationId xmlns:a16="http://schemas.microsoft.com/office/drawing/2014/main" id="{DE093764-22C8-B8A5-ABC9-F012CF15AD39}"/>
              </a:ext>
            </a:extLst>
          </p:cNvPr>
          <p:cNvSpPr/>
          <p:nvPr/>
        </p:nvSpPr>
        <p:spPr>
          <a:xfrm>
            <a:off x="8370832" y="2697163"/>
            <a:ext cx="720191" cy="83083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725759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BE90E-7EBB-1982-20E0-07B9ED767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CC83B0-2365-8E04-EF8A-E2BD32C6A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5732" y="53470"/>
            <a:ext cx="6315114" cy="545341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档案柜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开柜操作（标准滑道档案柜）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C9EA77A-C411-CCA3-C213-214EA7AEC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277" y="925053"/>
            <a:ext cx="10168991" cy="536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25460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3DC81-EBA1-25ED-B39F-E3BE4B0D6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263391-50C1-9A2E-EA2B-A76A52665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3560" y="53470"/>
            <a:ext cx="606728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档案柜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开柜操作（防磁磁盘柜）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902AD75-1B4D-9B61-7C4B-6827267B1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83" y="1040446"/>
            <a:ext cx="11277600" cy="521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26674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E118C-D0E3-11F3-AC65-EBFD2FE72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B3A503-8716-8329-F4DF-AD9809C63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9196" y="53470"/>
            <a:ext cx="5637049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档案柜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开柜操作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标识图例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9D3E0BA-DDF9-1521-F1B7-41A8B40A6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069" y="930127"/>
            <a:ext cx="9431066" cy="535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46281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E118C-D0E3-11F3-AC65-EBFD2FE72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50F5909-13A0-9590-54D9-1C7C03336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579" y="2950680"/>
            <a:ext cx="6636427" cy="368690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5B3A503-8716-8329-F4DF-AD9809C63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914" y="53470"/>
            <a:ext cx="5876331" cy="545341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档案柜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开柜操作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设置档口用途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253119A-7175-C77D-672A-9BD181F99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204" y="708222"/>
            <a:ext cx="3324225" cy="1638300"/>
          </a:xfrm>
          <a:prstGeom prst="rect">
            <a:avLst/>
          </a:prstGeom>
        </p:spPr>
      </p:pic>
      <p:sp>
        <p:nvSpPr>
          <p:cNvPr id="7" name="箭头: 下 6">
            <a:extLst>
              <a:ext uri="{FF2B5EF4-FFF2-40B4-BE49-F238E27FC236}">
                <a16:creationId xmlns:a16="http://schemas.microsoft.com/office/drawing/2014/main" id="{688A5057-94A5-4390-72B8-80D710AA1530}"/>
              </a:ext>
            </a:extLst>
          </p:cNvPr>
          <p:cNvSpPr/>
          <p:nvPr/>
        </p:nvSpPr>
        <p:spPr>
          <a:xfrm>
            <a:off x="7551429" y="2006825"/>
            <a:ext cx="660175" cy="89821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438613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53E8E-31FC-34C7-6EA9-72C3C3119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9BB739-2709-0F16-DE8A-625570383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479385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档案柜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C715E71-FAC5-BA2E-EF4C-1DD66613C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691" y="1190022"/>
            <a:ext cx="2057687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1458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9A46D-388B-5B46-456E-D2AE7E9F8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46BDFD-0262-7241-5B33-A5A23377A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479385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硬盘概览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4150F4B-41CF-C937-D40F-0F10ABF24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96" y="681236"/>
            <a:ext cx="9754889" cy="582071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9E06271-E096-B97A-6A7E-226409ABE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273" y="3584772"/>
            <a:ext cx="4393470" cy="3149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6913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1E53F-E54D-B092-D9F9-2D6F1A326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9E33D7-CC25-7AC4-08A4-0EB3131FD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479385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批量登记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CC392A2-3D65-4B8E-156A-03B31B907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86" y="517892"/>
            <a:ext cx="6243406" cy="275938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F26BF4E-1AE8-69A9-EDC2-FF856FB1E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2215" y="1897584"/>
            <a:ext cx="6076964" cy="315900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A6AC9E0-43E9-F04D-D93E-E2DAF07E03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927540"/>
            <a:ext cx="3800402" cy="327095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8BD5E48-E5C8-58EE-2442-689801C536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9785" y="3833356"/>
            <a:ext cx="1673734" cy="2846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8071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50D08-FA26-EB96-C8B9-B59F03C43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E4492A-EA2A-295C-D3ED-FF05DC8E8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479385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交互式登记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C44CB7D-3649-A110-CD7B-63383A29C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083" y="575476"/>
            <a:ext cx="7791533" cy="628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7733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3D5B7-0636-5D29-582A-734F8A59A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A22CE3-E482-CD72-645A-61519430F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479385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批量登记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1BA1A28-AEB1-A292-DD47-B69836EEF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86" y="517892"/>
            <a:ext cx="6243406" cy="275938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2E208B1-D8DF-D2B5-0E5A-CE0779137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013" y="2273974"/>
            <a:ext cx="5304382" cy="275739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4CA4EAD-7534-D21A-AD7E-E3DABA3D37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996" y="3652670"/>
            <a:ext cx="3006991" cy="258807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F39BBD5-0F23-A628-BD40-07964FE989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4852" y="4606184"/>
            <a:ext cx="1324269" cy="225181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641E09A-8B9B-9271-1F76-1E6169A8A8CF}"/>
              </a:ext>
            </a:extLst>
          </p:cNvPr>
          <p:cNvSpPr txBox="1"/>
          <p:nvPr/>
        </p:nvSpPr>
        <p:spPr>
          <a:xfrm>
            <a:off x="8371703" y="127852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硬盘参数表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7D6B8FC-1933-EEE3-894C-98D85540732B}"/>
              </a:ext>
            </a:extLst>
          </p:cNvPr>
          <p:cNvSpPr txBox="1"/>
          <p:nvPr/>
        </p:nvSpPr>
        <p:spPr>
          <a:xfrm>
            <a:off x="9370445" y="275768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硬盘存放表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240D26-DA44-0FB6-BE04-7D47105D51B1}"/>
              </a:ext>
            </a:extLst>
          </p:cNvPr>
          <p:cNvSpPr txBox="1"/>
          <p:nvPr/>
        </p:nvSpPr>
        <p:spPr>
          <a:xfrm>
            <a:off x="10601366" y="423685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硬盘可视化</a:t>
            </a:r>
          </a:p>
        </p:txBody>
      </p:sp>
      <p:sp>
        <p:nvSpPr>
          <p:cNvPr id="11" name="箭头: 左 10">
            <a:extLst>
              <a:ext uri="{FF2B5EF4-FFF2-40B4-BE49-F238E27FC236}">
                <a16:creationId xmlns:a16="http://schemas.microsoft.com/office/drawing/2014/main" id="{DB84AF38-F590-84C1-CC42-8487701D9242}"/>
              </a:ext>
            </a:extLst>
          </p:cNvPr>
          <p:cNvSpPr/>
          <p:nvPr/>
        </p:nvSpPr>
        <p:spPr>
          <a:xfrm>
            <a:off x="6947417" y="1295619"/>
            <a:ext cx="1338828" cy="3693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左 13">
            <a:extLst>
              <a:ext uri="{FF2B5EF4-FFF2-40B4-BE49-F238E27FC236}">
                <a16:creationId xmlns:a16="http://schemas.microsoft.com/office/drawing/2014/main" id="{26874367-BC39-05F4-0DC4-FCEE809C810B}"/>
              </a:ext>
            </a:extLst>
          </p:cNvPr>
          <p:cNvSpPr/>
          <p:nvPr/>
        </p:nvSpPr>
        <p:spPr>
          <a:xfrm>
            <a:off x="7959839" y="2784718"/>
            <a:ext cx="1338828" cy="3693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左 15">
            <a:extLst>
              <a:ext uri="{FF2B5EF4-FFF2-40B4-BE49-F238E27FC236}">
                <a16:creationId xmlns:a16="http://schemas.microsoft.com/office/drawing/2014/main" id="{51BF1AE9-DDF8-DC9C-DC06-BEF43E241D74}"/>
              </a:ext>
            </a:extLst>
          </p:cNvPr>
          <p:cNvSpPr/>
          <p:nvPr/>
        </p:nvSpPr>
        <p:spPr>
          <a:xfrm>
            <a:off x="9238640" y="4258179"/>
            <a:ext cx="1338828" cy="3693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48802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846C8-7F7B-A13E-C207-4323FDC5E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C1E1C3-4409-B2AF-40BC-01055E42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4793856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出库申请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09663AF-4CF4-44A4-C122-0B679E5CC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29" y="809204"/>
            <a:ext cx="6279495" cy="383416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76B6521-7C7C-C2DA-2603-EAD4D04B1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6632" y="1388929"/>
            <a:ext cx="3273563" cy="451136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B7030AB-C4B1-EBCC-2C4D-B9B6413EFD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518" y="4287433"/>
            <a:ext cx="3324212" cy="245641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21522C9-C2EB-213A-C006-6DFCFC00305B}"/>
              </a:ext>
            </a:extLst>
          </p:cNvPr>
          <p:cNvSpPr txBox="1"/>
          <p:nvPr/>
        </p:nvSpPr>
        <p:spPr>
          <a:xfrm>
            <a:off x="7627596" y="80920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线上填写申请信息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02D1BFC-932B-DFC0-2B7F-FDB3AE5EA541}"/>
              </a:ext>
            </a:extLst>
          </p:cNvPr>
          <p:cNvSpPr txBox="1"/>
          <p:nvPr/>
        </p:nvSpPr>
        <p:spPr>
          <a:xfrm>
            <a:off x="5690700" y="3244333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申请信息打印、线下签批</a:t>
            </a:r>
          </a:p>
        </p:txBody>
      </p:sp>
      <p:sp>
        <p:nvSpPr>
          <p:cNvPr id="16" name="箭头: 左 15">
            <a:extLst>
              <a:ext uri="{FF2B5EF4-FFF2-40B4-BE49-F238E27FC236}">
                <a16:creationId xmlns:a16="http://schemas.microsoft.com/office/drawing/2014/main" id="{C3EA8ED6-1D77-6EF2-6A5E-F3100FBAC56A}"/>
              </a:ext>
            </a:extLst>
          </p:cNvPr>
          <p:cNvSpPr/>
          <p:nvPr/>
        </p:nvSpPr>
        <p:spPr>
          <a:xfrm>
            <a:off x="6881738" y="758861"/>
            <a:ext cx="658026" cy="47001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左 16">
            <a:extLst>
              <a:ext uri="{FF2B5EF4-FFF2-40B4-BE49-F238E27FC236}">
                <a16:creationId xmlns:a16="http://schemas.microsoft.com/office/drawing/2014/main" id="{AD09A7C0-A5B9-F2C5-2214-B27E6E79E660}"/>
              </a:ext>
            </a:extLst>
          </p:cNvPr>
          <p:cNvSpPr/>
          <p:nvPr/>
        </p:nvSpPr>
        <p:spPr>
          <a:xfrm rot="10800000">
            <a:off x="8460342" y="3156329"/>
            <a:ext cx="658026" cy="54534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4679D41-7923-1825-ABBE-2D5E4591F515}"/>
              </a:ext>
            </a:extLst>
          </p:cNvPr>
          <p:cNvSpPr txBox="1"/>
          <p:nvPr/>
        </p:nvSpPr>
        <p:spPr>
          <a:xfrm>
            <a:off x="2573865" y="533097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状态同步</a:t>
            </a:r>
          </a:p>
        </p:txBody>
      </p:sp>
      <p:sp>
        <p:nvSpPr>
          <p:cNvPr id="20" name="箭头: 左 19">
            <a:extLst>
              <a:ext uri="{FF2B5EF4-FFF2-40B4-BE49-F238E27FC236}">
                <a16:creationId xmlns:a16="http://schemas.microsoft.com/office/drawing/2014/main" id="{E9280616-EF8C-9E09-BD3F-6914089C81F5}"/>
              </a:ext>
            </a:extLst>
          </p:cNvPr>
          <p:cNvSpPr/>
          <p:nvPr/>
        </p:nvSpPr>
        <p:spPr>
          <a:xfrm rot="10800000">
            <a:off x="3918151" y="5280632"/>
            <a:ext cx="658026" cy="47001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357724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11D44-6065-6313-E41B-AD24B2B6D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928E75-2BA0-B2B8-F975-F133F15C5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出库申请的待办事项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9A0D065-CA22-B161-B52A-8C9133B44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223" y="835873"/>
            <a:ext cx="9540678" cy="561752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FE09237-7024-80A3-F25A-B0D8D1DA8A19}"/>
              </a:ext>
            </a:extLst>
          </p:cNvPr>
          <p:cNvSpPr txBox="1"/>
          <p:nvPr/>
        </p:nvSpPr>
        <p:spPr>
          <a:xfrm>
            <a:off x="10203556" y="324433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待办提醒机制</a:t>
            </a:r>
          </a:p>
        </p:txBody>
      </p:sp>
      <p:sp>
        <p:nvSpPr>
          <p:cNvPr id="12" name="箭头: 左 11">
            <a:extLst>
              <a:ext uri="{FF2B5EF4-FFF2-40B4-BE49-F238E27FC236}">
                <a16:creationId xmlns:a16="http://schemas.microsoft.com/office/drawing/2014/main" id="{C9DC1B7F-29AB-0D7D-093F-A34054DE0688}"/>
              </a:ext>
            </a:extLst>
          </p:cNvPr>
          <p:cNvSpPr/>
          <p:nvPr/>
        </p:nvSpPr>
        <p:spPr>
          <a:xfrm rot="16200000">
            <a:off x="10012509" y="4096598"/>
            <a:ext cx="1192809" cy="45154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上 12">
            <a:extLst>
              <a:ext uri="{FF2B5EF4-FFF2-40B4-BE49-F238E27FC236}">
                <a16:creationId xmlns:a16="http://schemas.microsoft.com/office/drawing/2014/main" id="{343BDF53-AB0F-2D1A-FAC8-44A0147FE2EA}"/>
              </a:ext>
            </a:extLst>
          </p:cNvPr>
          <p:cNvSpPr/>
          <p:nvPr/>
        </p:nvSpPr>
        <p:spPr>
          <a:xfrm>
            <a:off x="10833871" y="1020684"/>
            <a:ext cx="309030" cy="210226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41122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992B1-C09D-ACAE-2999-2058FC481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9A66AA-1721-14D6-C4F7-29C533F8B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出库办理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D384736-01D5-A25F-E6BD-5653F22E6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843" y="598811"/>
            <a:ext cx="10155342" cy="612445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EDF116B-EA1A-5AAF-096F-4EA620D4512E}"/>
              </a:ext>
            </a:extLst>
          </p:cNvPr>
          <p:cNvSpPr txBox="1"/>
          <p:nvPr/>
        </p:nvSpPr>
        <p:spPr>
          <a:xfrm>
            <a:off x="3270920" y="3423891"/>
            <a:ext cx="13388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确认审批、</a:t>
            </a:r>
            <a:endParaRPr lang="en-US" altLang="zh-CN" dirty="0"/>
          </a:p>
          <a:p>
            <a:r>
              <a:rPr lang="zh-CN" altLang="en-US" dirty="0"/>
              <a:t>签字交接、</a:t>
            </a:r>
            <a:endParaRPr lang="en-US" altLang="zh-CN" dirty="0"/>
          </a:p>
          <a:p>
            <a:r>
              <a:rPr lang="zh-CN" altLang="en-US" dirty="0"/>
              <a:t>上传附件、</a:t>
            </a:r>
            <a:endParaRPr lang="en-US" altLang="zh-CN" dirty="0"/>
          </a:p>
          <a:p>
            <a:r>
              <a:rPr lang="zh-CN" altLang="en-US" dirty="0"/>
              <a:t>确认办结</a:t>
            </a:r>
            <a:r>
              <a:rPr lang="en-US" altLang="zh-CN" dirty="0"/>
              <a:t>·</a:t>
            </a:r>
            <a:endParaRPr lang="zh-CN" altLang="en-US" dirty="0"/>
          </a:p>
        </p:txBody>
      </p:sp>
      <p:sp>
        <p:nvSpPr>
          <p:cNvPr id="8" name="箭头: 左 7">
            <a:extLst>
              <a:ext uri="{FF2B5EF4-FFF2-40B4-BE49-F238E27FC236}">
                <a16:creationId xmlns:a16="http://schemas.microsoft.com/office/drawing/2014/main" id="{1092B835-8A45-AD68-C704-08B9F83CA36B}"/>
              </a:ext>
            </a:extLst>
          </p:cNvPr>
          <p:cNvSpPr/>
          <p:nvPr/>
        </p:nvSpPr>
        <p:spPr>
          <a:xfrm rot="10800000">
            <a:off x="4609748" y="3686495"/>
            <a:ext cx="1425668" cy="67511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307555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AF040-F589-6670-27B4-6CCF21536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4927DE-C06E-EEA7-65A3-17F5B13CA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出库办理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646333D-33C3-73C3-7744-9369F296E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2077232"/>
            <a:ext cx="5476968" cy="409832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2C1F199-732D-83BB-A8E7-C2A1A7ACE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938" y="2534433"/>
            <a:ext cx="2068281" cy="298294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B4487C4-6958-ED74-0F0E-58C1C3EB37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82442"/>
            <a:ext cx="12192000" cy="111538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8254AFD-F1D0-5383-396A-1A80694DEA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9800" y="3571151"/>
            <a:ext cx="2010590" cy="260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84210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131E5-A939-4408-53F9-DE16E99EE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A98A63-5F16-3325-0547-FEF59F46D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788344" cy="545341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出库申请及办理业务流程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1D9B0B-ECD0-FB23-8D43-3A1D9BEF05C5}"/>
              </a:ext>
            </a:extLst>
          </p:cNvPr>
          <p:cNvSpPr/>
          <p:nvPr/>
        </p:nvSpPr>
        <p:spPr>
          <a:xfrm>
            <a:off x="473528" y="681786"/>
            <a:ext cx="2343151" cy="7021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线上申请、打印输出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7A5292-6E8C-C371-90C4-EF973DE63905}"/>
              </a:ext>
            </a:extLst>
          </p:cNvPr>
          <p:cNvSpPr/>
          <p:nvPr/>
        </p:nvSpPr>
        <p:spPr>
          <a:xfrm>
            <a:off x="1768929" y="1466890"/>
            <a:ext cx="2343151" cy="7021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线下审批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D69AF5A-4095-3CC1-3A23-22DDF0F0BEE0}"/>
              </a:ext>
            </a:extLst>
          </p:cNvPr>
          <p:cNvSpPr/>
          <p:nvPr/>
        </p:nvSpPr>
        <p:spPr>
          <a:xfrm>
            <a:off x="3248996" y="2216546"/>
            <a:ext cx="2343151" cy="7021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审批确认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5369FF-27F6-0D22-F650-D2974BFF0E3E}"/>
              </a:ext>
            </a:extLst>
          </p:cNvPr>
          <p:cNvSpPr/>
          <p:nvPr/>
        </p:nvSpPr>
        <p:spPr>
          <a:xfrm>
            <a:off x="4683578" y="2966202"/>
            <a:ext cx="2343151" cy="7021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实物交接</a:t>
            </a:r>
            <a:endParaRPr lang="en-US" altLang="zh-CN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E87CFC8-EB8C-04EF-364B-79CF57F0E5FB}"/>
              </a:ext>
            </a:extLst>
          </p:cNvPr>
          <p:cNvSpPr/>
          <p:nvPr/>
        </p:nvSpPr>
        <p:spPr>
          <a:xfrm>
            <a:off x="6035416" y="3733295"/>
            <a:ext cx="2343151" cy="7021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交接签字</a:t>
            </a:r>
            <a:endParaRPr lang="en-US" altLang="zh-CN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D2B075D-39B7-AE28-B431-DDB2AA538A49}"/>
              </a:ext>
            </a:extLst>
          </p:cNvPr>
          <p:cNvSpPr/>
          <p:nvPr/>
        </p:nvSpPr>
        <p:spPr>
          <a:xfrm>
            <a:off x="7310255" y="4473882"/>
            <a:ext cx="2343151" cy="7021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附件上传</a:t>
            </a:r>
            <a:endParaRPr lang="en-US" altLang="zh-CN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9FACCBA-B9B0-C261-4A3B-8137C6D78858}"/>
              </a:ext>
            </a:extLst>
          </p:cNvPr>
          <p:cNvSpPr/>
          <p:nvPr/>
        </p:nvSpPr>
        <p:spPr>
          <a:xfrm>
            <a:off x="8481830" y="5220825"/>
            <a:ext cx="2343151" cy="7021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确认办结</a:t>
            </a:r>
            <a:endParaRPr lang="en-US" altLang="zh-CN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9E5D92D-F8B8-37EA-105B-D591E99008F2}"/>
              </a:ext>
            </a:extLst>
          </p:cNvPr>
          <p:cNvSpPr/>
          <p:nvPr/>
        </p:nvSpPr>
        <p:spPr>
          <a:xfrm>
            <a:off x="9653406" y="6030141"/>
            <a:ext cx="2343151" cy="7021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附件增补</a:t>
            </a:r>
            <a:endParaRPr lang="en-US" altLang="zh-CN" dirty="0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9C75C95C-CFB0-C2D7-3E91-CD60639D929E}"/>
              </a:ext>
            </a:extLst>
          </p:cNvPr>
          <p:cNvSpPr/>
          <p:nvPr/>
        </p:nvSpPr>
        <p:spPr>
          <a:xfrm>
            <a:off x="538844" y="3869262"/>
            <a:ext cx="3722914" cy="130675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452623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D1FD9-F5D2-D75B-1E6D-4DF3A5226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1F6F0C-8C39-A33F-D378-4A1ED3CF8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9461" y="111258"/>
            <a:ext cx="7130033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出库业务对应的数据库同步更新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F91E375-1316-CD48-B680-0D20572B4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11" y="710532"/>
            <a:ext cx="6260350" cy="152451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66792DD-C0B9-58D3-E04C-2881B6D08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671" y="2561651"/>
            <a:ext cx="10371292" cy="86734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0A5B75F-9E4F-9F0A-EABF-61725EB54F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55" y="3660704"/>
            <a:ext cx="3176933" cy="3092098"/>
          </a:xfrm>
          <a:prstGeom prst="rect">
            <a:avLst/>
          </a:prstGeom>
        </p:spPr>
      </p:pic>
      <p:sp>
        <p:nvSpPr>
          <p:cNvPr id="12" name="箭头: 圆角右 11">
            <a:extLst>
              <a:ext uri="{FF2B5EF4-FFF2-40B4-BE49-F238E27FC236}">
                <a16:creationId xmlns:a16="http://schemas.microsoft.com/office/drawing/2014/main" id="{36C28640-85E7-BAC2-71E5-72C6F2A7F990}"/>
              </a:ext>
            </a:extLst>
          </p:cNvPr>
          <p:cNvSpPr/>
          <p:nvPr/>
        </p:nvSpPr>
        <p:spPr>
          <a:xfrm rot="10800000">
            <a:off x="3492389" y="3527461"/>
            <a:ext cx="658825" cy="768888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972945A-A67F-2629-ED1E-1DDD749019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4559" y="3843250"/>
            <a:ext cx="3317333" cy="2585872"/>
          </a:xfrm>
          <a:prstGeom prst="rect">
            <a:avLst/>
          </a:prstGeom>
        </p:spPr>
      </p:pic>
      <p:sp>
        <p:nvSpPr>
          <p:cNvPr id="15" name="箭头: 右 14">
            <a:extLst>
              <a:ext uri="{FF2B5EF4-FFF2-40B4-BE49-F238E27FC236}">
                <a16:creationId xmlns:a16="http://schemas.microsoft.com/office/drawing/2014/main" id="{07AAF62A-7417-6602-B88A-7CD4836DD017}"/>
              </a:ext>
            </a:extLst>
          </p:cNvPr>
          <p:cNvSpPr/>
          <p:nvPr/>
        </p:nvSpPr>
        <p:spPr>
          <a:xfrm rot="10800000">
            <a:off x="8318611" y="5714505"/>
            <a:ext cx="817296" cy="3479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697E598-D180-0278-A34F-DE292F7AD5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5907" y="5018590"/>
            <a:ext cx="2470773" cy="141053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23E130A-EA11-BDAA-785E-86B49AC2B0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4088" y="1107851"/>
            <a:ext cx="4500875" cy="244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57419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6D102-315F-5467-7DAF-C3F3D816E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D85458-D1BD-FFB2-30B7-0B2B7AF56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归还申请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0058DC7-E0CB-6192-7255-BD67E7D5C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47" y="651938"/>
            <a:ext cx="9667285" cy="525658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0FDA04F-55B0-61BB-48A6-679D82F6D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668" y="4163236"/>
            <a:ext cx="2152950" cy="1524213"/>
          </a:xfrm>
          <a:prstGeom prst="rect">
            <a:avLst/>
          </a:prstGeom>
        </p:spPr>
      </p:pic>
      <p:sp>
        <p:nvSpPr>
          <p:cNvPr id="8" name="箭头: 下 7">
            <a:extLst>
              <a:ext uri="{FF2B5EF4-FFF2-40B4-BE49-F238E27FC236}">
                <a16:creationId xmlns:a16="http://schemas.microsoft.com/office/drawing/2014/main" id="{4E116C54-944B-92BF-2D1E-6677EC3949C8}"/>
              </a:ext>
            </a:extLst>
          </p:cNvPr>
          <p:cNvSpPr/>
          <p:nvPr/>
        </p:nvSpPr>
        <p:spPr>
          <a:xfrm>
            <a:off x="5449986" y="3568548"/>
            <a:ext cx="499010" cy="6898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1B7E362-AD8F-4148-B5CA-5F882D8625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1860" y="3331896"/>
            <a:ext cx="2481393" cy="34290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18F75FA-400D-4003-1A57-2F3882A3B465}"/>
              </a:ext>
            </a:extLst>
          </p:cNvPr>
          <p:cNvSpPr txBox="1"/>
          <p:nvPr/>
        </p:nvSpPr>
        <p:spPr>
          <a:xfrm>
            <a:off x="1836893" y="6097865"/>
            <a:ext cx="2492990" cy="6463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归还人填写归还信息、</a:t>
            </a:r>
            <a:endParaRPr lang="en-US" altLang="zh-CN" dirty="0"/>
          </a:p>
          <a:p>
            <a:r>
              <a:rPr lang="zh-CN" altLang="en-US" dirty="0"/>
              <a:t>打印归还单</a:t>
            </a:r>
          </a:p>
        </p:txBody>
      </p:sp>
      <p:sp>
        <p:nvSpPr>
          <p:cNvPr id="12" name="箭头: 左 11">
            <a:extLst>
              <a:ext uri="{FF2B5EF4-FFF2-40B4-BE49-F238E27FC236}">
                <a16:creationId xmlns:a16="http://schemas.microsoft.com/office/drawing/2014/main" id="{75FF9C92-A30C-F778-FF06-6C90C39B77BB}"/>
              </a:ext>
            </a:extLst>
          </p:cNvPr>
          <p:cNvSpPr/>
          <p:nvPr/>
        </p:nvSpPr>
        <p:spPr>
          <a:xfrm rot="7006408">
            <a:off x="1802100" y="4482913"/>
            <a:ext cx="2947957" cy="41226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上 12">
            <a:extLst>
              <a:ext uri="{FF2B5EF4-FFF2-40B4-BE49-F238E27FC236}">
                <a16:creationId xmlns:a16="http://schemas.microsoft.com/office/drawing/2014/main" id="{046651B7-CF38-8559-FEAE-02F273109916}"/>
              </a:ext>
            </a:extLst>
          </p:cNvPr>
          <p:cNvSpPr/>
          <p:nvPr/>
        </p:nvSpPr>
        <p:spPr>
          <a:xfrm rot="5086196">
            <a:off x="6898887" y="3827077"/>
            <a:ext cx="369987" cy="488030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26326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CF057-5A97-BC73-A0AE-6E1A0AC22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3FE3B4-2526-413B-A7D7-335547E14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归还办理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D42F7515-5C8B-F4C1-B1A7-ADDC36B7A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68" y="598811"/>
            <a:ext cx="5017063" cy="264818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93ABAE5-505C-5C5A-8349-919CAA909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052" y="3389655"/>
            <a:ext cx="9387434" cy="983498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7067A36F-0729-7FF9-DA95-DF2A980EF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3769" y="4547835"/>
            <a:ext cx="5615970" cy="2033214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B68A994E-B972-9322-AFA8-8A95B7AFAD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139" y="4626651"/>
            <a:ext cx="3930028" cy="203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2335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807D2-7E9E-BA0A-28A5-60C58AAD7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A5FF4F4-F63B-4704-B41A-8BDA58942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27" y="582310"/>
            <a:ext cx="11443164" cy="622222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5667F3E-4733-FFE9-0563-84468E44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盘库登记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D6E7E5F-875F-3621-CF50-5AB3D04B8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330" y="2160010"/>
            <a:ext cx="6404825" cy="439049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B7FB841-90D4-512C-DEDD-F58C3DACFF13}"/>
              </a:ext>
            </a:extLst>
          </p:cNvPr>
          <p:cNvSpPr txBox="1"/>
          <p:nvPr/>
        </p:nvSpPr>
        <p:spPr>
          <a:xfrm>
            <a:off x="10371046" y="2713306"/>
            <a:ext cx="1338828" cy="923330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损坏登记、</a:t>
            </a:r>
            <a:endParaRPr lang="en-US" altLang="zh-CN" dirty="0"/>
          </a:p>
          <a:p>
            <a:r>
              <a:rPr lang="zh-CN" altLang="en-US" dirty="0"/>
              <a:t>盘失登记、</a:t>
            </a:r>
            <a:endParaRPr lang="en-US" altLang="zh-CN" dirty="0"/>
          </a:p>
          <a:p>
            <a:r>
              <a:rPr lang="zh-CN" altLang="en-US" dirty="0"/>
              <a:t>拟销登记</a:t>
            </a:r>
          </a:p>
        </p:txBody>
      </p:sp>
      <p:sp>
        <p:nvSpPr>
          <p:cNvPr id="8" name="箭头: 左 7">
            <a:extLst>
              <a:ext uri="{FF2B5EF4-FFF2-40B4-BE49-F238E27FC236}">
                <a16:creationId xmlns:a16="http://schemas.microsoft.com/office/drawing/2014/main" id="{453A3703-12DF-9C44-5B6E-23D7F687C899}"/>
              </a:ext>
            </a:extLst>
          </p:cNvPr>
          <p:cNvSpPr/>
          <p:nvPr/>
        </p:nvSpPr>
        <p:spPr>
          <a:xfrm rot="19943028">
            <a:off x="9005455" y="3297382"/>
            <a:ext cx="1330036" cy="48029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0818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B8AFE-76B1-7AF6-36EA-D9FCDEBA2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D5044BF6-E53F-C681-48CF-F1193239C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27" y="582310"/>
            <a:ext cx="11443164" cy="622222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99334A9-D4C0-7924-A33E-30B21184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离库处置</a:t>
            </a:r>
          </a:p>
        </p:txBody>
      </p:sp>
    </p:spTree>
    <p:extLst>
      <p:ext uri="{BB962C8B-B14F-4D97-AF65-F5344CB8AC3E}">
        <p14:creationId xmlns:p14="http://schemas.microsoft.com/office/powerpoint/2010/main" val="169342144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D6668-4D4A-00C4-BAE9-7ED529AA7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740B611-C23A-9107-18F8-444FBF007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66" y="598810"/>
            <a:ext cx="11412816" cy="620571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F7803FE-1C54-299B-D3C1-5CED2709B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离库登记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0312A75-687C-E562-0EC4-135EA7872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385" y="2057679"/>
            <a:ext cx="6825612" cy="467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23535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CA9A1-C9A0-A1BC-70E3-598800761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269453-4222-8657-A44B-D1219F85F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硬盘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A6D9AFD-48AD-DB54-7B31-DD699AA89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806" y="1291464"/>
            <a:ext cx="2152950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07085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74688-AB73-0543-D45F-CDB65A832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E00B84-2C62-EE1D-2927-5B14E6D51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2389" y="53470"/>
            <a:ext cx="5086054" cy="5453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库房与介质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光盘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6760901-3B27-2422-52E5-14837CA09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99" y="824690"/>
            <a:ext cx="6534887" cy="355334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FE34C2F-2B07-6E20-DB9B-889F2933E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9417" y="2454332"/>
            <a:ext cx="7684655" cy="417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65663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7785007-C2ED-6B0C-F941-6AFBCEB6FD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9F5044C-DF50-FAC7-60DB-589A4ECB81C5}"/>
              </a:ext>
            </a:extLst>
          </p:cNvPr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48E60B6-178C-A76C-FC3C-AAB11996BB02}"/>
              </a:ext>
            </a:extLst>
          </p:cNvPr>
          <p:cNvSpPr txBox="1"/>
          <p:nvPr/>
        </p:nvSpPr>
        <p:spPr>
          <a:xfrm>
            <a:off x="685800" y="1524000"/>
            <a:ext cx="10820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第五部分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3063517-0D72-6B71-3682-7BEBFDBA366B}"/>
              </a:ext>
            </a:extLst>
          </p:cNvPr>
          <p:cNvSpPr txBox="1"/>
          <p:nvPr/>
        </p:nvSpPr>
        <p:spPr>
          <a:xfrm>
            <a:off x="685800" y="2159000"/>
            <a:ext cx="1082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内控治理与部署运维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9B0AF9A-8D2A-100D-37DB-FB223AA52935}"/>
              </a:ext>
            </a:extLst>
          </p:cNvPr>
          <p:cNvSpPr txBox="1"/>
          <p:nvPr/>
        </p:nvSpPr>
        <p:spPr>
          <a:xfrm>
            <a:off x="685800" y="3429000"/>
            <a:ext cx="108204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审批规则、待办驱动、用户权限与操作审计</a:t>
            </a:r>
          </a:p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内网桌面部署、备份还原、内置操作手册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6FEF333-C7AD-8FB1-6796-07AE5FC4A897}"/>
              </a:ext>
            </a:extLst>
          </p:cNvPr>
          <p:cNvSpPr txBox="1"/>
          <p:nvPr/>
        </p:nvSpPr>
        <p:spPr>
          <a:xfrm>
            <a:off x="685800" y="6121400"/>
            <a:ext cx="10820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河北省第三测绘院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测绘资料管理系统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建设汇报（合成版）</a:t>
            </a:r>
          </a:p>
        </p:txBody>
      </p:sp>
    </p:spTree>
    <p:extLst>
      <p:ext uri="{BB962C8B-B14F-4D97-AF65-F5344CB8AC3E}">
        <p14:creationId xmlns:p14="http://schemas.microsoft.com/office/powerpoint/2010/main" val="189018516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六、内控治理能力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审批规则可配置：部门负责人、资料室、生产科、分管领导等节点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打印审批单/交接单；办结前签字栏留白，办结后可预填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附件：签批扫描、资料/处置/硬盘照片；支持高拍仪直拍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待办角标/弹窗/总览驱动办理；逾期设置可配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数据库操作日志、在线用户与登录记录，满足审计与运维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42/50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EE5DC-A8F2-8C66-2070-7253D043F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个人设置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4231332-5976-8532-B76E-DBEBAA974A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0281" y="943584"/>
            <a:ext cx="3690621" cy="513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046933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6EAF8-FD5D-8684-19A6-B84B77D8B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50CF3C-B71B-62D2-CDD7-B43D7FECB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用户管理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DAC0A21-3921-2A5D-9807-20839BE00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635" y="1139848"/>
            <a:ext cx="7087833" cy="502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51206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4AFA8-A460-F5E0-EEC3-EE3B38661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38BB72-311D-AF12-0809-54EA39BF3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部门设置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64C961F-7E37-92C9-DD0A-C36094610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723" y="943583"/>
            <a:ext cx="6916366" cy="554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926937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BC03B-8002-CAF9-4783-D52C3D6FC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2E5C70-92D9-0A99-4A23-3F7EE09A4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角色概览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423F6E5-E2E3-735F-6DE7-D9CECE1E6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39" y="1439694"/>
            <a:ext cx="11655646" cy="472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31378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F256E-7D60-1EA8-2D2A-CE3E370CC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A9FC81-64F6-A599-6EF0-84EFD2547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审核审批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1A1CA94-5050-FC8B-6542-6D4EDC3D7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540" y="1036745"/>
            <a:ext cx="9625336" cy="568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08967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58CDA-AD30-4D78-F65F-955E94A4B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66D4B6-B620-78CE-98C6-491F5575D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服务器路径设置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FA9DE20-9382-32E7-D825-FADA08EBC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559" y="773007"/>
            <a:ext cx="4842754" cy="5939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92086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A25DC-2FB8-4974-6E30-C7CAFBA76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3A994D-446A-20B8-6373-13F1FBE88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服务器路径设置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E084CC3-46A0-DA06-66A4-7B6FF16B7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756" y="1482741"/>
            <a:ext cx="10012172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57534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3E584-63EF-6357-9DE4-3D0295712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E366B8-4EE6-06BD-9DC4-9AFF5DB47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数据库操作日志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556C387-E535-61EC-8AA2-41A52B4F2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6686"/>
            <a:ext cx="12192000" cy="2444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82934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0536E-C2EB-69DB-65D1-B5D5DC8FA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2E23E1-9BC9-0ACC-7C81-BAF09C14D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在线用户与登录记录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74502D3-73B9-49A7-BC39-5C26EFDD0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662" y="1538058"/>
            <a:ext cx="10031225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22443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20728-898F-CC95-A94A-48FED434B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AA0B7E-3F30-3134-31A7-1B0347228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待办事项总览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F861031-F595-6171-D1D0-008E940B0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078" y="943584"/>
            <a:ext cx="8192643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624538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93662-9E7B-6DD0-FA59-214E52581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C67ED0-BE3C-1599-E1B8-DAEEFA88F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系统设置</a:t>
            </a:r>
            <a:r>
              <a:rPr lang="en-US" altLang="zh-CN" sz="2400" dirty="0"/>
              <a:t>.</a:t>
            </a:r>
            <a:r>
              <a:rPr lang="zh-CN" altLang="en-US" sz="2400" dirty="0"/>
              <a:t>高级数据管理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A148687-607D-9ED8-2977-426354249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1340913"/>
            <a:ext cx="11353800" cy="452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81176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部署与运维方式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形态：Windows 桌面客户端（WPF），非互联网公开系统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数据：内网数据库多终端共用；升级前全员退出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升级：只换程序文件，不覆盖业务库；支持自动迁移前备份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交付：覆盖发布脚本 / 自包含安装包 / 可选安装向导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运维：高级数据管理备份还原；操作手册内置（版本与库路径可见）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46/50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54763-EDA0-038F-B0F2-8F8B2120E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8DC48E-FC63-38C4-65FB-9A0B5170D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操作手册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7BF5013-E76D-BAA0-869B-4087DA50F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683" y="943584"/>
            <a:ext cx="9900592" cy="572228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B19AD45-DEC6-F644-8995-B29BE9C51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"/>
            <a:ext cx="12192000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80933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3E0B9-B3A3-8E18-2324-B05A2A5D3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AF81EF-D541-4E9A-E7C1-98DE8A63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42753" cy="57845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操作手册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18B3DB9-2F03-ECC5-8513-4D0D6F7BE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48512"/>
            <a:ext cx="5590974" cy="436910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589465D-F57F-75CD-F9EE-CBDE49D70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027" y="1228701"/>
            <a:ext cx="6481884" cy="418891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79EF56D-A27B-D991-D561-4345406D02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8598" y="1404666"/>
            <a:ext cx="5856514" cy="440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311113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7583A3A-7C51-BD6B-ED30-C06555B00A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5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FA0875-2A62-4D73-C84E-2BB196A84E45}"/>
              </a:ext>
            </a:extLst>
          </p:cNvPr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rgbClr val="397E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AC4FB1B-DD8F-E15B-E629-59CD8BE841C5}"/>
              </a:ext>
            </a:extLst>
          </p:cNvPr>
          <p:cNvSpPr txBox="1"/>
          <p:nvPr/>
        </p:nvSpPr>
        <p:spPr>
          <a:xfrm>
            <a:off x="685800" y="1524000"/>
            <a:ext cx="10820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第六部分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0AA7E4D-1BDE-8B29-F322-DE51E56A06C2}"/>
              </a:ext>
            </a:extLst>
          </p:cNvPr>
          <p:cNvSpPr txBox="1"/>
          <p:nvPr/>
        </p:nvSpPr>
        <p:spPr>
          <a:xfrm>
            <a:off x="685800" y="2159000"/>
            <a:ext cx="1082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</a:rPr>
              <a:t>建设成效与请示事项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E5D2E34-D5BD-05A2-3365-3ED8FB7EED83}"/>
              </a:ext>
            </a:extLst>
          </p:cNvPr>
          <p:cNvSpPr txBox="1"/>
          <p:nvPr/>
        </p:nvSpPr>
        <p:spPr>
          <a:xfrm>
            <a:off x="685800" y="3429000"/>
            <a:ext cx="108204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闭环能力、内控留痕、角色分离</a:t>
            </a:r>
          </a:p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下一步计划与需领导审定事项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E627FB5-A1C9-1B46-6DC1-C090DEE10FAB}"/>
              </a:ext>
            </a:extLst>
          </p:cNvPr>
          <p:cNvSpPr txBox="1"/>
          <p:nvPr/>
        </p:nvSpPr>
        <p:spPr>
          <a:xfrm>
            <a:off x="685800" y="6121400"/>
            <a:ext cx="10820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河北省第三测绘院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测绘资料管理系统 </a:t>
            </a:r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</a:rPr>
              <a:t>建设汇报（合成版）</a:t>
            </a:r>
          </a:p>
        </p:txBody>
      </p:sp>
    </p:spTree>
    <p:extLst>
      <p:ext uri="{BB962C8B-B14F-4D97-AF65-F5344CB8AC3E}">
        <p14:creationId xmlns:p14="http://schemas.microsoft.com/office/powerpoint/2010/main" val="707326478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建设成效（可按试运行数据再充实）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业务闭环已覆盖：建档—立档—借还—出入网—盘库—离库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历史存档、柜体档口、硬盘/光盘与年度资料同一工作台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审批、打印、附件、待办、日志齐全，满足内控与迎检留痕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角色权限清晰：申请侧与资料室办理侧分离，减少越权代办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C45C26"/>
                </a:solidFill>
                <a:latin typeface="Microsoft YaHei"/>
              </a:rPr>
              <a:t>试运行：【待填：试点科室，如 资料室、航测外业室】；数据量级：【待填：已导入台账/办件量级】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48/50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下一步计划与请示事项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C45C26"/>
                </a:solidFill>
                <a:latin typeface="Microsoft YaHei"/>
              </a:rPr>
              <a:t>按计划节点推进上线：【待填：计划正式上线时间，如 2026年X月】（请审定）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扩大试点科室培训，固化《操作规程》与角色分工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完成历史台账/存量数据导入与盘点核对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根据试运行反馈优化审批节点、逾期提醒与报表通报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请示：是否同意按上述计划进入试运行/正式上线阶段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请示：建设投入与保障条件是否按本院数据口径予以确认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49/50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icrosoft YaHei"/>
              </a:rPr>
              <a:t>敬请批评指正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Microsoft YaHei"/>
              </a:rPr>
              <a:t>河北省第三测绘院 · 测绘资料管理系统</a:t>
            </a:r>
          </a:p>
          <a:p>
            <a:r>
              <a:rPr sz="1400" b="0">
                <a:solidFill>
                  <a:srgbClr val="FFFFFF"/>
                </a:solidFill>
                <a:latin typeface="Microsoft YaHei"/>
              </a:rPr>
              <a:t>数据填写：docs/ppt-report/institute_data.yaml</a:t>
            </a:r>
          </a:p>
          <a:p>
            <a:r>
              <a:rPr sz="1400" b="0">
                <a:solidFill>
                  <a:srgbClr val="FFFFFF"/>
                </a:solidFill>
                <a:latin typeface="Microsoft YaHei"/>
              </a:rPr>
              <a:t>重新生成：python docs/ppt-report/build_pptx.py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50/50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4265</Words>
  <Application>Microsoft Office PowerPoint</Application>
  <PresentationFormat>自定义</PresentationFormat>
  <Paragraphs>517</Paragraphs>
  <Slides>130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130</vt:i4>
      </vt:variant>
    </vt:vector>
  </HeadingPairs>
  <TitlesOfParts>
    <vt:vector size="136" baseType="lpstr">
      <vt:lpstr>等线</vt:lpstr>
      <vt:lpstr>等线 Light</vt:lpstr>
      <vt:lpstr>黑体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历史存档.地形图图件</vt:lpstr>
      <vt:lpstr>历史存档.地形图图件</vt:lpstr>
      <vt:lpstr>历史存档.航摄胶片、像片</vt:lpstr>
      <vt:lpstr>历史存档.航摄胶片、像片</vt:lpstr>
      <vt:lpstr>历史存档.航摄胶片、像片</vt:lpstr>
      <vt:lpstr>历史存档.其他资料</vt:lpstr>
      <vt:lpstr>历史存档.资料台账与资料处置.台账</vt:lpstr>
      <vt:lpstr>历史存档.资料台账与资料处置.处置</vt:lpstr>
      <vt:lpstr>PowerPoint 演示文稿</vt:lpstr>
      <vt:lpstr>PowerPoint 演示文稿</vt:lpstr>
      <vt:lpstr>PowerPoint 演示文稿</vt:lpstr>
      <vt:lpstr>年度资料</vt:lpstr>
      <vt:lpstr>年度资料.项目信息</vt:lpstr>
      <vt:lpstr>年度资料.建档与立档</vt:lpstr>
      <vt:lpstr>年度资料.建档与立档.建档申请</vt:lpstr>
      <vt:lpstr>年度资料.建档与立档.建档申请.申请信息录入</vt:lpstr>
      <vt:lpstr>年度资料.建档与立档.建档审批</vt:lpstr>
      <vt:lpstr>年度资料.建档与立档.建档审批</vt:lpstr>
      <vt:lpstr>年度资料.建档与立档.资料立档（模拟介质）</vt:lpstr>
      <vt:lpstr>年度资料.建档与立档.资料立档（电子介质-1）</vt:lpstr>
      <vt:lpstr>年度资料.建档与立档.资料立档（电子介质-2）</vt:lpstr>
      <vt:lpstr>年度资料.建档与立档.资料立档（电子介质-3）</vt:lpstr>
      <vt:lpstr>年度资料.建档与立档.资料立档</vt:lpstr>
      <vt:lpstr>年度资料.建档与立档.立档台账</vt:lpstr>
      <vt:lpstr>年度资料.建档与立档.立档台账</vt:lpstr>
      <vt:lpstr>年度资料.建档与立档.存量硬盘直办立档</vt:lpstr>
      <vt:lpstr>年度资料.建档与立档.存量文本直办立档</vt:lpstr>
      <vt:lpstr>年度资料.建档与立档.存量文本直办立档</vt:lpstr>
      <vt:lpstr>年度资料.建档与立档.存量文本直办立档</vt:lpstr>
      <vt:lpstr>年度资料.迁档（模拟资料）</vt:lpstr>
      <vt:lpstr>年度资料.迁档（电子资料）</vt:lpstr>
      <vt:lpstr>年度资料.迁档（迁档台账）</vt:lpstr>
      <vt:lpstr>年度资料.检索.综合模式</vt:lpstr>
      <vt:lpstr>年度资料.检索.电子资料检索模式</vt:lpstr>
      <vt:lpstr>年度资料.检索.模拟资料检索模式</vt:lpstr>
      <vt:lpstr>年度资料.检索.检索池</vt:lpstr>
      <vt:lpstr>PowerPoint 演示文稿</vt:lpstr>
      <vt:lpstr>年度资料.实物流转</vt:lpstr>
      <vt:lpstr>年度资料.实物流转.借出申请</vt:lpstr>
      <vt:lpstr>年度资料.实物流转.借出申请</vt:lpstr>
      <vt:lpstr>年度资料.实物流转.借出申请</vt:lpstr>
      <vt:lpstr>年度资料.实物流转.借出申请</vt:lpstr>
      <vt:lpstr>年度资料.实物流转.借出审批</vt:lpstr>
      <vt:lpstr>年度资料.实物流转.借出审批</vt:lpstr>
      <vt:lpstr>年度资料.实物流转.借出前后比较</vt:lpstr>
      <vt:lpstr>年度资料.实物流转.归还申请（正常归还）</vt:lpstr>
      <vt:lpstr>年度资料.实物流转.归还申请（非正常归还）</vt:lpstr>
      <vt:lpstr>年度资料.实物流转.流转台账</vt:lpstr>
      <vt:lpstr>PowerPoint 演示文稿</vt:lpstr>
      <vt:lpstr>年度资料.出入网.入网申请</vt:lpstr>
      <vt:lpstr>年度资料.出入网.入网申请</vt:lpstr>
      <vt:lpstr>年度资料.出入网.入网审批</vt:lpstr>
      <vt:lpstr>年度资料.出入网.出网申请</vt:lpstr>
      <vt:lpstr>年度资料.出入网.出网审批</vt:lpstr>
      <vt:lpstr>年度资料.出入网.在网数据台账</vt:lpstr>
      <vt:lpstr>年度资料.出入网.在网数据处置</vt:lpstr>
      <vt:lpstr>年度资料.出入网.跨域流转台账</vt:lpstr>
      <vt:lpstr>PowerPoint 演示文稿</vt:lpstr>
      <vt:lpstr>年度资料.盘库与离库.模拟资料盘库</vt:lpstr>
      <vt:lpstr>年度资料.盘库与离库.电子资料盘库</vt:lpstr>
      <vt:lpstr>年度资料.盘库与离库.模拟资料离库处置</vt:lpstr>
      <vt:lpstr>年度资料.盘库与离库.电子资料离库处置</vt:lpstr>
      <vt:lpstr>PowerPoint 演示文稿</vt:lpstr>
      <vt:lpstr>PowerPoint 演示文稿</vt:lpstr>
      <vt:lpstr>库房与介质.档案柜.档案柜登记</vt:lpstr>
      <vt:lpstr>库房与介质.档案柜.档案柜登记.新增档案柜</vt:lpstr>
      <vt:lpstr>库房与介质.档案柜.开柜操作（标准滑道档案柜）</vt:lpstr>
      <vt:lpstr>库房与介质.档案柜.开柜操作（防磁磁盘柜）</vt:lpstr>
      <vt:lpstr>库房与介质.档案柜.开柜操作.标识图例</vt:lpstr>
      <vt:lpstr>库房与介质.档案柜.开柜操作.设置档口用途</vt:lpstr>
      <vt:lpstr>库房与介质.档案柜</vt:lpstr>
      <vt:lpstr>库房与介质.硬盘.硬盘概览</vt:lpstr>
      <vt:lpstr>库房与介质.硬盘.批量登记</vt:lpstr>
      <vt:lpstr>库房与介质.硬盘.交互式登记</vt:lpstr>
      <vt:lpstr>库房与介质.硬盘.批量登记</vt:lpstr>
      <vt:lpstr>库房与介质.硬盘.出库申请</vt:lpstr>
      <vt:lpstr>库房与介质.硬盘.出库申请的待办事项</vt:lpstr>
      <vt:lpstr>库房与介质.硬盘.出库办理</vt:lpstr>
      <vt:lpstr>库房与介质.硬盘.出库办理</vt:lpstr>
      <vt:lpstr>库房与介质.硬盘.出库申请及办理业务流程</vt:lpstr>
      <vt:lpstr>库房与介质.硬盘.出库业务对应的数据库同步更新</vt:lpstr>
      <vt:lpstr>库房与介质.硬盘.归还申请</vt:lpstr>
      <vt:lpstr>库房与介质.硬盘.归还办理</vt:lpstr>
      <vt:lpstr>库房与介质.硬盘.盘库登记</vt:lpstr>
      <vt:lpstr>库房与介质.硬盘.离库处置</vt:lpstr>
      <vt:lpstr>库房与介质.硬盘.离库登记</vt:lpstr>
      <vt:lpstr>库房与介质.硬盘</vt:lpstr>
      <vt:lpstr>库房与介质.光盘</vt:lpstr>
      <vt:lpstr>PowerPoint 演示文稿</vt:lpstr>
      <vt:lpstr>PowerPoint 演示文稿</vt:lpstr>
      <vt:lpstr>系统设置.个人设置</vt:lpstr>
      <vt:lpstr>系统设置.用户管理</vt:lpstr>
      <vt:lpstr>系统设置.部门设置</vt:lpstr>
      <vt:lpstr>系统设置.角色概览</vt:lpstr>
      <vt:lpstr>系统设置.审核审批</vt:lpstr>
      <vt:lpstr>系统设置.服务器路径设置</vt:lpstr>
      <vt:lpstr>系统设置.服务器路径设置</vt:lpstr>
      <vt:lpstr>系统设置.数据库操作日志</vt:lpstr>
      <vt:lpstr>系统设置.在线用户与登录记录</vt:lpstr>
      <vt:lpstr>系统设置.待办事项总览</vt:lpstr>
      <vt:lpstr>系统设置.高级数据管理</vt:lpstr>
      <vt:lpstr>PowerPoint 演示文稿</vt:lpstr>
      <vt:lpstr>操作手册</vt:lpstr>
      <vt:lpstr>操作手册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茂生 马</dc:creator>
  <cp:lastModifiedBy>茂生 马</cp:lastModifiedBy>
  <cp:revision>1</cp:revision>
  <dcterms:created xsi:type="dcterms:W3CDTF">2026-10-19T07:15:59Z</dcterms:created>
  <dcterms:modified xsi:type="dcterms:W3CDTF">2026-10-19T07:16:01Z</dcterms:modified>
</cp:coreProperties>
</file>