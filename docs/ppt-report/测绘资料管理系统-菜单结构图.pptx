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测绘资料管理系统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D6FFF8"/>
                </a:solidFill>
                <a:latin typeface="Microsoft YaHei"/>
              </a:rPr>
              <a:t>左侧导航菜单结构图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河北省第三测绘院  ·  共 5 个一级模块 / 61 个功能入口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一、导航总览（与主窗口左侧菜单一致）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历史存档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图件台账与历史离库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4912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年度资料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2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建档立档→流转→出入网→盘库离库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8344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库房与介质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8344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柜体 · 硬盘 · 光盘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1776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系统设置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51776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用户权限 · 审核 · 运维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65208" y="1097280"/>
            <a:ext cx="2148840" cy="502920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帮助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5208" y="1664208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2A37"/>
                </a:solidFill>
                <a:latin typeface="Microsoft YaHei"/>
              </a:rPr>
              <a:t>操作手册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1247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层级约定：一级模块（手风琴）→ 二级分组/直达菜单 → 三级功能页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年度资料按生命周期编排：项目信息 → 建档与立档 → 迁档 → 检索 → 实物流转 → 出入网 → 盘库与离库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库房与介质：库管总览 + 档案柜 + 硬盘全流程 + 光盘台账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• 导航全员可进浏览；写入/办理仍按角色控制（详见「角色概览」）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二、历史存档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历史存档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地形图图件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航摄胶片、像片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其他资料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资料台账与资料处置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855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台账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处置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二、年度资料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年度资料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724912" cy="33832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项目信息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54480"/>
            <a:ext cx="272491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建档与立档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0984" y="190195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建档申请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0984" y="2231136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建档审批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4" y="2560320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资料立档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2889504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存量硬盘直办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3218688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存档文本直办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4" y="354787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立档台账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554480"/>
            <a:ext cx="272491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迁档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90195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模拟介质资料迁档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231136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电子介质资料迁档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2560320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迁档台账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554480"/>
            <a:ext cx="272491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检索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901952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资料检索(综合模式)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2231136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电子介质资料检索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4" y="2560320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模拟介质资料检索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4" y="2889504"/>
            <a:ext cx="26334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检索池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977639"/>
            <a:ext cx="366979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实物流转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" y="4325112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借出申请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" y="465429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借出审批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" y="4983479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归还申请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" y="5312664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归还审批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" y="5641848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流转台账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91000" y="3977639"/>
            <a:ext cx="366979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出入网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45864" y="4325112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入网申请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45864" y="465429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入网审批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45864" y="4983479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出网申请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45864" y="5312664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出网审批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5864" y="5641848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在网数据台账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45864" y="5971031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在网数据处置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45864" y="630021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跨域流转台账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0520" y="3977639"/>
            <a:ext cx="3669792" cy="292608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盘库与离库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5384" y="4325112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模拟资料盘库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5384" y="4654296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电子资料盘库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25384" y="4983479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模拟资料离库处置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5384" y="5312664"/>
            <a:ext cx="357835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1F2A37"/>
                </a:solidFill>
                <a:latin typeface="Microsoft YaHei"/>
              </a:rPr>
              <a:t>电子资料离库处置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二、库房与介质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库房与介质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69748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库管资料总览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档案柜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档案柜登记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开柜查看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硬盘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概览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初始登记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752344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出库申请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136391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出库办理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520439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归还申请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3904487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归还办理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428853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盘库登记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4672583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离库处置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5056631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硬盘台账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600200"/>
            <a:ext cx="2697480" cy="329184"/>
          </a:xfrm>
          <a:prstGeom prst="roundRect">
            <a:avLst/>
          </a:prstGeom>
          <a:solidFill>
            <a:srgbClr val="D6E8E6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光盘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1984248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概览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2368296"/>
            <a:ext cx="25786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F2A37"/>
                </a:solidFill>
                <a:latin typeface="Microsoft YaHei"/>
              </a:rPr>
              <a:t>光盘台账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二、系统设置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系统设置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个人设置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600200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用户管理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00200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部门设置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12264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角色概览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2112264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审核审批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112264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服务器路径设置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24328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逾期设置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2624328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数据库操作日志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624328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在线用户与登录记录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36392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待办事项总览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3136392"/>
            <a:ext cx="3566160" cy="384048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F2A37"/>
                </a:solidFill>
                <a:latin typeface="Microsoft YaHei"/>
              </a:rPr>
              <a:t>高级数据管理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二、帮助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194560" cy="438912"/>
          </a:xfrm>
          <a:prstGeom prst="roundRect">
            <a:avLst/>
          </a:prstGeom>
          <a:solidFill>
            <a:srgbClr val="397E7A"/>
          </a:solidFill>
          <a:ln w="12700">
            <a:solidFill>
              <a:srgbClr val="2A5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帮助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11201400" cy="329184"/>
          </a:xfrm>
          <a:prstGeom prst="roundRect">
            <a:avLst/>
          </a:prstGeom>
          <a:solidFill>
            <a:srgbClr val="E8F3F2"/>
          </a:solidFill>
          <a:ln w="12700">
            <a:solidFill>
              <a:srgbClr val="397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F2A37"/>
                </a:solidFill>
                <a:latin typeface="Microsoft YaHei"/>
              </a:rPr>
              <a:t>操作手册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三、功能入口清单（完整路径）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地形图图件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航摄胶片、像片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其他资料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资料台账与资料处置 · 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历史存档 · 资料台账与资料处置 · 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项目信息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建档申请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建档审批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资料立档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存量硬盘直办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存档文本直办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建档与立档 · 立档台账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迁档 · 模拟介质资料迁档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迁档 · 电子介质资料迁档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迁档 · 迁档台账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资料检索(综合模式)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电子介质资料检索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模拟介质资料检索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检索 · 检索池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借出申请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借出审批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归还申请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归还审批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实物流转 · 流转台账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入网申请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入网审批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出网申请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出网审批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在网数据台账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在网数据处置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出入网 · 跨域流转台账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0"/>
            <a:ext cx="55778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模拟资料盘库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电子资料盘库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模拟资料离库处置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年度资料 · 盘库与离库 · 电子资料离库处置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库管资料总览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档案柜 · 档案柜登记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档案柜 · 开柜查看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概览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初始登记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出库申请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出库办理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归还申请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归还办理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盘库登记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离库处置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硬盘 · 硬盘台账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光盘 · 概览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库房与介质 · 光盘 · 光盘台账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个人设置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用户管理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部门设置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角色概览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审核审批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服务器路径设置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逾期设置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数据库操作日志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在线用户与登录记录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待办事项总览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系统设置 · 高级数据管理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1F2A37"/>
                </a:solidFill>
                <a:latin typeface="Microsoft YaHei"/>
              </a:rPr>
              <a:t>帮助 · 操作手册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· 左侧导航菜单结构  |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