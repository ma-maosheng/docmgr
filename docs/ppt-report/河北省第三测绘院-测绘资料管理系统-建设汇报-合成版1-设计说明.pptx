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61" r:id="rId17"/>
    <p:sldId id="273" r:id="rId18"/>
    <p:sldId id="263" r:id="rId19"/>
    <p:sldId id="274" r:id="rId20"/>
    <p:sldId id="292" r:id="rId21"/>
    <p:sldId id="293" r:id="rId22"/>
    <p:sldId id="294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276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91" r:id="rId47"/>
    <p:sldId id="392" r:id="rId48"/>
    <p:sldId id="310" r:id="rId49"/>
    <p:sldId id="311" r:id="rId50"/>
    <p:sldId id="313" r:id="rId51"/>
    <p:sldId id="314" r:id="rId52"/>
    <p:sldId id="308" r:id="rId53"/>
    <p:sldId id="309" r:id="rId54"/>
    <p:sldId id="389" r:id="rId55"/>
    <p:sldId id="390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280" r:id="rId64"/>
    <p:sldId id="322" r:id="rId65"/>
    <p:sldId id="323" r:id="rId66"/>
    <p:sldId id="324" r:id="rId67"/>
    <p:sldId id="325" r:id="rId68"/>
    <p:sldId id="326" r:id="rId69"/>
    <p:sldId id="327" r:id="rId70"/>
    <p:sldId id="329" r:id="rId71"/>
    <p:sldId id="328" r:id="rId72"/>
    <p:sldId id="330" r:id="rId73"/>
    <p:sldId id="331" r:id="rId74"/>
    <p:sldId id="332" r:id="rId75"/>
    <p:sldId id="284" r:id="rId76"/>
    <p:sldId id="333" r:id="rId77"/>
    <p:sldId id="334" r:id="rId78"/>
    <p:sldId id="335" r:id="rId79"/>
    <p:sldId id="336" r:id="rId80"/>
    <p:sldId id="338" r:id="rId81"/>
    <p:sldId id="339" r:id="rId82"/>
    <p:sldId id="340" r:id="rId83"/>
    <p:sldId id="341" r:id="rId84"/>
    <p:sldId id="288" r:id="rId85"/>
    <p:sldId id="342" r:id="rId86"/>
    <p:sldId id="344" r:id="rId87"/>
    <p:sldId id="345" r:id="rId88"/>
    <p:sldId id="346" r:id="rId89"/>
    <p:sldId id="357" r:id="rId90"/>
    <p:sldId id="291" r:id="rId91"/>
    <p:sldId id="358" r:id="rId92"/>
    <p:sldId id="359" r:id="rId93"/>
    <p:sldId id="360" r:id="rId94"/>
    <p:sldId id="361" r:id="rId95"/>
    <p:sldId id="362" r:id="rId96"/>
    <p:sldId id="275" r:id="rId97"/>
    <p:sldId id="363" r:id="rId98"/>
    <p:sldId id="277" r:id="rId99"/>
    <p:sldId id="278" r:id="rId100"/>
    <p:sldId id="279" r:id="rId101"/>
    <p:sldId id="364" r:id="rId102"/>
    <p:sldId id="281" r:id="rId103"/>
    <p:sldId id="282" r:id="rId104"/>
    <p:sldId id="283" r:id="rId105"/>
    <p:sldId id="365" r:id="rId106"/>
    <p:sldId id="285" r:id="rId107"/>
    <p:sldId id="286" r:id="rId108"/>
    <p:sldId id="287" r:id="rId109"/>
    <p:sldId id="366" r:id="rId110"/>
    <p:sldId id="289" r:id="rId111"/>
    <p:sldId id="290" r:id="rId112"/>
    <p:sldId id="367" r:id="rId113"/>
    <p:sldId id="368" r:id="rId114"/>
    <p:sldId id="295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4DBF5-A915-F610-6155-D1304745F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116904-B89F-1D8F-3685-ED1E89E83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D561F-B318-4EB7-1F93-41161DF7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3A5CBC-ABF9-489C-B2F4-85FB5DB1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259626-FD56-54C1-8CFA-61AA58FAC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504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65BC4-FADA-CB29-F76E-5452603E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744C94-0CC4-AF8A-3E47-ED40383C6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64B0DF-45B6-984C-9805-3728483CB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876942-EE28-CEED-CC6B-2E01B33E6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260B59-8C64-CEC8-A806-A3CE9303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96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D8A0DB-A4D2-8CE6-0DE4-B30E01C0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8A220F-AAC6-14D2-2402-ABF7CF748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53843E-6C28-5AB1-9FF5-3A3042B97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5390B1-4BCE-BED1-55C4-4E86E4ED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119B2-2FAE-D48D-160A-65522B9A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34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37892-23B2-5832-0C66-B4231478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4326A4-5730-F9EF-DADC-2974536DE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C7B340-13C5-F3FC-BA8B-F525D5D4D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C4BE12-9DFA-81FC-2479-E5B7F005B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D3B46D-6B1D-3461-3A8C-5063AECED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1F506C-09E6-50B6-EFDC-775F38D1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687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E7DE6-83E9-576A-5FD8-7D5F5D0C0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5B40F5-4B24-902D-27FF-B00751C3F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0C1C7B-CDAB-2B62-4DD0-0A5CD943C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AD3611-13D8-3757-3751-A887C0AD5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39BC3E-FA8C-C703-2779-C85C326F4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985624-8361-A43F-8BFE-5648FBCA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17B79A-A159-752E-3FD3-DA1D3859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8BBDDF-F659-0005-66BA-017AED6F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68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CACDC-A982-C3C5-A655-959E7E6F1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96E847-E07F-71E0-3050-E8A7208B2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7FFD79-9800-A6AB-5C07-140F6DABE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1AFF7D-213A-47F3-2C3A-907CD71F7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5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87AC7A-CEAD-1EE1-F437-6B9F8333E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B93FD6-AC2D-2FE5-5A25-00701ED0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91642C-12C6-573F-D15D-7A7824D0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203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741D5-2FDE-0298-15E5-549DBDEE0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1E588-3AC4-59EB-E87D-240289F5B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CBE662-06D3-F856-3B4B-9BA0BE13B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736794-F0C2-3EC2-A746-3F3B3C737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B2A156-B25D-EFA7-4AAF-09125ADC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8CB4D4-3120-0D9B-5A97-5D6BD746A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3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06967-B4DC-1719-F97E-91AF9DC29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8753ED-6936-BDCB-8E67-1BEBF5D520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C3D0D5-A25B-319E-DA02-2538E8F1D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14857B-7CBC-89D5-602E-555F4CAA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4AEF72-0AE3-F75F-336C-0F8C18BF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25B902-A192-201F-1199-C3522ED5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04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81D77-7005-5641-1348-86C10FB32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C666F9-BDED-79DC-4821-CEC2F8EC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E4E1A4-6F15-BED5-6133-DD87EC79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9A5B7C-697B-7539-E2B1-FF03742E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1AE5F7-D0ED-B878-08D0-C93A60A6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58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8CBD88-8597-230E-FEB1-39BC8C423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1BA38B-3132-3A84-3C2B-C86A7763D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8C459E-5637-BA5B-1983-2FF009C9D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FEE0D-2D5D-EBAC-50D0-C610FD34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D3D3AE-A07D-30D5-EE2C-6134A7D34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3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5039DC-4770-1160-E918-3FFA20F6E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50AE57-2D1E-FD93-132D-489620283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68F8-42CF-483E-9BF6-4FCC4AAE5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05B42-92F3-4427-9743-E30E4C445EB2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970AE3-C098-F9F9-9310-CB84CC390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8C4B6D-5A5E-A6A0-33DF-35DD6CB00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25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1.png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Microsoft YaHei"/>
              </a:rPr>
              <a:t>河北省第三测绘院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测绘资料管理系统建设汇报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61724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 err="1">
                <a:solidFill>
                  <a:srgbClr val="FFFFFF"/>
                </a:solidFill>
                <a:latin typeface="Microsoft YaHei"/>
              </a:rPr>
              <a:t>面向院领导</a:t>
            </a:r>
            <a:r>
              <a:rPr sz="1600" b="0" dirty="0">
                <a:solidFill>
                  <a:srgbClr val="FFFFFF"/>
                </a:solidFill>
                <a:latin typeface="Microsoft YaHei"/>
              </a:rPr>
              <a:t> / </a:t>
            </a:r>
            <a:r>
              <a:rPr sz="1600" b="0" dirty="0" err="1">
                <a:solidFill>
                  <a:srgbClr val="FFFFFF"/>
                </a:solidFill>
                <a:latin typeface="Microsoft YaHei"/>
              </a:rPr>
              <a:t>科室内部</a:t>
            </a:r>
            <a:r>
              <a:rPr sz="1600" b="0" dirty="0">
                <a:solidFill>
                  <a:srgbClr val="FFFFFF"/>
                </a:solidFill>
                <a:latin typeface="Microsoft YaHei"/>
              </a:rPr>
              <a:t> / </a:t>
            </a:r>
            <a:r>
              <a:rPr lang="zh-CN" altLang="en-US" sz="1600" b="0" dirty="0">
                <a:solidFill>
                  <a:srgbClr val="FFFFFF"/>
                </a:solidFill>
                <a:latin typeface="Microsoft YaHei"/>
              </a:rPr>
              <a:t>创新</a:t>
            </a:r>
            <a:r>
              <a:rPr sz="1600" b="0" dirty="0" err="1">
                <a:solidFill>
                  <a:srgbClr val="FFFFFF"/>
                </a:solidFill>
                <a:latin typeface="Microsoft YaHei"/>
              </a:rPr>
              <a:t>专项</a:t>
            </a:r>
            <a:r>
              <a:rPr sz="1600" b="0" dirty="0">
                <a:solidFill>
                  <a:srgbClr val="FFFFFF"/>
                </a:solidFill>
                <a:latin typeface="Microsoft YaHei"/>
              </a:rPr>
              <a:t>  ·  </a:t>
            </a:r>
            <a:r>
              <a:rPr sz="1600" b="0" dirty="0" err="1">
                <a:solidFill>
                  <a:srgbClr val="FFFFFF"/>
                </a:solidFill>
                <a:latin typeface="Microsoft YaHei"/>
              </a:rPr>
              <a:t>标准版（含真实界面</a:t>
            </a:r>
            <a:r>
              <a:rPr sz="1600" b="0" dirty="0">
                <a:solidFill>
                  <a:srgbClr val="FFFFFF"/>
                </a:solidFill>
                <a:latin typeface="Microsoft YaHei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版本 1.0.0    2026年10月</a:t>
            </a:r>
          </a:p>
          <a:p>
            <a:r>
              <a:rPr sz="1400" b="0">
                <a:solidFill>
                  <a:srgbClr val="FFFFFF"/>
                </a:solidFill>
                <a:latin typeface="Microsoft YaHei"/>
              </a:rPr>
              <a:t>模拟盒 · 电子袋 ｜ 柜体 · 档口 · 盒袋 ｜ 申请 · 审批 · 签批办结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9BA6D07-19E6-4240-81E6-FD327B2465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521B77-8269-D9A8-C5D7-F10CCD4A7F64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B5BE49-A3EA-65AA-5C75-D512A28C4DAA}"/>
              </a:ext>
            </a:extLst>
          </p:cNvPr>
          <p:cNvSpPr txBox="1"/>
          <p:nvPr/>
        </p:nvSpPr>
        <p:spPr>
          <a:xfrm>
            <a:off x="355600" y="177800"/>
            <a:ext cx="114808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汇报提纲（合成版）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5D02B3-AF7A-9FD7-C1BA-8C515E82E82F}"/>
              </a:ext>
            </a:extLst>
          </p:cNvPr>
          <p:cNvSpPr txBox="1"/>
          <p:nvPr/>
        </p:nvSpPr>
        <p:spPr>
          <a:xfrm>
            <a:off x="457200" y="1143000"/>
            <a:ext cx="11277600" cy="25853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一、建设背景、目标与系统定位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二、建设进度、投入与计划节点（本院数据）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三、功能导航：左侧菜单结构总览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四、核心业务与界面实况（历史存档 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年度资料 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库房介质）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五、内控治理、部署运维与操作手册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六、建设成效、下一步与请示事项</a:t>
            </a:r>
          </a:p>
          <a:p>
            <a:endParaRPr lang="zh-CN" altLang="en-US">
              <a:solidFill>
                <a:srgbClr val="1F2A37"/>
              </a:solidFill>
              <a:latin typeface="Microsoft YaHei" panose="020B0503020204020204" pitchFamily="34" charset="-122"/>
            </a:endParaRP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说明：本版由「建设汇报叙事」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「菜单结构图」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「界面图」梳理合成；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界面实况收录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《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测绘资料管理系统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-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界面图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》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全部页面，按业务章节编排。</a:t>
            </a:r>
          </a:p>
        </p:txBody>
      </p:sp>
    </p:spTree>
    <p:extLst>
      <p:ext uri="{BB962C8B-B14F-4D97-AF65-F5344CB8AC3E}">
        <p14:creationId xmlns:p14="http://schemas.microsoft.com/office/powerpoint/2010/main" val="2024363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8B4E5F-EA0C-B5FD-E940-C112146DE2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E49E0A-1262-4F4B-391D-49DD6E5E32D6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304F6A-DABB-CC1C-11FB-2665BCFE45FB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第一部分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4A52BC-9574-28B0-E1ED-AB5ACE4D5E30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建设背景、目标与定位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1A3968-FF2E-72F1-F0FB-17FF63E034FC}"/>
              </a:ext>
            </a:extLst>
          </p:cNvPr>
          <p:cNvSpPr txBox="1"/>
          <p:nvPr/>
        </p:nvSpPr>
        <p:spPr>
          <a:xfrm>
            <a:off x="685800" y="3429000"/>
            <a:ext cx="108204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为什么建：资料室全链路可追溯、模拟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电子一本账、柜体档口可视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建成什么：内网桌面一体化工作台，服务申请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审批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交接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办结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谁在用：部门资料员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资料管理员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系统管理员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网管负责人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04FA41-B3D1-47E6-D13E-DC80B3B11C0D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1618093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一、建设背景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资料室业务链条长：建档、立档、借还、出入网、盘库、离库需全程可追溯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模拟资料（档案盒）与电子资料（硬盘/光盘）长期存在“两套账”风险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柜体档口、介质位置、审批签批、待办催办缺少一体化工具支撑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迎检与内控要求：审批留痕、打印单据、附件扫描、操作审计可核查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建设方向：内网桌面一体化工作台，服务资料室日常办理与院内协同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3/50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建设目标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一本账：年度资料与历史存档统一可查、口径一致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一条链：申请 → 审批 → 实物交接 → 签批上传 → 办结闭环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一库房：柜体 · 档口 · 盒袋 · 硬盘/光盘位置可视可控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可审计：待办驱动、打印单据、附件留存、操作日志齐全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可落地：内网多终端共用数据库，覆盖升级不伤业务库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5/50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系统定位与使用角色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定位：河北省第三测绘院测绘资料管理系统（DocMgr）内网桌面客户端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部门资料员：提交各类申请（建档、借出、归还、出入网、硬盘出库等）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资料管理员：审批、立档、盘库、离库、开柜、交接办结（资料室）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系统管理员：用户/部门/角色、高级数据、操作日志等运维（不代办业务）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网管负责人：维护服务器路径设置（出入网落点）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说明：领导节点以纸质亲笔签为主，资料室在系统录入签字人姓名与日期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7/50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总体功能架构（四大域）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① 历史存档：地形图、航片、其他资料台账与离库处置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② 年度资料：建档立档、迁档、检索、借还、出入网、盘库离库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③ 库房与介质：库管总览、档案柜、硬盘全链路、光盘台账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④ 系统治理：审批规则、用户权限、待办、日志、会话、手册与备份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首页理念：模拟盒 · 电子袋 ｜ 柜体 · 档口 · 盒袋 ｜ 申请 · 审批 · 签批办结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9/50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58926A-6ADB-ADD8-7764-1DA6751416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B65F9C-3D3D-D6C9-5203-41AFD0DEF51C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3016FC-E9A9-993B-E0B4-A3CBED4E155B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第二部分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F6F866-59FD-6828-2750-185F70B77442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建设进度与投入计划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8A8A96-640B-4DA7-D3A4-D17B1199A326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</a:rPr>
              <a:t>进度、阶段、已完成</a:t>
            </a: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</a:rPr>
              <a:t>进行中事项（本院数据）</a:t>
            </a:r>
          </a:p>
          <a:p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</a:rPr>
              <a:t>投入概算与计划上线节点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AD0B80-3942-F230-21FD-9B8AFF824994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3830397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二、建设进度（本院数据）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总体进度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99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%】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当前阶段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 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试运行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 / 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数据导入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已完成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：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1F2A37"/>
                </a:solidFill>
                <a:latin typeface="Microsoft YaHei"/>
              </a:rPr>
              <a:t>  · 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核心业务闭环（建档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立档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借还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出入网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盘库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离库）已落地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1F2A37"/>
                </a:solidFill>
                <a:latin typeface="Microsoft YaHei"/>
              </a:rPr>
              <a:t>  · 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历史存档、档案柜、硬盘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/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光盘、审批与待办已具备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1F2A37"/>
                </a:solidFill>
                <a:latin typeface="Microsoft YaHei"/>
              </a:rPr>
              <a:t>  · 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内网部署、备份还原、覆盖升级与操作手册已具备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进行中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：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C45C26"/>
                </a:solidFill>
                <a:latin typeface="Microsoft YaHei"/>
              </a:rPr>
              <a:t>  · 【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科室培训、试运行问题闭环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待开展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：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C45C26"/>
                </a:solidFill>
                <a:latin typeface="Microsoft YaHei"/>
              </a:rPr>
              <a:t>  · 【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正式上线、验收、运维交接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11/50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投入概算与计划节点（本院数据）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启动时间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：【202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6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年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3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月】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设计定稿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lang="zh-CN" altLang="en-US" sz="1800" b="0" dirty="0">
                <a:solidFill>
                  <a:srgbClr val="C45C26"/>
                </a:solidFill>
                <a:latin typeface="Microsoft YaHei"/>
              </a:rPr>
              <a:t>边干边设计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开发主体完成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 </a:t>
            </a:r>
            <a:r>
              <a:rPr lang="en-US" altLang="zh-CN" dirty="0">
                <a:solidFill>
                  <a:srgbClr val="C45C26"/>
                </a:solidFill>
                <a:latin typeface="Microsoft YaHei"/>
              </a:rPr>
              <a:t>2026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年</a:t>
            </a:r>
            <a:r>
              <a:rPr lang="en-US" altLang="zh-CN" dirty="0">
                <a:solidFill>
                  <a:srgbClr val="C45C26"/>
                </a:solidFill>
                <a:latin typeface="Microsoft YaHei"/>
              </a:rPr>
              <a:t>8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月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试运行开始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lang="en-US" altLang="zh-CN" dirty="0">
                <a:solidFill>
                  <a:srgbClr val="C45C26"/>
                </a:solidFill>
                <a:latin typeface="Microsoft YaHei"/>
              </a:rPr>
              <a:t> 2026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年</a:t>
            </a:r>
            <a:r>
              <a:rPr lang="en-US" altLang="zh-CN" dirty="0">
                <a:solidFill>
                  <a:srgbClr val="C45C26"/>
                </a:solidFill>
                <a:latin typeface="Microsoft YaHei"/>
              </a:rPr>
              <a:t>12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月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计划正式上线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：【202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7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年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1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月】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计划验收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lang="en-US" altLang="zh-CN" dirty="0">
                <a:solidFill>
                  <a:srgbClr val="C45C26"/>
                </a:solidFill>
                <a:latin typeface="Microsoft YaHei"/>
              </a:rPr>
              <a:t> 2027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年</a:t>
            </a:r>
            <a:r>
              <a:rPr lang="en-US" altLang="zh-CN" dirty="0">
                <a:solidFill>
                  <a:srgbClr val="C45C26"/>
                </a:solidFill>
                <a:latin typeface="Microsoft YaHei"/>
              </a:rPr>
              <a:t>4</a:t>
            </a:r>
            <a:r>
              <a:rPr lang="zh-CN" altLang="en-US" dirty="0">
                <a:solidFill>
                  <a:srgbClr val="C45C26"/>
                </a:solidFill>
                <a:latin typeface="Microsoft YaHei"/>
              </a:rPr>
              <a:t>月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试点科室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 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资料室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12/50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1EAADF-C1F2-4159-669F-A6575F521B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EA2DCF-69D6-2A3C-12DA-4F27747C05FC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60B673-59DE-1AFF-1EC6-E75E39D27544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第三部分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FFF0A0-6948-3C87-605E-03C3868F00AA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功能导航：菜单结构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9F749F-2178-EC5F-CE01-2A18AB49BF01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与主窗口左侧导航一致，五大一级模块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便于领导快速把握系统覆盖范围与入口层级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F30407-C386-B4DF-8675-138A91C1CD42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3448713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一、导航总览（与主窗口左侧菜单一致）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历史存档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图件台账与历史离库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4912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年度资料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2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建档立档→流转→出入网→盘库离库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8344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库房与介质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8344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柜体 · 硬盘 · 光盘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1776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系统设置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51776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用户权限 · 审核 · 运维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65208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帮助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8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操作手册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层级约定：一级模块（手风琴）→ 二级分组/直达菜单 → 三级功能页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年度资料按生命周期编排：项目信息 → 建档与立档 → 迁档 → 检索 → 实物流转 → 出入网 → 盘库与离库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库房与介质：库管总览 + 档案柜 + 硬盘全流程 + 光盘台账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导航全员可进浏览；写入/办理仍按角色控制（详见「角色概览」）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2/8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二、历史存档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历史存档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地形图图件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航摄胶片、像片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其他资料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资料台账与资料处置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台账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处置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3/8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二、年度资料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年度资料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724912" cy="33832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项目信息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554480"/>
            <a:ext cx="272491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建档与立档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0984" y="1901952"/>
            <a:ext cx="263347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建档申请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0984" y="2185416"/>
            <a:ext cx="263347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建档审批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4" y="2468880"/>
            <a:ext cx="263347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资料立档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00984" y="2752344"/>
            <a:ext cx="263347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存量光盘直办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3035808"/>
            <a:ext cx="263347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存量硬盘直办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3319272"/>
            <a:ext cx="263347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存档文本直办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4" y="3602736"/>
            <a:ext cx="263347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立档台账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554480"/>
            <a:ext cx="272491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迁档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190195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模拟介质资料迁档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2231136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电子介质资料迁档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2560320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迁档台账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554480"/>
            <a:ext cx="272491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检索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90195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资料检索(综合模式)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2231136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电子介质资料检索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4" y="2560320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模拟介质资料检索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4" y="2889504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检索池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977639"/>
            <a:ext cx="366979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实物流转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" y="4325112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借出申请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" y="465429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借出审批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" y="4983479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归还申请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" y="5312664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归还审批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" y="5641848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流转台账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91000" y="3977639"/>
            <a:ext cx="366979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出入网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45864" y="4325112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入网申请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45864" y="465429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入网审批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45864" y="4983479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出网申请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45864" y="5312664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出网审批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5864" y="5641848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在网数据台账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45864" y="5971031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在网数据处置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45864" y="630021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跨域流转台账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70520" y="3977639"/>
            <a:ext cx="366979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盘库与离库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5384" y="4325112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模拟资料盘库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5384" y="465429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电子资料盘库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25384" y="4983479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模拟资料离库处置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5384" y="5312664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电子资料离库处置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4/8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二、库房与介质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库房与介质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库管资料总览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档案柜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档案柜登记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开柜查看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硬盘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概览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初始登记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752344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出库申请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136391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出库办理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520439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归还申请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3904487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归还办理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428853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盘库登记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4672583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离库处置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5056631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硬盘台账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光盘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概览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光盘台账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5/8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二、系统设置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系统设置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个人设置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600200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用户管理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600200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部门设置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12264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角色概览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2112264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审核审批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112264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服务器路径设置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8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逾期设置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2624328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数据库操作日志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624328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在线用户与登录记录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36392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待办事项总览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3136392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高级数据管理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6/8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二、帮助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帮助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1120140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操作手册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7/8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三、功能入口清单（完整路径）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地形图图件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航摄胶片、像片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其他资料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资料台账与资料处置 · 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资料台账与资料处置 · 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项目信息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建档申请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建档审批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资料立档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存量硬盘直办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存档文本直办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立档台账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迁档 · 模拟介质资料迁档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迁档 · 电子介质资料迁档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迁档 · 迁档台账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资料检索(综合模式)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电子介质资料检索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模拟介质资料检索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检索池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借出申请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借出审批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归还申请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归还审批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流转台账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入网申请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入网审批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出网申请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出网审批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在网数据台账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在网数据处置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跨域流转台账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模拟资料盘库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电子资料盘库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模拟资料离库处置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电子资料离库处置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库管资料总览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档案柜 · 档案柜登记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档案柜 · 开柜查看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概览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初始登记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出库申请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出库办理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归还申请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归还办理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盘库登记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离库处置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硬盘台账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光盘 · 概览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光盘 · 光盘台账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个人设置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用户管理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部门设置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角色概览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审核审批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服务器路径设置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逾期设置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数据库操作日志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在线用户与登录记录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待办事项总览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高级数据管理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帮助 · 操作手册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8/8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BE3E09-E2F8-D7DA-4020-D7D80B869F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1EEEA3-1A56-BFF2-73F9-C8A9FB8D34F3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2FD59D-AEF3-E3FE-981A-DA4876FBF01D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第四部分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80314D-0A7F-9CDE-A6A4-E0D69B4FDA8C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核心业务与界面实况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2C1494-09BC-6369-9CB1-86B4D81E1B0C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以下界面页完整收录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《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-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界面图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》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全部内容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编排顺序：历史存档 → 年度资料 → 库房与介质 → 系统设置与手册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E06184-F2DA-A20B-B728-571EA6554CE1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2732318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CF14F9-FEF7-DEF2-AF61-2DCC6D3B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789" y="76200"/>
            <a:ext cx="9158422" cy="54241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A61A7BA-E537-28B3-B3C5-D8B537884F45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367ACC-EF7E-55E9-7EE9-8B6256662EEE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37E083-216B-9C09-4E46-10DB2260827B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664A61-6D0D-E7C5-662F-0F9D5ECF1521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开篇定调：以真实界面承载业务，而不是概念图；后续按历史存档→年度资料→库房介质展开。</a:t>
            </a:r>
          </a:p>
        </p:txBody>
      </p:sp>
    </p:spTree>
    <p:extLst>
      <p:ext uri="{BB962C8B-B14F-4D97-AF65-F5344CB8AC3E}">
        <p14:creationId xmlns:p14="http://schemas.microsoft.com/office/powerpoint/2010/main" val="1525574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85EF621-6514-D624-9C16-E91DA912B7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002CAB-5A3A-D2B6-F561-49ECCC1000D7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3B1C6F-6B84-B108-B75B-970352095D73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</a:rPr>
              <a:t>· A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9769C6-DEF4-67F5-E750-09F1919FD401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历史存档管理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6EF164-F0CA-48AE-8E3C-E162237073B5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地形图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航片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其他资料台账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离库处置与柜体档口联动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ECEE73-5E3B-F249-7A11-EDA1F9D325FC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504505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三、历史存档管理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覆盖：地形图图件、航摄胶片/像片、其他资料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支持按盒管理、台账查询、Excel 导入与离库处置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处置方式含销毁/转交/其他，办结前确认实物撤柜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与标准档案柜档口用途联动（历史专用 / 混用）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价值：长周期存量资料与年度资料同一平台管理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13/50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CCEC3-4B8E-A220-B31D-825E3E11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70BF1-FF0B-95FC-064A-0E217948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711" y="76200"/>
            <a:ext cx="6151599" cy="50067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地形图图件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B31F1C-292D-30D3-0874-5C3208503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099" y="727603"/>
            <a:ext cx="8871803" cy="524800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FE83869-09F5-ACE0-8DB7-1F1FA3289DB5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7C64BA-C7BA-EA16-7BAD-BA4980741585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22859C-4272-51D9-D503-6768ECE20F4E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6F158E-7549-164E-2069-F604E2484A1F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历史图件按「分类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检索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维护」组织，保留传统台账习惯，同时纳入统一生命周期与柜位管理。</a:t>
            </a:r>
          </a:p>
        </p:txBody>
      </p:sp>
    </p:spTree>
    <p:extLst>
      <p:ext uri="{BB962C8B-B14F-4D97-AF65-F5344CB8AC3E}">
        <p14:creationId xmlns:p14="http://schemas.microsoft.com/office/powerpoint/2010/main" val="2695873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7E1FE-21A4-F537-A5D9-E6CC0197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B843F-FB5D-E3C5-292F-05781E5AC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577" y="76200"/>
            <a:ext cx="6210659" cy="505477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地形图图件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789341-CD2B-E640-324B-687BDC6B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168" y="719773"/>
            <a:ext cx="9411926" cy="51177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277B9C-0100-2C27-805F-6CA9A90DE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484" y="2732375"/>
            <a:ext cx="5648349" cy="324322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982BC26-204A-080F-1DFA-B987B57C0380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875872-6D03-8BEC-FB65-AEA5020F0CD7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EB497C-CC33-AD60-CD07-58EF2B50F80D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7D4DA3-414A-4313-DD7A-CF263B6E5586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历史图件按「分类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检索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维护」组织，保留传统台账习惯，同时纳入统一生命周期与柜位管理。</a:t>
            </a:r>
          </a:p>
        </p:txBody>
      </p:sp>
    </p:spTree>
    <p:extLst>
      <p:ext uri="{BB962C8B-B14F-4D97-AF65-F5344CB8AC3E}">
        <p14:creationId xmlns:p14="http://schemas.microsoft.com/office/powerpoint/2010/main" val="2318750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F04A0-89EC-7A34-1052-9B82EC42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9EBAB-0BFD-73B7-F95D-44007060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0062" y="76200"/>
            <a:ext cx="6002192" cy="48851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航摄胶片、像片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3ABEAB-8C49-CB1F-D2E6-756685429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80" y="695479"/>
            <a:ext cx="8915243" cy="528012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C59D092-E841-02B4-DE62-6C213F09E0C2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2DE404-5615-2BAB-2A56-5310359D1464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3A38DB-6734-824F-E750-92E4B24C4C8B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1C1C95-FA18-F12E-E3E8-CFD30CD64E76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航片按测区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比例尺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摄影期等专业维度管理，支持盒内内容与数量登记，便于长周期盘点与处置。</a:t>
            </a:r>
          </a:p>
        </p:txBody>
      </p:sp>
    </p:spTree>
    <p:extLst>
      <p:ext uri="{BB962C8B-B14F-4D97-AF65-F5344CB8AC3E}">
        <p14:creationId xmlns:p14="http://schemas.microsoft.com/office/powerpoint/2010/main" val="2430024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3599-5EF3-7C38-1FAA-F928C7F7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264AF-B3EF-3046-FF00-B90CE3D0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706" y="76200"/>
            <a:ext cx="6002192" cy="48851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航摄胶片、像片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A70A25-9F55-B272-4B87-B57BE5D77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861" y="736967"/>
            <a:ext cx="9634276" cy="523863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C5024DC-22AD-EA0A-909A-86AEFB6E2066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70E6DD-0251-AE29-A227-7F3953370652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D00C35-02AD-06AE-A2C4-4D9B2FBCC1B1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4D2056-9D89-7477-B953-62CDFD283E72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航片按测区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比例尺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摄影期等专业维度管理，支持盒内内容与数量登记，便于长周期盘点与处置。</a:t>
            </a:r>
          </a:p>
        </p:txBody>
      </p:sp>
    </p:spTree>
    <p:extLst>
      <p:ext uri="{BB962C8B-B14F-4D97-AF65-F5344CB8AC3E}">
        <p14:creationId xmlns:p14="http://schemas.microsoft.com/office/powerpoint/2010/main" val="1674572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38A52-4767-F5F9-EF29-9EA7C462E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3C8E5-D326-7822-C8B2-E403BE82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1053" y="76200"/>
            <a:ext cx="6123656" cy="498396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航摄胶片、像片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01D311-9770-EA72-468A-1B9234824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68" y="756177"/>
            <a:ext cx="8963041" cy="5219427"/>
          </a:xfrm>
          <a:prstGeom prst="rect">
            <a:avLst/>
          </a:prstGeom>
        </p:spPr>
      </p:pic>
      <p:sp>
        <p:nvSpPr>
          <p:cNvPr id="6" name="标注: 左箭头 5">
            <a:extLst>
              <a:ext uri="{FF2B5EF4-FFF2-40B4-BE49-F238E27FC236}">
                <a16:creationId xmlns:a16="http://schemas.microsoft.com/office/drawing/2014/main" id="{945A2161-CB68-0704-B0B2-E1EAA9539DAE}"/>
              </a:ext>
            </a:extLst>
          </p:cNvPr>
          <p:cNvSpPr/>
          <p:nvPr/>
        </p:nvSpPr>
        <p:spPr>
          <a:xfrm>
            <a:off x="10385848" y="2355366"/>
            <a:ext cx="835685" cy="1870341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自动检测冲突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CA759E-AFA7-5083-E2E8-48B1F54C0527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6E60A9-BCEF-7CDD-F9E7-5D4653BDE49D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D2AEC3-135C-81A0-D4F9-CE92D8EA69F5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633508-83E2-1B97-0AA4-210986A89FCA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航片按测区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比例尺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摄影期等专业维度管理，支持盒内内容与数量登记，便于长周期盘点与处置。</a:t>
            </a:r>
          </a:p>
        </p:txBody>
      </p:sp>
    </p:spTree>
    <p:extLst>
      <p:ext uri="{BB962C8B-B14F-4D97-AF65-F5344CB8AC3E}">
        <p14:creationId xmlns:p14="http://schemas.microsoft.com/office/powerpoint/2010/main" val="2843364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ECEF3-9195-1CF2-D354-34B8607FD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67C3C-B5FF-12AE-ED4E-AFFEF2F4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793" y="76200"/>
            <a:ext cx="6454993" cy="525363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其他资料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E8F02A-F6E3-6496-830A-9EDCCBF23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105" y="770943"/>
            <a:ext cx="9571791" cy="520466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1A623DC-CF82-F9FC-A087-CFA1172A1161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1297F3-5EC8-AF3B-2916-7E42B80F389D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B80838-8B47-0241-B3BA-DB2EDE9F56C7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A95172-A00C-A198-ADF1-C1BD6CFC36E2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其他图件用「起止年度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资料内容」表达跨年存量，避免硬套年度项目口径造成失真。</a:t>
            </a:r>
          </a:p>
        </p:txBody>
      </p:sp>
    </p:spTree>
    <p:extLst>
      <p:ext uri="{BB962C8B-B14F-4D97-AF65-F5344CB8AC3E}">
        <p14:creationId xmlns:p14="http://schemas.microsoft.com/office/powerpoint/2010/main" val="3542867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BB1AE-BDAD-D19C-6A3B-6DC60266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28F7F-2F9E-2219-122A-100440FB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3690" y="76200"/>
            <a:ext cx="6179826" cy="502967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资料台账与资料处置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台账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843102-4330-2447-B28E-E48DAB623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98" y="691114"/>
            <a:ext cx="9718603" cy="528449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D63130D-F858-D3EA-64D8-6528AF73C8DD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8E1844-9AD4-A00C-903F-2664EFC7EF50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4892A9-0FF9-C330-D6EA-1635A2C8A70E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048CB4-C3C3-6D47-E710-D47E9841B86E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先「盒台账」后「处置」，以档案盒为管理单元，台账条数与混放关系一次看清。</a:t>
            </a:r>
          </a:p>
        </p:txBody>
      </p:sp>
    </p:spTree>
    <p:extLst>
      <p:ext uri="{BB962C8B-B14F-4D97-AF65-F5344CB8AC3E}">
        <p14:creationId xmlns:p14="http://schemas.microsoft.com/office/powerpoint/2010/main" val="3875509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11196-2DD9-357B-8E99-DD0B555F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39AEC8-A2D0-0FAC-98D1-00FC62D45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867" y="76200"/>
            <a:ext cx="6179825" cy="502967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资料台账与资料处置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处置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3AADA1-C2C2-9717-E350-F61A8EEB9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107" y="740582"/>
            <a:ext cx="8703786" cy="523502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E50A8CA-807F-76C4-02BF-DE04D1D8D526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7516FC-212B-5D01-8E27-FF54BBA7E01F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101B73-74E7-9652-CC30-5AFBDD59E86E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83368D-AE15-A676-45ED-358AFD166973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离库必须走审批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实物撤柜确认，销毁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转交等处置方式留痕，防止「账销物还在」。</a:t>
            </a:r>
          </a:p>
        </p:txBody>
      </p:sp>
    </p:spTree>
    <p:extLst>
      <p:ext uri="{BB962C8B-B14F-4D97-AF65-F5344CB8AC3E}">
        <p14:creationId xmlns:p14="http://schemas.microsoft.com/office/powerpoint/2010/main" val="3248002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6E888D-39B4-F0E8-BE19-0F7561E31B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1C1895-DD0C-86E0-D263-A3F23AA6DD60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EFEA6C-CCC8-DFB2-E3FE-AFF69FDF2173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</a:rPr>
              <a:t>· B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A67162-F82D-8DF9-CBB8-78856F4AFA98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年度资料全生命周期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2A4BBE-84EB-E33C-CF60-3DB27D0AD714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建档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立档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检索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借还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出入网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盘库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离库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模拟盒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电子袋双轨立档，同一口径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083743-3E4E-CF23-A0AD-5448BF07AED6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2050401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四、年度资料全生命周期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建档申请 → 建档审批 → 实物交接/签批 → 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→ 资料立档（模拟入盒落柜 / 电子入袋落盘柜）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→ 检索 / 检索池 → 借出 → 归还 → 迁档 → 盘库 → 离库处置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提效路径：存量硬盘直办、存档文本直办（可跳过完整建档审批）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全程形成流转台账，支持撤回、逾期提醒与强制作废（按规则）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17/50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双轨立档：模拟盒 + 电子袋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模拟介质：档案盒 → 标准/混用档口，支撑纸质与模拟资料落位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电子介质：硬盘袋/光盘袋 → 磁盘柜档口，支持空盘立档、并档等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同一项目与台账口径，避免纸质与电子“两套账”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立档后进入检索、借还、迁档、盘库、离库统一闭环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21/50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8B47-FA85-B348-AC77-9A3973D3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A937D-CEE6-C9C4-E914-389E32F5E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2561" y="76200"/>
            <a:ext cx="4846878" cy="519696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52C955-922E-11D1-1672-360EF5D19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912" y="1191316"/>
            <a:ext cx="1933688" cy="478428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4F2250B-E740-CCA3-53C5-3386FBC3E438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A2A789-69F2-DA5B-D562-2F8B49CF5265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D1F8F8-8306-4D80-C99B-669414E9DD2E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A00F73-9848-9BE8-C38B-62ECFDBB151D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年度资料是系统主战场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以项目为入口，把建档、立档、流转、出入网、盘库串成一条可审计闭环。</a:t>
            </a:r>
          </a:p>
        </p:txBody>
      </p:sp>
    </p:spTree>
    <p:extLst>
      <p:ext uri="{BB962C8B-B14F-4D97-AF65-F5344CB8AC3E}">
        <p14:creationId xmlns:p14="http://schemas.microsoft.com/office/powerpoint/2010/main" val="3334605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1F8AB-D791-619D-33E3-F6BBBA34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2AAB5-6272-9230-37F6-D0AA68238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964" y="76200"/>
            <a:ext cx="4647359" cy="498303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项目信息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4A1A7A-A1D8-8D44-9C66-414259AA9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611" y="678676"/>
            <a:ext cx="8032779" cy="529692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EBDC01C-E06F-44CA-CE13-8CDFEA711ACE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12723F-0004-BA40-C2B6-1ED2D1E2E892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9AA7AA-9696-7703-B9EA-75F36328456A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4D1A52-0034-7C00-8C24-C2E21BA59F22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项目是资料归集主键；后续建档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立档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台账均挂靠项目与年度，保证「一本账」口径一致。</a:t>
            </a:r>
          </a:p>
        </p:txBody>
      </p:sp>
    </p:spTree>
    <p:extLst>
      <p:ext uri="{BB962C8B-B14F-4D97-AF65-F5344CB8AC3E}">
        <p14:creationId xmlns:p14="http://schemas.microsoft.com/office/powerpoint/2010/main" val="3217678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8A70-223B-D07F-05AF-32D5BCD7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B2C36-8B94-1C0F-FCA2-3ADFA358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835" y="76200"/>
            <a:ext cx="4984333" cy="534434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CE2E49-5190-2F6C-DDD7-A244A5C25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725" y="1105799"/>
            <a:ext cx="2016533" cy="339823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92CAA9D-401D-6B65-C1E0-656C562F49B2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264838-3431-B916-06C0-536053B0D849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87713B-5D79-3F98-B7A9-AD257F687EDD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AB00C9-CA8A-335E-132E-430488BBAADC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建档解决「准不准进库」，立档解决「落到哪、什么载体」；两段分离，权限与责任更清晰。</a:t>
            </a:r>
          </a:p>
        </p:txBody>
      </p:sp>
    </p:spTree>
    <p:extLst>
      <p:ext uri="{BB962C8B-B14F-4D97-AF65-F5344CB8AC3E}">
        <p14:creationId xmlns:p14="http://schemas.microsoft.com/office/powerpoint/2010/main" val="650480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81B88-825D-F02D-6671-581F6D93B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5B379-A8CC-A4B4-3916-7D0C9CDC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900" y="76200"/>
            <a:ext cx="5008941" cy="475869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建档申请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431215-19EC-2946-E2FD-4182839D4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866" y="663914"/>
            <a:ext cx="9062268" cy="531169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59C7492-1C7D-C151-FAB0-55F0E9DB9E89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5EC77A-F09D-E3D9-99E5-D0CE9AB8BCB4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67E5F6-A726-8B5B-2B68-785A27239D57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403DC6-09CB-E6FE-9EF2-EA55CEDCEEC3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申请侧只填业务必要项，审批与签字在后续节点完成；减少一次性表单过重导致的填报阻力。</a:t>
            </a:r>
          </a:p>
        </p:txBody>
      </p:sp>
    </p:spTree>
    <p:extLst>
      <p:ext uri="{BB962C8B-B14F-4D97-AF65-F5344CB8AC3E}">
        <p14:creationId xmlns:p14="http://schemas.microsoft.com/office/powerpoint/2010/main" val="21212879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C859-DD3F-6B05-AD18-086EF289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9B5D60E-E85A-9147-F5E2-D4428FC6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767" y="1043125"/>
            <a:ext cx="8522323" cy="463401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9D3B17D-53F9-407F-1F73-00BB31EA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41106"/>
            <a:ext cx="6716958" cy="346926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建档申请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申请信息录入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CD7ECDE-65B7-43C0-0ADD-C47DD4409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498" y="358001"/>
            <a:ext cx="3179374" cy="1870427"/>
          </a:xfrm>
          <a:prstGeom prst="rect">
            <a:avLst/>
          </a:prstGeom>
        </p:spPr>
      </p:pic>
      <p:sp>
        <p:nvSpPr>
          <p:cNvPr id="8" name="箭头: 上 7">
            <a:extLst>
              <a:ext uri="{FF2B5EF4-FFF2-40B4-BE49-F238E27FC236}">
                <a16:creationId xmlns:a16="http://schemas.microsoft.com/office/drawing/2014/main" id="{C4034A45-FA3A-024E-F333-C4CC0D177B00}"/>
              </a:ext>
            </a:extLst>
          </p:cNvPr>
          <p:cNvSpPr/>
          <p:nvPr/>
        </p:nvSpPr>
        <p:spPr>
          <a:xfrm rot="3777324">
            <a:off x="6381321" y="582689"/>
            <a:ext cx="190693" cy="288884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606E644-E03D-7665-BE82-F1D7A6A17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211" y="3311074"/>
            <a:ext cx="1982618" cy="2746826"/>
          </a:xfrm>
          <a:prstGeom prst="rect">
            <a:avLst/>
          </a:prstGeom>
        </p:spPr>
      </p:pic>
      <p:sp>
        <p:nvSpPr>
          <p:cNvPr id="13" name="箭头: 上 12">
            <a:extLst>
              <a:ext uri="{FF2B5EF4-FFF2-40B4-BE49-F238E27FC236}">
                <a16:creationId xmlns:a16="http://schemas.microsoft.com/office/drawing/2014/main" id="{87FAA015-820A-677B-EAAB-1B3535C045B7}"/>
              </a:ext>
            </a:extLst>
          </p:cNvPr>
          <p:cNvSpPr/>
          <p:nvPr/>
        </p:nvSpPr>
        <p:spPr>
          <a:xfrm rot="4917574">
            <a:off x="4441692" y="3405064"/>
            <a:ext cx="193903" cy="379658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BDFB8E-A97E-52F5-B222-A4BEA5B597C4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DCB315-32FA-E22E-6360-C57FF4AC2A11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E082DA-4E32-E39C-091C-03D81EFAD3EF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611184-3DEA-368C-A5A5-CEC0031591AA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模拟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电子介质分栏录入，密级、份数、来源一次采集，为立档落位与借还份数控制打底。</a:t>
            </a:r>
          </a:p>
        </p:txBody>
      </p:sp>
    </p:spTree>
    <p:extLst>
      <p:ext uri="{BB962C8B-B14F-4D97-AF65-F5344CB8AC3E}">
        <p14:creationId xmlns:p14="http://schemas.microsoft.com/office/powerpoint/2010/main" val="42776999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01E5-9A02-3CDC-FA86-C6F3A9EB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9C4EA-7A3F-64BA-5403-4C8BC552C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701" y="76200"/>
            <a:ext cx="5204580" cy="476545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0F16D9-95C4-5A06-DF8D-DC57C62C6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222" y="589641"/>
            <a:ext cx="9041559" cy="538596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FB6C054-3C3A-76F0-2C11-0B4A58C27AB3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382EFD-C2D4-656B-18C1-2D6E4FDF6918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659187-92B4-CC23-599D-E7CE8BB6F07E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B41E5C-1DB6-E715-5CD9-E0FDAF02765F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线上推进节点、线下亲笔签为主；系统录入签字人与日期，兼顾效率与内控习惯。</a:t>
            </a:r>
          </a:p>
        </p:txBody>
      </p:sp>
    </p:spTree>
    <p:extLst>
      <p:ext uri="{BB962C8B-B14F-4D97-AF65-F5344CB8AC3E}">
        <p14:creationId xmlns:p14="http://schemas.microsoft.com/office/powerpoint/2010/main" val="40504609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92E0-E697-ABC1-620A-BB4BA185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D4A7C-E0F1-BA4F-D785-540580F8E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1893" y="76200"/>
            <a:ext cx="4501132" cy="482624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建档审批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EBD46A-C89D-4EEB-811E-1EE824C55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27" y="1416866"/>
            <a:ext cx="8378488" cy="45587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4632C8B-EBA2-C971-AD0F-CDA5DEDDA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747" y="610577"/>
            <a:ext cx="5394926" cy="754535"/>
          </a:xfrm>
          <a:prstGeom prst="rect">
            <a:avLst/>
          </a:prstGeom>
        </p:spPr>
      </p:pic>
      <p:sp>
        <p:nvSpPr>
          <p:cNvPr id="9" name="箭头: 直角上 8">
            <a:extLst>
              <a:ext uri="{FF2B5EF4-FFF2-40B4-BE49-F238E27FC236}">
                <a16:creationId xmlns:a16="http://schemas.microsoft.com/office/drawing/2014/main" id="{C69164FE-7536-A721-4610-FBC2C074ADB3}"/>
              </a:ext>
            </a:extLst>
          </p:cNvPr>
          <p:cNvSpPr/>
          <p:nvPr/>
        </p:nvSpPr>
        <p:spPr>
          <a:xfrm>
            <a:off x="9366602" y="1448348"/>
            <a:ext cx="719324" cy="4495774"/>
          </a:xfrm>
          <a:prstGeom prst="bentUpArrow">
            <a:avLst>
              <a:gd name="adj1" fmla="val 9354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974ABE-B499-7D8C-679C-FAA8D904AB39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34B759-CF6D-8ABA-1CF1-D16C0BC23CA2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F914AA-8DE0-F0AB-B49F-24B63B10916B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0FDB11-90C0-1D98-AA79-0E2B41E983A9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线上推进节点、线下亲笔签为主；系统录入签字人与日期，兼顾效率与内控习惯。</a:t>
            </a:r>
          </a:p>
        </p:txBody>
      </p:sp>
    </p:spTree>
    <p:extLst>
      <p:ext uri="{BB962C8B-B14F-4D97-AF65-F5344CB8AC3E}">
        <p14:creationId xmlns:p14="http://schemas.microsoft.com/office/powerpoint/2010/main" val="16824560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4867-47B1-95C1-75A8-043730A82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B475B-2425-FCDC-13E8-1EF47D95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850" y="76200"/>
            <a:ext cx="6044239" cy="499373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资料立档（模拟介质）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6CCF346-125F-BC55-DC4D-163E1A498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75" y="859594"/>
            <a:ext cx="9430450" cy="511601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AE0B817-5FFF-BEB0-5764-9AD075748A3A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F66AF3-44DD-8C87-0050-284597BDA257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1E0919-B10E-5925-7F42-4C1F694EF1A7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259CE3-FC92-0E30-707D-BE736942A4DD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模拟资料以「档案盒→标准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混用档口」落位，立档即绑定柜体位置，检索与开柜同源。</a:t>
            </a:r>
          </a:p>
        </p:txBody>
      </p:sp>
    </p:spTree>
    <p:extLst>
      <p:ext uri="{BB962C8B-B14F-4D97-AF65-F5344CB8AC3E}">
        <p14:creationId xmlns:p14="http://schemas.microsoft.com/office/powerpoint/2010/main" val="27271061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B6186-45BE-BD04-EEA1-58E279E0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12DBE-C577-C5D4-3F4D-19BA49A4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3550" y="76200"/>
            <a:ext cx="6103436" cy="49520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资料立档（电子介质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6177FC-85CC-B4CA-5AFC-40880A742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617" y="571401"/>
            <a:ext cx="9938765" cy="540420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329C158-13AE-2CC1-2B7C-E1EAC0C735D8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80FB2F-4685-C0F0-A89C-E4A4CFFB1069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A9602F-F248-B727-A945-EEF85E892524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D5D444-83BE-F72E-745D-9C02E546E69A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电子资料以「硬盘袋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光盘袋→磁盘柜」落位，支持空盘立档、并档等库房实际操作。</a:t>
            </a:r>
          </a:p>
        </p:txBody>
      </p:sp>
    </p:spTree>
    <p:extLst>
      <p:ext uri="{BB962C8B-B14F-4D97-AF65-F5344CB8AC3E}">
        <p14:creationId xmlns:p14="http://schemas.microsoft.com/office/powerpoint/2010/main" val="10294471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4A29-7572-C0DF-7598-ACB8B61E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0C786-3B86-FD89-AD44-55FD4975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450" y="76200"/>
            <a:ext cx="6514567" cy="492157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资料立档（电子介质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7A74E24-6D5C-5C61-1F59-B9DDF0B6F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820" y="568357"/>
            <a:ext cx="9944363" cy="540724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49D4939-7D2C-78D5-FD49-6F9E276583F7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8AF6B6-DBEF-0BE2-B0FC-54639291B019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77EAF7-C002-D6C3-EF8A-D6B770B35BC7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BBC80A-D050-06D2-887A-DBDE3372E7AF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电子立档强调存储路径与数据量，形成「袋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盘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目录」可追溯链条，避免只见盘不见数。</a:t>
            </a:r>
          </a:p>
        </p:txBody>
      </p:sp>
    </p:spTree>
    <p:extLst>
      <p:ext uri="{BB962C8B-B14F-4D97-AF65-F5344CB8AC3E}">
        <p14:creationId xmlns:p14="http://schemas.microsoft.com/office/powerpoint/2010/main" val="3468189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C3E1-1176-3C0A-06D8-2F88DF42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88738-0ACA-F574-F224-DB9C73DB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050" y="76200"/>
            <a:ext cx="6281871" cy="507966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资料立档（电子介质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A3FF1E-71F3-2D0C-8AE2-F0C75D058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71" y="1583600"/>
            <a:ext cx="4770723" cy="43920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985CC94-249F-0F3E-A83E-A57D5C9ED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739" y="1583599"/>
            <a:ext cx="5144191" cy="422706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61036AC-B670-FAC8-8F6B-7D222DE52EA8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FB1279-FBC0-1EFF-419E-A58E4C83D0B4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8AE3FA-1AB2-B9A2-1B15-B953E8A485AB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467672-F47C-6C6A-7526-377BE56F63C4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多盘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并档场景可视化确认目标袋与盘号，防止错并、漏并导致台账分裂。</a:t>
            </a:r>
          </a:p>
        </p:txBody>
      </p:sp>
    </p:spTree>
    <p:extLst>
      <p:ext uri="{BB962C8B-B14F-4D97-AF65-F5344CB8AC3E}">
        <p14:creationId xmlns:p14="http://schemas.microsoft.com/office/powerpoint/2010/main" val="19182859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0434-10E3-C49A-BCF3-4BCD7491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9C076-FD49-F5D1-2875-29EC20E2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1870" y="76200"/>
            <a:ext cx="5373710" cy="495062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BA57D2-F5C9-A4EA-E4A7-ED1D469EF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30" y="1184755"/>
            <a:ext cx="4798215" cy="274183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D78905D-759A-1A49-C099-9914A917C886}"/>
              </a:ext>
            </a:extLst>
          </p:cNvPr>
          <p:cNvSpPr txBox="1"/>
          <p:nvPr/>
        </p:nvSpPr>
        <p:spPr>
          <a:xfrm>
            <a:off x="4615616" y="727185"/>
            <a:ext cx="2153575" cy="369332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待立档</a:t>
            </a:r>
            <a:r>
              <a:rPr lang="en-US" altLang="zh-CN" dirty="0"/>
              <a:t>/</a:t>
            </a:r>
            <a:r>
              <a:rPr lang="zh-CN" altLang="en-US" dirty="0"/>
              <a:t>已立档情况</a:t>
            </a:r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CB2C8529-4F63-F018-2FD9-D3EC0CA58B58}"/>
              </a:ext>
            </a:extLst>
          </p:cNvPr>
          <p:cNvSpPr/>
          <p:nvPr/>
        </p:nvSpPr>
        <p:spPr>
          <a:xfrm rot="15044181">
            <a:off x="3488915" y="195504"/>
            <a:ext cx="229854" cy="20632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1122213-EB7A-9513-8062-39AD9CF12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949" y="2920415"/>
            <a:ext cx="2711293" cy="305518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408BBE8-9DB5-0AC5-D6B3-930CFA9C2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694" y="727184"/>
            <a:ext cx="2965677" cy="183268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07338BB-C1A5-5EEB-9574-E3BD9C0AE5DB}"/>
              </a:ext>
            </a:extLst>
          </p:cNvPr>
          <p:cNvSpPr txBox="1"/>
          <p:nvPr/>
        </p:nvSpPr>
        <p:spPr>
          <a:xfrm>
            <a:off x="6062570" y="2861284"/>
            <a:ext cx="1922625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模拟资料档案盒</a:t>
            </a:r>
            <a:endParaRPr lang="en-US" altLang="zh-CN" dirty="0"/>
          </a:p>
          <a:p>
            <a:r>
              <a:rPr lang="zh-CN" altLang="en-US" dirty="0"/>
              <a:t>电子介质硬盘袋</a:t>
            </a:r>
          </a:p>
        </p:txBody>
      </p:sp>
      <p:sp>
        <p:nvSpPr>
          <p:cNvPr id="14" name="箭头: 上 13">
            <a:extLst>
              <a:ext uri="{FF2B5EF4-FFF2-40B4-BE49-F238E27FC236}">
                <a16:creationId xmlns:a16="http://schemas.microsoft.com/office/drawing/2014/main" id="{072E2121-786A-7E48-68C3-D0E1FF5935BD}"/>
              </a:ext>
            </a:extLst>
          </p:cNvPr>
          <p:cNvSpPr/>
          <p:nvPr/>
        </p:nvSpPr>
        <p:spPr>
          <a:xfrm rot="3246154">
            <a:off x="7537265" y="1618200"/>
            <a:ext cx="325657" cy="143380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86E23EE8-ABC1-705F-9068-6BBA2B581983}"/>
              </a:ext>
            </a:extLst>
          </p:cNvPr>
          <p:cNvSpPr/>
          <p:nvPr/>
        </p:nvSpPr>
        <p:spPr>
          <a:xfrm rot="7072857">
            <a:off x="7647226" y="3360222"/>
            <a:ext cx="297991" cy="135986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EBBB5B-0698-65C9-D374-1B32281C3062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AFC478-DDC2-7B0E-48AA-7A12B9D51F52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B8F1B1-637C-8B68-55E1-9B03C3959011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21C958-21DA-B49A-301E-C1DED6B1BA38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待立档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已立档分屏对照；模拟盒与电子袋同页呈现，体现双轨并行、口径统一。</a:t>
            </a:r>
          </a:p>
        </p:txBody>
      </p:sp>
    </p:spTree>
    <p:extLst>
      <p:ext uri="{BB962C8B-B14F-4D97-AF65-F5344CB8AC3E}">
        <p14:creationId xmlns:p14="http://schemas.microsoft.com/office/powerpoint/2010/main" val="6967880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24308-0A08-D012-9C9F-321B65C3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CBB31-211E-EB99-4A99-5D0B2312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0" y="76200"/>
            <a:ext cx="6075597" cy="489302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存量光盘直办立档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ECAAF3-5AE6-0A3C-5692-808CE82DC1FA}"/>
              </a:ext>
            </a:extLst>
          </p:cNvPr>
          <p:cNvSpPr txBox="1"/>
          <p:nvPr/>
        </p:nvSpPr>
        <p:spPr>
          <a:xfrm>
            <a:off x="752346" y="5635809"/>
            <a:ext cx="10295742" cy="369332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用途：资料室存档数据光盘的资料录入        文件组织形式不可重组，因此需要三种录入方式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B5EA59-6B6D-6118-54E6-ABE80E75136F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1F4C48-3B54-22D9-2861-5299E18E29F4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C1338A-E943-67A2-1179-3C52B05570D3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D1DDA2-CA62-2D3A-E113-262B247287AC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 dirty="0">
                <a:solidFill>
                  <a:srgbClr val="1F2A37"/>
                </a:solidFill>
                <a:latin typeface="Microsoft YaHei" panose="020B0503020204020204" pitchFamily="34" charset="-122"/>
              </a:rPr>
              <a:t>存量光盘走直办快车道，跳过完整建档审批但仍写立档事实，兼顾历史清理效率与可追溯。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FA6F963-0DA1-5F70-B762-D5B45FBB2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64" y="565502"/>
            <a:ext cx="8015253" cy="480915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8F7BE45-78D2-7151-889A-8E9B5CFF0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008" y="1437204"/>
            <a:ext cx="9278645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941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35AA5-8015-436D-9EC6-3FA01942B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890C5-1F7C-3373-C025-152618E1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0" y="76200"/>
            <a:ext cx="6075597" cy="489302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存量光盘直办立档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A20177-E0D8-810F-E6A9-6C1E3857FA00}"/>
              </a:ext>
            </a:extLst>
          </p:cNvPr>
          <p:cNvSpPr txBox="1"/>
          <p:nvPr/>
        </p:nvSpPr>
        <p:spPr>
          <a:xfrm>
            <a:off x="752346" y="5635809"/>
            <a:ext cx="10295742" cy="369332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用途：资料室存档数据光盘的资料录入        文件组织形式不可重组，因此需要三种录入方式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B955E7-9BFC-FCF6-83A7-6AB757280EFB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915CEE-6C83-EC12-2BF0-4D2627E51B91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C68DA1-337B-FE5A-8AC6-2D5DA6B57AC4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A00F93-E865-25B1-F01A-E58F2DB88DBA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 dirty="0">
                <a:solidFill>
                  <a:srgbClr val="1F2A37"/>
                </a:solidFill>
                <a:latin typeface="Microsoft YaHei" panose="020B0503020204020204" pitchFamily="34" charset="-122"/>
              </a:rPr>
              <a:t>存量光盘走直办快车道，跳过完整建档审批但仍写立档事实，兼顾历史清理效率与可追溯。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313FEB-139D-9106-097A-AB036D370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99" y="629002"/>
            <a:ext cx="7276527" cy="256247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EEFD4AD-4C86-89E5-3EDD-482635FE1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072" y="1532371"/>
            <a:ext cx="6155651" cy="238836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BD5A455-C26A-ADFC-59DE-36CFE3889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695" y="2149082"/>
            <a:ext cx="6566189" cy="3423227"/>
          </a:xfrm>
          <a:prstGeom prst="rect">
            <a:avLst/>
          </a:prstGeom>
        </p:spPr>
      </p:pic>
      <p:sp>
        <p:nvSpPr>
          <p:cNvPr id="18" name="箭头: 下 17">
            <a:extLst>
              <a:ext uri="{FF2B5EF4-FFF2-40B4-BE49-F238E27FC236}">
                <a16:creationId xmlns:a16="http://schemas.microsoft.com/office/drawing/2014/main" id="{FD32E681-5144-AFF0-43E2-298C5CA3509F}"/>
              </a:ext>
            </a:extLst>
          </p:cNvPr>
          <p:cNvSpPr/>
          <p:nvPr/>
        </p:nvSpPr>
        <p:spPr>
          <a:xfrm>
            <a:off x="1269633" y="1070129"/>
            <a:ext cx="473646" cy="120385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0995CF72-9C5C-DBBA-3356-C2F7A2AD0670}"/>
              </a:ext>
            </a:extLst>
          </p:cNvPr>
          <p:cNvSpPr/>
          <p:nvPr/>
        </p:nvSpPr>
        <p:spPr>
          <a:xfrm>
            <a:off x="3927314" y="1910238"/>
            <a:ext cx="473646" cy="120385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24D1C3F2-6B00-46A1-3E2B-EF108650210D}"/>
              </a:ext>
            </a:extLst>
          </p:cNvPr>
          <p:cNvSpPr/>
          <p:nvPr/>
        </p:nvSpPr>
        <p:spPr>
          <a:xfrm rot="726856">
            <a:off x="6487888" y="2599952"/>
            <a:ext cx="473646" cy="225855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6096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FF1D9-23EE-5322-4B70-AADA1C26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80765-9083-3620-457F-41C9882EE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0" y="76200"/>
            <a:ext cx="6075597" cy="489302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存量硬盘直办立档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7015B1-E61E-4FB5-E800-7C346E1B477F}"/>
              </a:ext>
            </a:extLst>
          </p:cNvPr>
          <p:cNvSpPr txBox="1"/>
          <p:nvPr/>
        </p:nvSpPr>
        <p:spPr>
          <a:xfrm>
            <a:off x="778658" y="5635809"/>
            <a:ext cx="10295742" cy="369332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用途：资料室存档数据硬盘的资料录入        文件组织形式：</a:t>
            </a:r>
            <a:r>
              <a:rPr lang="en-US" altLang="zh-CN" dirty="0"/>
              <a:t>D:\2026\</a:t>
            </a:r>
            <a:r>
              <a:rPr lang="zh-CN" altLang="en-US" dirty="0"/>
              <a:t>基础测绘</a:t>
            </a:r>
            <a:r>
              <a:rPr lang="en-US" altLang="zh-CN" dirty="0"/>
              <a:t>\</a:t>
            </a:r>
            <a:r>
              <a:rPr lang="zh-CN" altLang="en-US" dirty="0"/>
              <a:t>原始资料</a:t>
            </a:r>
            <a:r>
              <a:rPr lang="en-US" altLang="zh-CN" dirty="0"/>
              <a:t>\</a:t>
            </a:r>
            <a:r>
              <a:rPr lang="zh-CN" altLang="en-US" dirty="0"/>
              <a:t>影像成果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07DCDD-4114-0AAC-F9CA-42CFAF20D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40" y="624208"/>
            <a:ext cx="9124253" cy="496131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04C1B0C-2A9E-50A0-6FA6-73E859F118D2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D104D7-7D0E-3F86-475E-93C4E8EEC19D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36B39C-4AEA-3561-081B-E91F6632719C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313C9E-A232-F817-BE7F-D938A12E9E9C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存量硬盘走直办快车道，跳过完整建档审批但仍写立档事实，兼顾历史清理效率与可追溯。</a:t>
            </a:r>
          </a:p>
        </p:txBody>
      </p:sp>
    </p:spTree>
    <p:extLst>
      <p:ext uri="{BB962C8B-B14F-4D97-AF65-F5344CB8AC3E}">
        <p14:creationId xmlns:p14="http://schemas.microsoft.com/office/powerpoint/2010/main" val="31178562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A2E3-C8C9-64C0-07B0-3CF9C505E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2DF3F2E-0DCA-4CF4-5018-6657B8410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257" y="1731498"/>
            <a:ext cx="7805254" cy="424410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05ECCB-F972-3751-E413-789E8BF6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0" y="319901"/>
            <a:ext cx="5976826" cy="442916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存量文本直办立档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6AB140-A325-A7A5-6CBF-646490811ED7}"/>
              </a:ext>
            </a:extLst>
          </p:cNvPr>
          <p:cNvSpPr txBox="1"/>
          <p:nvPr/>
        </p:nvSpPr>
        <p:spPr>
          <a:xfrm>
            <a:off x="495300" y="776418"/>
            <a:ext cx="3816639" cy="923330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用途：资料室存档文本的资料录入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：交互式录入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：批量导入        </a:t>
            </a:r>
          </a:p>
        </p:txBody>
      </p:sp>
      <p:sp>
        <p:nvSpPr>
          <p:cNvPr id="5" name="箭头: 上 4">
            <a:extLst>
              <a:ext uri="{FF2B5EF4-FFF2-40B4-BE49-F238E27FC236}">
                <a16:creationId xmlns:a16="http://schemas.microsoft.com/office/drawing/2014/main" id="{A534A8F5-26F2-C120-151F-3C6375F7666F}"/>
              </a:ext>
            </a:extLst>
          </p:cNvPr>
          <p:cNvSpPr/>
          <p:nvPr/>
        </p:nvSpPr>
        <p:spPr>
          <a:xfrm rot="6049631">
            <a:off x="4123668" y="169540"/>
            <a:ext cx="220486" cy="289803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CE2146-1BA8-0F8E-246B-748CA9653DF0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9D792E-363C-ADA7-7A06-370DEBC8EEDA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3A845B-79DB-45CA-C1BB-58A1C774EC90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5D02B9-6D18-EE8E-6C4A-CB821F7D7CB6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存量文本支持表格式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结构化录入两种入口，降低大批量补录成本，同时约束必填字段质量。</a:t>
            </a:r>
          </a:p>
        </p:txBody>
      </p:sp>
    </p:spTree>
    <p:extLst>
      <p:ext uri="{BB962C8B-B14F-4D97-AF65-F5344CB8AC3E}">
        <p14:creationId xmlns:p14="http://schemas.microsoft.com/office/powerpoint/2010/main" val="36661573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8FC4-7322-2A46-199E-880D61EE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51406-C276-B4A1-9B27-9FA016A90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5023" y="76077"/>
            <a:ext cx="6441612" cy="490185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存量文本直办立档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2EB6AD-2718-F552-48D2-64F61CE6BE38}"/>
              </a:ext>
            </a:extLst>
          </p:cNvPr>
          <p:cNvSpPr txBox="1"/>
          <p:nvPr/>
        </p:nvSpPr>
        <p:spPr>
          <a:xfrm>
            <a:off x="889900" y="234706"/>
            <a:ext cx="3278279" cy="829944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用途：资料室存档文本的资料录入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：交互式录入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：批量导入        </a:t>
            </a:r>
          </a:p>
        </p:txBody>
      </p:sp>
      <p:sp>
        <p:nvSpPr>
          <p:cNvPr id="5" name="箭头: 上 4">
            <a:extLst>
              <a:ext uri="{FF2B5EF4-FFF2-40B4-BE49-F238E27FC236}">
                <a16:creationId xmlns:a16="http://schemas.microsoft.com/office/drawing/2014/main" id="{05EC8379-D888-0493-8066-162A18E1251B}"/>
              </a:ext>
            </a:extLst>
          </p:cNvPr>
          <p:cNvSpPr/>
          <p:nvPr/>
        </p:nvSpPr>
        <p:spPr>
          <a:xfrm rot="5898453">
            <a:off x="4567909" y="-226341"/>
            <a:ext cx="244017" cy="320732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0282CF-D4FD-E174-0D60-358DB99B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556" y="653938"/>
            <a:ext cx="2918844" cy="21516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F1C4349-BD48-2953-0D5E-36F36D615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65" y="2850452"/>
            <a:ext cx="7849106" cy="312515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AC45D1F-1803-E6A2-A3E4-9D1121857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8877" y="2893131"/>
            <a:ext cx="2337758" cy="308247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B500A2A-70B3-80AF-301C-885C3C98C324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561DDD-6455-21E3-A69C-442AF96B5A28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F4BFE6-C5D6-54F5-0AE6-ADDF12427749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351DD7-8FBD-0F37-D205-05FAF3440111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存量文本支持表格式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结构化录入两种入口，降低大批量补录成本，同时约束必填字段质量。</a:t>
            </a:r>
          </a:p>
        </p:txBody>
      </p:sp>
    </p:spTree>
    <p:extLst>
      <p:ext uri="{BB962C8B-B14F-4D97-AF65-F5344CB8AC3E}">
        <p14:creationId xmlns:p14="http://schemas.microsoft.com/office/powerpoint/2010/main" val="39547733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490E-21A9-6A5A-6255-5B13F090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09B8A-98E3-69EA-BE5F-4A29071F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051" y="110271"/>
            <a:ext cx="6553514" cy="495459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存量文本直办立档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6C84567-9240-90C1-B41C-948BE6974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51" y="605730"/>
            <a:ext cx="7409707" cy="402902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46A6C15-843D-90FB-A7CA-F027FBCD8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600" y="2455338"/>
            <a:ext cx="5538400" cy="301150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D28BED3-BAB8-F5FE-F00D-1CEACBD76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521" y="4252590"/>
            <a:ext cx="3277380" cy="172301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AA7F747-3C8B-2413-254A-4FA666A9AE44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5EA8D9-65F8-7E37-18A1-6DE547679437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CC19D3-C891-BD48-A640-9E200A644385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658460-122F-7AFD-FB8E-B5C551AEF5E4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存量文本支持表格式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结构化录入两种入口，降低大批量补录成本，同时约束必填字段质量。</a:t>
            </a:r>
          </a:p>
        </p:txBody>
      </p:sp>
    </p:spTree>
    <p:extLst>
      <p:ext uri="{BB962C8B-B14F-4D97-AF65-F5344CB8AC3E}">
        <p14:creationId xmlns:p14="http://schemas.microsoft.com/office/powerpoint/2010/main" val="15292067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2A49-DC86-500D-1A04-C0149495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56F81-3711-9CD2-30B2-7D5867AD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8637" y="76200"/>
            <a:ext cx="5278043" cy="486249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立档台账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409244-2B9E-9EA4-6B19-0F1C6A7C2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981" y="727308"/>
            <a:ext cx="9652038" cy="524829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680478E-C0FD-359A-3CDE-FAFDA643BEAB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23AC77-2A03-447B-F649-100D8DD646E7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04809A-DCB0-9B77-41DE-7A515DECE137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0544E7-5C35-EA4E-3F75-9024F4BCD48B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立档台账是「已入库真相源」，后续借还、迁档、盘库、离库都回指这里，避免多头记账。</a:t>
            </a:r>
          </a:p>
        </p:txBody>
      </p:sp>
    </p:spTree>
    <p:extLst>
      <p:ext uri="{BB962C8B-B14F-4D97-AF65-F5344CB8AC3E}">
        <p14:creationId xmlns:p14="http://schemas.microsoft.com/office/powerpoint/2010/main" val="34903987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B3C44-7E08-685F-D461-7E2D9754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F78B1-EB94-B2B2-8DD4-FFC238324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207" y="76200"/>
            <a:ext cx="5229044" cy="481735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立档台账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F3163BB-9438-5CF9-164A-D31F1795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97" y="843555"/>
            <a:ext cx="6650566" cy="359023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C99E9EE-F02E-409F-8EB8-C3AEE2014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789" y="4569372"/>
            <a:ext cx="9187115" cy="140623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61B0B29-DC78-F512-0D9A-F7B30F386548}"/>
              </a:ext>
            </a:extLst>
          </p:cNvPr>
          <p:cNvSpPr txBox="1"/>
          <p:nvPr/>
        </p:nvSpPr>
        <p:spPr>
          <a:xfrm>
            <a:off x="8674729" y="1911145"/>
            <a:ext cx="2676174" cy="1477328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、建档与资料信息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、存放与容器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、立档与生命周期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、流转履历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、电子介质目录与明细</a:t>
            </a:r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649EDFB3-AD88-2F1F-CC8B-47465BF52EED}"/>
              </a:ext>
            </a:extLst>
          </p:cNvPr>
          <p:cNvSpPr/>
          <p:nvPr/>
        </p:nvSpPr>
        <p:spPr>
          <a:xfrm rot="408427">
            <a:off x="1844930" y="1413402"/>
            <a:ext cx="6772029" cy="16070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00FE8BBB-C03A-EC60-1914-B0B63F03E71E}"/>
              </a:ext>
            </a:extLst>
          </p:cNvPr>
          <p:cNvSpPr/>
          <p:nvPr/>
        </p:nvSpPr>
        <p:spPr>
          <a:xfrm>
            <a:off x="1901251" y="2163382"/>
            <a:ext cx="6650566" cy="20397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0D60D0B2-F5F4-6599-4B6D-404A7F1E8795}"/>
              </a:ext>
            </a:extLst>
          </p:cNvPr>
          <p:cNvSpPr/>
          <p:nvPr/>
        </p:nvSpPr>
        <p:spPr>
          <a:xfrm rot="21243631">
            <a:off x="1638491" y="2873292"/>
            <a:ext cx="6828618" cy="20166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 17">
            <a:extLst>
              <a:ext uri="{FF2B5EF4-FFF2-40B4-BE49-F238E27FC236}">
                <a16:creationId xmlns:a16="http://schemas.microsoft.com/office/drawing/2014/main" id="{57464562-3844-DB87-ADA5-EA4B4CD82B0E}"/>
              </a:ext>
            </a:extLst>
          </p:cNvPr>
          <p:cNvSpPr/>
          <p:nvPr/>
        </p:nvSpPr>
        <p:spPr>
          <a:xfrm rot="20581877">
            <a:off x="2768283" y="3714060"/>
            <a:ext cx="5799094" cy="20397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左 18">
            <a:extLst>
              <a:ext uri="{FF2B5EF4-FFF2-40B4-BE49-F238E27FC236}">
                <a16:creationId xmlns:a16="http://schemas.microsoft.com/office/drawing/2014/main" id="{9C3F9036-A3B8-6808-F75A-465604D7F64F}"/>
              </a:ext>
            </a:extLst>
          </p:cNvPr>
          <p:cNvSpPr/>
          <p:nvPr/>
        </p:nvSpPr>
        <p:spPr>
          <a:xfrm rot="20308802">
            <a:off x="2939486" y="4296000"/>
            <a:ext cx="5858005" cy="15275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4005F7-61C9-E753-A02E-70EF85A58210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955ADF-E66F-F951-48AB-51935B856C90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5A4EF-45B5-0A0B-B29F-2A351ABDA0C3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8CA77D-EBBF-4D9A-FAE5-343D6B1AE378}"/>
              </a:ext>
            </a:extLst>
          </p:cNvPr>
          <p:cNvSpPr txBox="1"/>
          <p:nvPr/>
        </p:nvSpPr>
        <p:spPr>
          <a:xfrm>
            <a:off x="1143000" y="6186354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 dirty="0">
                <a:solidFill>
                  <a:srgbClr val="1F2A37"/>
                </a:solidFill>
                <a:latin typeface="Microsoft YaHei" panose="020B0503020204020204" pitchFamily="34" charset="-122"/>
              </a:rPr>
              <a:t>立档台账是「已入库真相源」，后续借还、迁档、盘库、离库都回指这里，避免多头记账。</a:t>
            </a:r>
          </a:p>
        </p:txBody>
      </p:sp>
    </p:spTree>
    <p:extLst>
      <p:ext uri="{BB962C8B-B14F-4D97-AF65-F5344CB8AC3E}">
        <p14:creationId xmlns:p14="http://schemas.microsoft.com/office/powerpoint/2010/main" val="13101666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DCBBC-DEBE-F3EC-A6E9-739FE25BA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8BACFF-F6BD-476F-A290-BBC4D75D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051" y="110271"/>
            <a:ext cx="6553514" cy="495459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立档台账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FD861E-4D86-86DC-24AD-6B965685E227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3C4919-23EE-B278-58FE-18CE86781735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56350A-9A3F-C824-915B-64DE41A7A013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BDA5FF-95EB-D5EE-2745-64169D914F49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 dirty="0">
                <a:solidFill>
                  <a:srgbClr val="1F2A37"/>
                </a:solidFill>
                <a:latin typeface="Microsoft YaHei" panose="020B0503020204020204" pitchFamily="34" charset="-122"/>
              </a:rPr>
              <a:t>实现年度资料的全生命周期查询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97AF96A-7729-6C75-444C-F85BEEE9D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188" y="778338"/>
            <a:ext cx="8617424" cy="517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819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2A8B5-7124-2600-62EB-39C3E1003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23A6E2-AF16-63E9-3FB8-A224A1D0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051" y="110271"/>
            <a:ext cx="6553514" cy="495459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立档台账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BDCFAA-FF81-D020-334A-32274DC05F7E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6EEFA3-7AF6-A228-E072-ABC2549220A9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9BCBC0-5398-32B1-E316-0EC4CCC941A2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9F2DC5-6239-A0C8-5B34-E0D341689E6D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 dirty="0">
                <a:solidFill>
                  <a:srgbClr val="1F2A37"/>
                </a:solidFill>
                <a:latin typeface="Microsoft YaHei" panose="020B0503020204020204" pitchFamily="34" charset="-122"/>
              </a:rPr>
              <a:t>实现年度资料的全生命周期查询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DD2A372-61D1-9846-9D6E-F1D04F32A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9" y="596214"/>
            <a:ext cx="9006385" cy="540383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8D3D9AD-E7EB-1201-4064-5BDA2BFDFD58}"/>
              </a:ext>
            </a:extLst>
          </p:cNvPr>
          <p:cNvSpPr txBox="1"/>
          <p:nvPr/>
        </p:nvSpPr>
        <p:spPr>
          <a:xfrm>
            <a:off x="10181230" y="3059668"/>
            <a:ext cx="1329210" cy="369332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j50e001021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C6584E1-9B71-6424-A240-25612A982C24}"/>
              </a:ext>
            </a:extLst>
          </p:cNvPr>
          <p:cNvCxnSpPr/>
          <p:nvPr/>
        </p:nvCxnSpPr>
        <p:spPr>
          <a:xfrm flipH="1" flipV="1">
            <a:off x="4269393" y="1631447"/>
            <a:ext cx="5815321" cy="1428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372324F-6B8C-2C21-F17F-68E5C6B358EC}"/>
              </a:ext>
            </a:extLst>
          </p:cNvPr>
          <p:cNvCxnSpPr/>
          <p:nvPr/>
        </p:nvCxnSpPr>
        <p:spPr>
          <a:xfrm flipH="1">
            <a:off x="5821899" y="3429000"/>
            <a:ext cx="4262815" cy="1392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3993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AB60E-FC26-B2F2-4FA8-39678BB0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E9C09-FE6F-F114-B870-65E646A8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064" y="76200"/>
            <a:ext cx="5760488" cy="530695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迁档（模拟资料）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F4EEA8-79E0-C6F0-E723-ED8BD776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16" y="780308"/>
            <a:ext cx="9554567" cy="519529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7747506-2B0C-0E4F-23A1-DCEE3B92EDD4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1DF589-5B3A-107C-0848-02671BFACE13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16D5A9-F61D-C893-372D-3DC8E5D4D6F3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015F7F-C405-3F28-52C0-D13E784C10F1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迁档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=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位置变更业务，保留迁前迁后容器与档口，形成移库履历，而不是直接改台账字段。</a:t>
            </a:r>
          </a:p>
        </p:txBody>
      </p:sp>
    </p:spTree>
    <p:extLst>
      <p:ext uri="{BB962C8B-B14F-4D97-AF65-F5344CB8AC3E}">
        <p14:creationId xmlns:p14="http://schemas.microsoft.com/office/powerpoint/2010/main" val="10109105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DD1AF-B64D-498D-16CB-3D5FA581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FA5E82-EEC6-669A-71E2-35C54E64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800" y="76200"/>
            <a:ext cx="5302587" cy="48851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迁档（电子资料）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0D7E0F-4673-796A-9340-722FB9FF8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530" y="564711"/>
            <a:ext cx="7050915" cy="38339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6070909-0CF7-8266-FA4F-95312384C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005" y="1125121"/>
            <a:ext cx="6991381" cy="380156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E01EFB-C327-E02E-FE82-B2B539479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93" y="1684820"/>
            <a:ext cx="6801083" cy="369808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112A2B-BB38-58A9-2D97-94CDA8AE8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780" y="2398985"/>
            <a:ext cx="6577690" cy="357661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A91C265-0B42-FCCD-BF3C-2663F54983FE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A7D99E-B186-9151-22F9-29FCC90DD4AA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984C77-12E8-1E70-F431-5B194579C566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08D087-93BC-3A54-C65D-5B044D2CE4F5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电子迁档可联动源盘处置（留用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低格等），把「数据搬家」与「介质命运」一次决策清楚。</a:t>
            </a:r>
          </a:p>
        </p:txBody>
      </p:sp>
    </p:spTree>
    <p:extLst>
      <p:ext uri="{BB962C8B-B14F-4D97-AF65-F5344CB8AC3E}">
        <p14:creationId xmlns:p14="http://schemas.microsoft.com/office/powerpoint/2010/main" val="24205279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F7E6F-2AFE-A461-85E4-718B3C392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C9199-41EA-A626-BA67-72D7ACBF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994" y="76200"/>
            <a:ext cx="5302587" cy="48851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迁档（迁档台账）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587254-BD6F-76DD-AECC-4915EFB2D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62" y="627635"/>
            <a:ext cx="3630826" cy="195768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4A9643D-4B16-5DA0-3966-07E5C7109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350" y="2155981"/>
            <a:ext cx="7713087" cy="381962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7EF6E0B-2234-7D4E-4D33-F97987ABDF03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D2BAF6-E063-723E-AD17-8BEE15A94B55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A5ED3A-4116-5830-BEA0-28B7C4A4642A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19E856-6251-63F9-F30C-8F428B78BEDB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迁档台账供审计与对账，回答「何时、何人、从哪到哪」，支撑柜位调整可复核。</a:t>
            </a:r>
          </a:p>
        </p:txBody>
      </p:sp>
    </p:spTree>
    <p:extLst>
      <p:ext uri="{BB962C8B-B14F-4D97-AF65-F5344CB8AC3E}">
        <p14:creationId xmlns:p14="http://schemas.microsoft.com/office/powerpoint/2010/main" val="38123162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3488A-8E73-46CD-09FC-D6BDBA72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234CF-A60C-7678-AB4A-203453A7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06" y="76200"/>
            <a:ext cx="5540990" cy="510473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综合模式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28B516-91AF-78BD-B219-5EA4C7898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366" y="811464"/>
            <a:ext cx="9497269" cy="516414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60A2D37-9EBE-C07A-D334-9B2047F70EB3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92A220-BEB3-2689-5FBD-B8191B526AF8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9128B5-7089-31BD-82AA-77D4DA6E7951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0C326B-E983-1C82-88D8-DE0A779FBAEF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综合检索跨模拟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电子一张网查询，先找得到，再决定借出或出入网，减少「两套系统各搜一遍」。</a:t>
            </a:r>
          </a:p>
        </p:txBody>
      </p:sp>
    </p:spTree>
    <p:extLst>
      <p:ext uri="{BB962C8B-B14F-4D97-AF65-F5344CB8AC3E}">
        <p14:creationId xmlns:p14="http://schemas.microsoft.com/office/powerpoint/2010/main" val="2457931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92EAB-FA47-8786-85CF-021FF2CA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64C7B-32D1-7D2F-B498-132EDFD10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632" y="76200"/>
            <a:ext cx="6423443" cy="522795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电子资料检索模式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9D2717-1670-A73E-1F07-354BD25DC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89" y="858640"/>
            <a:ext cx="9410509" cy="511696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0B54BA0-08D5-542F-21CF-0536013AFA2F}"/>
              </a:ext>
            </a:extLst>
          </p:cNvPr>
          <p:cNvSpPr txBox="1"/>
          <p:nvPr/>
        </p:nvSpPr>
        <p:spPr>
          <a:xfrm>
            <a:off x="8890722" y="4408357"/>
            <a:ext cx="2827891" cy="619610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用途：检索结果将用于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资料借出和入网业务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B8F7CF-8EE3-25CC-DA1D-190C0C51786D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696E0E-1F4C-48CD-DDFA-4934CD779D47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625FAF-93BB-B7AD-96F7-0C93F013A45A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3C54E4-6B66-8EB4-0308-865D3D22722A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电子检索突出路径、目录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文件明细与载体，服务精确到「要哪一段数据」的办理场景。</a:t>
            </a:r>
          </a:p>
        </p:txBody>
      </p:sp>
    </p:spTree>
    <p:extLst>
      <p:ext uri="{BB962C8B-B14F-4D97-AF65-F5344CB8AC3E}">
        <p14:creationId xmlns:p14="http://schemas.microsoft.com/office/powerpoint/2010/main" val="39984977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1EFBF-F6A7-50E6-C2BA-60FF83B6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693D079-CF4F-C63E-7869-1E98D5A82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26" y="1057764"/>
            <a:ext cx="9044304" cy="491784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74E36B1-E2B9-E90C-DEF7-99D281C5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780" y="76200"/>
            <a:ext cx="6154907" cy="500939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模拟资料检索模式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46B614-1A1D-47A9-ED7C-E5445C0177AA}"/>
              </a:ext>
            </a:extLst>
          </p:cNvPr>
          <p:cNvSpPr txBox="1"/>
          <p:nvPr/>
        </p:nvSpPr>
        <p:spPr>
          <a:xfrm>
            <a:off x="8655106" y="4847286"/>
            <a:ext cx="3174944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用途：检索结果将用于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资料借出和入网业务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6327B6-5FFD-227B-4961-8E70F5F9F8B5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5320E3-3F18-286E-3652-0F6FFC1273DF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CA5269-5908-2BEF-93DF-7C4868FFB2A3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B76363-D2E1-3982-8B74-D7904589AB2C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模拟检索突出盒号、档口与份数可用性，服务提档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复制决策前的实物可行性判断。</a:t>
            </a:r>
          </a:p>
        </p:txBody>
      </p:sp>
    </p:spTree>
    <p:extLst>
      <p:ext uri="{BB962C8B-B14F-4D97-AF65-F5344CB8AC3E}">
        <p14:creationId xmlns:p14="http://schemas.microsoft.com/office/powerpoint/2010/main" val="41862551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F79A7-4FAB-3ECF-CEA8-90192F29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42C79-0AAF-E951-EFA4-23390FEC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3750" y="76200"/>
            <a:ext cx="6026838" cy="490516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FC79E3-964E-51BF-A391-C18C6997508B}"/>
              </a:ext>
            </a:extLst>
          </p:cNvPr>
          <p:cNvSpPr txBox="1"/>
          <p:nvPr/>
        </p:nvSpPr>
        <p:spPr>
          <a:xfrm>
            <a:off x="8210090" y="757113"/>
            <a:ext cx="2940510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用途：检索结果将用于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资料借出和入网业务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5804C4-2A80-9656-9B66-5D22D5B30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70" y="566715"/>
            <a:ext cx="6221756" cy="338307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99820CC-E03E-8570-ECA6-77D3B6299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363" y="2461094"/>
            <a:ext cx="6463467" cy="351451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77CB111-BA10-C43D-F6AA-7ECAEFC46A97}"/>
              </a:ext>
            </a:extLst>
          </p:cNvPr>
          <p:cNvSpPr txBox="1"/>
          <p:nvPr/>
        </p:nvSpPr>
        <p:spPr>
          <a:xfrm>
            <a:off x="1206501" y="4458238"/>
            <a:ext cx="2367250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电子资料检索集</a:t>
            </a:r>
            <a:endParaRPr lang="en-US" altLang="zh-CN" dirty="0"/>
          </a:p>
          <a:p>
            <a:r>
              <a:rPr lang="zh-CN" altLang="en-US" dirty="0"/>
              <a:t>模拟资料检索集</a:t>
            </a:r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F187D0D4-2B2C-5301-5ED5-CA0D8FA84C32}"/>
              </a:ext>
            </a:extLst>
          </p:cNvPr>
          <p:cNvSpPr/>
          <p:nvPr/>
        </p:nvSpPr>
        <p:spPr>
          <a:xfrm>
            <a:off x="2349700" y="1338468"/>
            <a:ext cx="297262" cy="302671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直角上 15">
            <a:extLst>
              <a:ext uri="{FF2B5EF4-FFF2-40B4-BE49-F238E27FC236}">
                <a16:creationId xmlns:a16="http://schemas.microsoft.com/office/drawing/2014/main" id="{6F710A54-2BAE-CA69-EB39-F5DAD2D125DA}"/>
              </a:ext>
            </a:extLst>
          </p:cNvPr>
          <p:cNvSpPr/>
          <p:nvPr/>
        </p:nvSpPr>
        <p:spPr>
          <a:xfrm>
            <a:off x="3753120" y="3285268"/>
            <a:ext cx="2957107" cy="1463646"/>
          </a:xfrm>
          <a:prstGeom prst="bentUpArrow">
            <a:avLst>
              <a:gd name="adj1" fmla="val 7999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267C21-A096-2B12-BE22-43F1D8A34995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FA9FA0-78CF-74D7-F077-6463339C6A5B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2DC6CF-B1CD-3380-2306-1CF9D6A77393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894E4A-35AE-9914-B422-AF50897C5E35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检索池是「待办购物车」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多条件检索结果可暂存，批量转入借出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出入网，降低重复勾选成本。</a:t>
            </a:r>
          </a:p>
        </p:txBody>
      </p:sp>
    </p:spTree>
    <p:extLst>
      <p:ext uri="{BB962C8B-B14F-4D97-AF65-F5344CB8AC3E}">
        <p14:creationId xmlns:p14="http://schemas.microsoft.com/office/powerpoint/2010/main" val="39350300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实物流转：借出与归还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借出：申请 → 审批（多级签字）→ 实物交接 → 签批上传 → 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归还：完好归还与灭失分流；灭失须更完整审批与说明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流转台账记录借还全过程，便于催还与审计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与容器状态、份数、密级核实等业务规则联动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25/50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90090-89FA-048C-2D45-18E65321D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339DC-DE2B-D730-DC7B-4797D0AC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776" y="76200"/>
            <a:ext cx="6566451" cy="534434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EB3846-3A96-EAE1-D665-705DEDE89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333" y="703177"/>
            <a:ext cx="1969855" cy="5200042"/>
          </a:xfrm>
          <a:prstGeom prst="rect">
            <a:avLst/>
          </a:prstGeom>
        </p:spPr>
      </p:pic>
      <p:sp>
        <p:nvSpPr>
          <p:cNvPr id="5" name="左大括号 4">
            <a:extLst>
              <a:ext uri="{FF2B5EF4-FFF2-40B4-BE49-F238E27FC236}">
                <a16:creationId xmlns:a16="http://schemas.microsoft.com/office/drawing/2014/main" id="{E543C812-797F-684B-E974-025215439F68}"/>
              </a:ext>
            </a:extLst>
          </p:cNvPr>
          <p:cNvSpPr/>
          <p:nvPr/>
        </p:nvSpPr>
        <p:spPr>
          <a:xfrm>
            <a:off x="4599963" y="3303198"/>
            <a:ext cx="805595" cy="1719811"/>
          </a:xfrm>
          <a:prstGeom prst="leftBrace">
            <a:avLst>
              <a:gd name="adj1" fmla="val 8333"/>
              <a:gd name="adj2" fmla="val 4894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4B786C4-EFE1-0966-288F-C92CCC534CC6}"/>
              </a:ext>
            </a:extLst>
          </p:cNvPr>
          <p:cNvSpPr txBox="1"/>
          <p:nvPr/>
        </p:nvSpPr>
        <p:spPr>
          <a:xfrm>
            <a:off x="2812776" y="3936886"/>
            <a:ext cx="1484469" cy="45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AF2131-5076-5351-EFBB-0945CFF9EC54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EC6549-8400-EF6E-132C-0E3CC7A0B562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65833A-C668-00F6-E7C9-63D7DD66EA76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40E8ED-293F-C740-6E68-88F8C4149F58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借还是高频主流程；申请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审批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交接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签批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办结五段清晰，状态机驱动待办与逾期提醒。</a:t>
            </a:r>
          </a:p>
        </p:txBody>
      </p:sp>
    </p:spTree>
    <p:extLst>
      <p:ext uri="{BB962C8B-B14F-4D97-AF65-F5344CB8AC3E}">
        <p14:creationId xmlns:p14="http://schemas.microsoft.com/office/powerpoint/2010/main" val="3441202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F353-899E-A7CF-4014-63CD52EA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D1D4B-FC94-E420-F15C-3B957505A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1629" y="76200"/>
            <a:ext cx="6002192" cy="48851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121CF0-53C4-1FAB-FBA9-A93887735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27" y="620350"/>
            <a:ext cx="8964146" cy="535525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DE833FA-A512-560F-0ADB-89A3B943B20F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B47E3C-BA2A-FB26-D3C7-8C10D6F0534A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C0879A-1327-0336-C98D-54BC4C4D4AE6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CDAF71-178B-EADC-B5C4-BB683AE2FFF2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借出申请按介质与用途分流（提档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复制等），强制关联检索结果或立档事实，杜绝无根借出。</a:t>
            </a:r>
          </a:p>
        </p:txBody>
      </p:sp>
    </p:spTree>
    <p:extLst>
      <p:ext uri="{BB962C8B-B14F-4D97-AF65-F5344CB8AC3E}">
        <p14:creationId xmlns:p14="http://schemas.microsoft.com/office/powerpoint/2010/main" val="9675657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1B92-0DAE-A992-6DA2-64B22D56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34DFC-5619-B139-D064-D69A1CCA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953" y="76200"/>
            <a:ext cx="6566451" cy="534434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7E76B5-7370-2660-F81E-230A1446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57" y="1634397"/>
            <a:ext cx="3153675" cy="17864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C9D58E1-BD7E-8949-3051-66712C043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58" y="3704565"/>
            <a:ext cx="3153675" cy="18442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BD3FC7B-B68F-BB99-79A0-D7A25F8D1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9678" y="1498621"/>
            <a:ext cx="3271347" cy="17813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EC3AA34-532F-9FBC-9FD5-4B91D60FB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9678" y="3553797"/>
            <a:ext cx="5421866" cy="182926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29EADAF-2A33-5169-26DE-88DE044F85D6}"/>
              </a:ext>
            </a:extLst>
          </p:cNvPr>
          <p:cNvSpPr txBox="1"/>
          <p:nvPr/>
        </p:nvSpPr>
        <p:spPr>
          <a:xfrm>
            <a:off x="4521012" y="4444634"/>
            <a:ext cx="1170667" cy="36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复制</a:t>
            </a:r>
            <a:r>
              <a:rPr lang="en-US" altLang="zh-CN" dirty="0"/>
              <a:t>/</a:t>
            </a:r>
            <a:r>
              <a:rPr lang="zh-CN" altLang="en-US" dirty="0"/>
              <a:t>拷贝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770F0AB-F60D-B4D1-A290-024F05761946}"/>
              </a:ext>
            </a:extLst>
          </p:cNvPr>
          <p:cNvSpPr txBox="1"/>
          <p:nvPr/>
        </p:nvSpPr>
        <p:spPr>
          <a:xfrm>
            <a:off x="6802128" y="1042368"/>
            <a:ext cx="1085836" cy="36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电子资料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F372B4-4C53-BFBC-D8B9-700EFA330F8F}"/>
              </a:ext>
            </a:extLst>
          </p:cNvPr>
          <p:cNvSpPr txBox="1"/>
          <p:nvPr/>
        </p:nvSpPr>
        <p:spPr>
          <a:xfrm>
            <a:off x="4779087" y="2527635"/>
            <a:ext cx="633404" cy="36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提档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351408-5407-2048-268F-B27E634E40EC}"/>
              </a:ext>
            </a:extLst>
          </p:cNvPr>
          <p:cNvSpPr txBox="1"/>
          <p:nvPr/>
        </p:nvSpPr>
        <p:spPr>
          <a:xfrm>
            <a:off x="1461663" y="1178330"/>
            <a:ext cx="1085836" cy="36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模拟资料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DA08A0EF-FC8F-BE38-35C5-FE2FFCBFAF81}"/>
              </a:ext>
            </a:extLst>
          </p:cNvPr>
          <p:cNvSpPr/>
          <p:nvPr/>
        </p:nvSpPr>
        <p:spPr>
          <a:xfrm>
            <a:off x="5542431" y="2618121"/>
            <a:ext cx="353014" cy="1809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3F72BB08-DFB2-4212-88BB-C0301851A938}"/>
              </a:ext>
            </a:extLst>
          </p:cNvPr>
          <p:cNvSpPr/>
          <p:nvPr/>
        </p:nvSpPr>
        <p:spPr>
          <a:xfrm>
            <a:off x="5718939" y="4535121"/>
            <a:ext cx="353014" cy="1809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左 20">
            <a:extLst>
              <a:ext uri="{FF2B5EF4-FFF2-40B4-BE49-F238E27FC236}">
                <a16:creationId xmlns:a16="http://schemas.microsoft.com/office/drawing/2014/main" id="{9A86C5CD-31FB-BEDD-482B-B8A582FE7D43}"/>
              </a:ext>
            </a:extLst>
          </p:cNvPr>
          <p:cNvSpPr/>
          <p:nvPr/>
        </p:nvSpPr>
        <p:spPr>
          <a:xfrm>
            <a:off x="4235989" y="2632220"/>
            <a:ext cx="543098" cy="18097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左 24">
            <a:extLst>
              <a:ext uri="{FF2B5EF4-FFF2-40B4-BE49-F238E27FC236}">
                <a16:creationId xmlns:a16="http://schemas.microsoft.com/office/drawing/2014/main" id="{56245C9C-5C72-7063-D652-BC1CAF3B1F20}"/>
              </a:ext>
            </a:extLst>
          </p:cNvPr>
          <p:cNvSpPr/>
          <p:nvPr/>
        </p:nvSpPr>
        <p:spPr>
          <a:xfrm>
            <a:off x="3982544" y="4535121"/>
            <a:ext cx="543098" cy="18097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B2E8DE-BDAB-72BF-266F-19AE5953DCB7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F7CA3-C002-A093-ACF2-8931358864B9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6D34DC-2758-3FC3-14FB-3EF945BBEAA2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049440-15D4-64B5-2121-0E236B7A5FDF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借出申请按介质与用途分流（提档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复制等），强制关联检索结果或立档事实，杜绝无根借出。</a:t>
            </a:r>
          </a:p>
        </p:txBody>
      </p:sp>
    </p:spTree>
    <p:extLst>
      <p:ext uri="{BB962C8B-B14F-4D97-AF65-F5344CB8AC3E}">
        <p14:creationId xmlns:p14="http://schemas.microsoft.com/office/powerpoint/2010/main" val="9701710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347D-8276-9902-7D58-A4BCBD2BD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3A026-0561-67A2-1926-F297E665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987" y="76200"/>
            <a:ext cx="6002192" cy="48851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274CDC4-3B42-02D4-E3C6-4556584F9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50" y="729270"/>
            <a:ext cx="9672100" cy="524633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F93413E-CD65-0C47-E74C-EE82624C7869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F8E12B-2A1A-F10E-44FA-F93BAFFC0666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E6C9EE-91B8-CC07-0C95-B0A2B9AE77AB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1566BF-C640-3A34-2EE1-CF98306C3544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借出申请按介质与用途分流（提档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复制等），强制关联检索结果或立档事实，杜绝无根借出。</a:t>
            </a:r>
          </a:p>
        </p:txBody>
      </p:sp>
    </p:spTree>
    <p:extLst>
      <p:ext uri="{BB962C8B-B14F-4D97-AF65-F5344CB8AC3E}">
        <p14:creationId xmlns:p14="http://schemas.microsoft.com/office/powerpoint/2010/main" val="30945085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0E0B4-F070-BF5A-79DF-02527D7B9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7F4A3-7020-248E-C711-80CFFD44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372" y="76200"/>
            <a:ext cx="6566451" cy="534434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68B744-AC85-350C-B3A4-8DA221B93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343" y="808900"/>
            <a:ext cx="5791774" cy="38427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17B5FB8-A3AA-48A3-A6FB-31BEE1D6B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83" y="456758"/>
            <a:ext cx="4406498" cy="41264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280CBE4-7395-7162-B939-E9ADCF35E370}"/>
              </a:ext>
            </a:extLst>
          </p:cNvPr>
          <p:cNvSpPr txBox="1"/>
          <p:nvPr/>
        </p:nvSpPr>
        <p:spPr>
          <a:xfrm>
            <a:off x="2644721" y="1345278"/>
            <a:ext cx="1538267" cy="36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复制模式借出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0A6F4C-580B-0E01-D4E0-4C2FDEDC35CB}"/>
              </a:ext>
            </a:extLst>
          </p:cNvPr>
          <p:cNvSpPr txBox="1"/>
          <p:nvPr/>
        </p:nvSpPr>
        <p:spPr>
          <a:xfrm>
            <a:off x="8430418" y="1644912"/>
            <a:ext cx="1538267" cy="36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提档模式借出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2CD3EBF4-3447-A701-E3DE-4F094325A58F}"/>
              </a:ext>
            </a:extLst>
          </p:cNvPr>
          <p:cNvSpPr/>
          <p:nvPr/>
        </p:nvSpPr>
        <p:spPr>
          <a:xfrm>
            <a:off x="1678758" y="1409176"/>
            <a:ext cx="887060" cy="2341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B2AE17EE-5D45-7AA5-88BE-D92546DDD6BD}"/>
              </a:ext>
            </a:extLst>
          </p:cNvPr>
          <p:cNvSpPr/>
          <p:nvPr/>
        </p:nvSpPr>
        <p:spPr>
          <a:xfrm rot="10800000">
            <a:off x="6601141" y="1711920"/>
            <a:ext cx="1692656" cy="258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B034C2-4624-6FDB-847F-D4DB74F12DD7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EBDCF5-8005-1A57-A15F-5C794DCA7DCF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037D32-EEB1-8E32-C7E6-D179E32F8CDA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096008-DE8A-9FC1-ABB4-F1C8B1FD0FF9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借出申请按介质与用途分流（提档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复制等），强制关联检索结果或立档事实，杜绝无根借出。</a:t>
            </a:r>
          </a:p>
        </p:txBody>
      </p:sp>
    </p:spTree>
    <p:extLst>
      <p:ext uri="{BB962C8B-B14F-4D97-AF65-F5344CB8AC3E}">
        <p14:creationId xmlns:p14="http://schemas.microsoft.com/office/powerpoint/2010/main" val="24019577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95FE3-1FAF-68FA-B609-F9F9018BB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C94BE-7993-50C7-2D4F-AF824073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41" y="76200"/>
            <a:ext cx="6155779" cy="50101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借出审批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E674E0-4680-31AF-34D0-EA1100635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960" y="577210"/>
            <a:ext cx="9928080" cy="539839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8B6843F-78FF-7486-6811-3B60DADE6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366" y="1898008"/>
            <a:ext cx="1750014" cy="1625013"/>
          </a:xfrm>
          <a:prstGeom prst="rect">
            <a:avLst/>
          </a:prstGeom>
        </p:spPr>
      </p:pic>
      <p:sp>
        <p:nvSpPr>
          <p:cNvPr id="13" name="箭头: 左 12">
            <a:extLst>
              <a:ext uri="{FF2B5EF4-FFF2-40B4-BE49-F238E27FC236}">
                <a16:creationId xmlns:a16="http://schemas.microsoft.com/office/drawing/2014/main" id="{30CBED6C-AE9F-0029-165C-32F5D7039AB5}"/>
              </a:ext>
            </a:extLst>
          </p:cNvPr>
          <p:cNvSpPr/>
          <p:nvPr/>
        </p:nvSpPr>
        <p:spPr>
          <a:xfrm rot="20629734" flipV="1">
            <a:off x="3335390" y="2732160"/>
            <a:ext cx="1275855" cy="11047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5FB4BB-CE4B-7934-1835-4DDB64A96522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4AE46F-487D-46DA-46C4-4F98662F1749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425766-DB03-8ABA-BD5D-FFAEE932B2CE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B34D8B-24B4-9619-9585-83FD31F4A8D7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审批节点可配置；密级与去向决定签批深度，系统只固化「谁何时同意」，亲笔签仍以纸质为准。</a:t>
            </a:r>
          </a:p>
        </p:txBody>
      </p:sp>
    </p:spTree>
    <p:extLst>
      <p:ext uri="{BB962C8B-B14F-4D97-AF65-F5344CB8AC3E}">
        <p14:creationId xmlns:p14="http://schemas.microsoft.com/office/powerpoint/2010/main" val="42012437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1FC2-F7D8-BF0C-D89F-4AA6225E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86CD53-CD11-1818-E6FB-0AD0A9CC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847" y="76200"/>
            <a:ext cx="5880625" cy="478616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借出审批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FFA14E-FA9F-C0C8-04A7-0B4C8D05E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303" y="554816"/>
            <a:ext cx="9484310" cy="515709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E4CB1B2-9053-69F7-B77D-B4BC3B27E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388" y="2438924"/>
            <a:ext cx="2575467" cy="353668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1EFB0EE-A6C3-BCF4-5DA7-CF030BAC9113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55D7C4-C234-B868-F0B5-D31C4CA642C2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5F624F-BF45-7CB7-D28B-794A8989401C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2D4146-A180-6F7F-E9B3-8625E4046D99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审批节点可配置；密级与去向决定签批深度，系统只固化「谁何时同意」，亲笔签仍以纸质为准。</a:t>
            </a:r>
          </a:p>
        </p:txBody>
      </p:sp>
    </p:spTree>
    <p:extLst>
      <p:ext uri="{BB962C8B-B14F-4D97-AF65-F5344CB8AC3E}">
        <p14:creationId xmlns:p14="http://schemas.microsoft.com/office/powerpoint/2010/main" val="313833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C7E9F-4444-4F00-6FF3-BDF195542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7266F-7545-D0EE-F9E8-9EAD8AE1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973" y="76200"/>
            <a:ext cx="5926460" cy="482346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借出前后比较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C1A139-58FC-846F-7310-2A63C6EF4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350" y="737489"/>
            <a:ext cx="4550185" cy="30190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D0C7492-597B-F6A1-5907-0436C9DED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410" y="419666"/>
            <a:ext cx="3301740" cy="309188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9134E6B-A5AA-DCA9-E7D4-E63B90E714E7}"/>
              </a:ext>
            </a:extLst>
          </p:cNvPr>
          <p:cNvSpPr txBox="1"/>
          <p:nvPr/>
        </p:nvSpPr>
        <p:spPr>
          <a:xfrm>
            <a:off x="2880568" y="1221588"/>
            <a:ext cx="1388341" cy="326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复制模式借出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650BA1-A1F5-0010-1479-3733BD3FC782}"/>
              </a:ext>
            </a:extLst>
          </p:cNvPr>
          <p:cNvSpPr txBox="1"/>
          <p:nvPr/>
        </p:nvSpPr>
        <p:spPr>
          <a:xfrm>
            <a:off x="8756419" y="1422470"/>
            <a:ext cx="1388341" cy="326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提档模式借出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86FC4C45-5976-75BA-7304-206DE07BD69D}"/>
              </a:ext>
            </a:extLst>
          </p:cNvPr>
          <p:cNvSpPr/>
          <p:nvPr/>
        </p:nvSpPr>
        <p:spPr>
          <a:xfrm>
            <a:off x="2008752" y="1279260"/>
            <a:ext cx="800604" cy="21132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350A9FC3-61E4-5C70-4E13-4D8385A2FA7C}"/>
              </a:ext>
            </a:extLst>
          </p:cNvPr>
          <p:cNvSpPr/>
          <p:nvPr/>
        </p:nvSpPr>
        <p:spPr>
          <a:xfrm rot="10800000">
            <a:off x="6984528" y="1535369"/>
            <a:ext cx="1527683" cy="2328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4F8B8A-FF39-20FA-BDB7-84CBF4571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333" y="3798072"/>
            <a:ext cx="2719602" cy="213527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FD19332-05B4-2A6E-ACC5-5CA166DCB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688" y="3788528"/>
            <a:ext cx="3449489" cy="2090101"/>
          </a:xfrm>
          <a:prstGeom prst="rect">
            <a:avLst/>
          </a:prstGeom>
        </p:spPr>
      </p:pic>
      <p:sp>
        <p:nvSpPr>
          <p:cNvPr id="15" name="标注: 左右箭头 14">
            <a:extLst>
              <a:ext uri="{FF2B5EF4-FFF2-40B4-BE49-F238E27FC236}">
                <a16:creationId xmlns:a16="http://schemas.microsoft.com/office/drawing/2014/main" id="{12D83ECA-EED6-58EA-381A-384972705629}"/>
              </a:ext>
            </a:extLst>
          </p:cNvPr>
          <p:cNvSpPr/>
          <p:nvPr/>
        </p:nvSpPr>
        <p:spPr>
          <a:xfrm>
            <a:off x="5531843" y="4384694"/>
            <a:ext cx="1726025" cy="1085455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借出后视图</a:t>
            </a:r>
          </a:p>
        </p:txBody>
      </p:sp>
      <p:sp>
        <p:nvSpPr>
          <p:cNvPr id="17" name="标注: 左右箭头 16">
            <a:extLst>
              <a:ext uri="{FF2B5EF4-FFF2-40B4-BE49-F238E27FC236}">
                <a16:creationId xmlns:a16="http://schemas.microsoft.com/office/drawing/2014/main" id="{B8B4E378-F305-746E-52B3-80F97047B44F}"/>
              </a:ext>
            </a:extLst>
          </p:cNvPr>
          <p:cNvSpPr/>
          <p:nvPr/>
        </p:nvSpPr>
        <p:spPr>
          <a:xfrm>
            <a:off x="4268909" y="1504966"/>
            <a:ext cx="1726025" cy="1085455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借出前视图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EF5538-9C30-B529-77BC-57B024E91791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DE8128-A66E-B1D1-274E-25BEB398704C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530A12-566E-4233-0952-B0AC9F69FF96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BDFB8A-614E-F43F-C454-24E8D75AA6B3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用前后视图对照提档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复制对容器与份数的不同影响，让办理人一眼看见「借出到底改了什么」。</a:t>
            </a:r>
          </a:p>
        </p:txBody>
      </p:sp>
    </p:spTree>
    <p:extLst>
      <p:ext uri="{BB962C8B-B14F-4D97-AF65-F5344CB8AC3E}">
        <p14:creationId xmlns:p14="http://schemas.microsoft.com/office/powerpoint/2010/main" val="10856353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08CA8-C68C-49CE-5BD0-4E0D7ACE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CF137B-3818-43C5-F19F-A3BEE80B8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138" y="76200"/>
            <a:ext cx="6150604" cy="500589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归还申请（正常归还）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1C4CBC-6215-7FE0-0A89-DC8F6A2CD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5" y="810112"/>
            <a:ext cx="9499755" cy="5165492"/>
          </a:xfrm>
          <a:prstGeom prst="rect">
            <a:avLst/>
          </a:prstGeom>
        </p:spPr>
      </p:pic>
      <p:sp>
        <p:nvSpPr>
          <p:cNvPr id="6" name="标注: 上箭头 5">
            <a:extLst>
              <a:ext uri="{FF2B5EF4-FFF2-40B4-BE49-F238E27FC236}">
                <a16:creationId xmlns:a16="http://schemas.microsoft.com/office/drawing/2014/main" id="{A3ECB11B-FB3E-022D-9087-D3C9AD7D6ED8}"/>
              </a:ext>
            </a:extLst>
          </p:cNvPr>
          <p:cNvSpPr/>
          <p:nvPr/>
        </p:nvSpPr>
        <p:spPr>
          <a:xfrm>
            <a:off x="7461251" y="2151525"/>
            <a:ext cx="3934526" cy="839362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通过归还份数确定是否正常归还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D1CFB0-3178-F62B-6BA4-C501B0E7DB2D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1A0628-B911-D9A1-D5B3-A8FA2C13F367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BD136C-C4F0-294E-3573-0714BA677E13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8B348C-B3C9-5E2F-7B83-14DB965CE214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完好归还走短路径，快速核销借出占用；归还目标盒可指定，支撑「物归原位或合理归位」。</a:t>
            </a:r>
          </a:p>
        </p:txBody>
      </p:sp>
    </p:spTree>
    <p:extLst>
      <p:ext uri="{BB962C8B-B14F-4D97-AF65-F5344CB8AC3E}">
        <p14:creationId xmlns:p14="http://schemas.microsoft.com/office/powerpoint/2010/main" val="28499040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E0C8-AE96-5026-B39E-56CCB06D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CC1DE23-47BA-F24A-B9C0-8A939263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08" y="647994"/>
            <a:ext cx="9797904" cy="532761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DC5344-8AF4-F81B-48F0-A008BE70A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9128" y="76200"/>
            <a:ext cx="6095237" cy="496083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归还申请（非正常归还）</a:t>
            </a:r>
          </a:p>
        </p:txBody>
      </p:sp>
      <p:sp>
        <p:nvSpPr>
          <p:cNvPr id="7" name="箭头: 圆角右 6">
            <a:extLst>
              <a:ext uri="{FF2B5EF4-FFF2-40B4-BE49-F238E27FC236}">
                <a16:creationId xmlns:a16="http://schemas.microsoft.com/office/drawing/2014/main" id="{A5A6FE64-C8D5-32DE-C79E-D6420D4FB3A9}"/>
              </a:ext>
            </a:extLst>
          </p:cNvPr>
          <p:cNvSpPr/>
          <p:nvPr/>
        </p:nvSpPr>
        <p:spPr>
          <a:xfrm rot="10800000">
            <a:off x="7037811" y="3766097"/>
            <a:ext cx="2688863" cy="1997302"/>
          </a:xfrm>
          <a:prstGeom prst="bentArrow">
            <a:avLst>
              <a:gd name="adj1" fmla="val 7620"/>
              <a:gd name="adj2" fmla="val 12797"/>
              <a:gd name="adj3" fmla="val 24009"/>
              <a:gd name="adj4" fmla="val 433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标注: 上箭头 5">
            <a:extLst>
              <a:ext uri="{FF2B5EF4-FFF2-40B4-BE49-F238E27FC236}">
                <a16:creationId xmlns:a16="http://schemas.microsoft.com/office/drawing/2014/main" id="{907277B8-CF7B-5A2A-BDCD-C78EAACB4A86}"/>
              </a:ext>
            </a:extLst>
          </p:cNvPr>
          <p:cNvSpPr/>
          <p:nvPr/>
        </p:nvSpPr>
        <p:spPr>
          <a:xfrm>
            <a:off x="7804150" y="2029432"/>
            <a:ext cx="3678742" cy="1798348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1723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通过归还份数确定是否正常归还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787E2-5F72-ED13-6778-6BA389032470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9200EF-F76A-8C52-4332-41670D0CE7C7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1560C2-368E-BEE6-0F3E-339589D0BEBB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338CA3-E513-22F6-09DB-92739DD5AC05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灭失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缺损单独分流，要求更完整说明与更严审批，防止非正常情况被「正常归还」冲销。</a:t>
            </a:r>
          </a:p>
        </p:txBody>
      </p:sp>
    </p:spTree>
    <p:extLst>
      <p:ext uri="{BB962C8B-B14F-4D97-AF65-F5344CB8AC3E}">
        <p14:creationId xmlns:p14="http://schemas.microsoft.com/office/powerpoint/2010/main" val="23893246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AF10A-8A0A-36A5-63D2-3E41489F6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C1C9E-B68B-311D-F5FC-589E4C17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707" y="76200"/>
            <a:ext cx="6002192" cy="48851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流转台账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66A094E-2123-A2A9-FB6C-C7DAC4E92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17" y="497994"/>
            <a:ext cx="10073766" cy="547761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0FFA078-BDF4-44E9-480F-5B98A0F480CB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8FB953-23AD-A419-A455-61BED3661D5D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D67284-5EEF-F6FD-E542-7F2D9B343749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D9A5D0-35BA-64D0-EE76-9E8EB4EA9293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流转台账沉淀借还全链路，既是催还依据，也是迎检时「来龙去脉」的证据链。</a:t>
            </a:r>
          </a:p>
        </p:txBody>
      </p:sp>
    </p:spTree>
    <p:extLst>
      <p:ext uri="{BB962C8B-B14F-4D97-AF65-F5344CB8AC3E}">
        <p14:creationId xmlns:p14="http://schemas.microsoft.com/office/powerpoint/2010/main" val="12616746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出入网与在网数据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入网 / 出网：申请—审批—交接—路径/目录补录—办结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在网数据台账：掌握已入网资料状态与版本信息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在网数据处置：对在网资产走正式审批与办结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跨域流转台账：串联出网转建档等跨业务链条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与服务器路径设置联动，规范入网落点与责任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29/50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9B1F-0D26-B68D-A7F1-63819BFFF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0136CB-F290-FE4E-37B2-005BB909E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689" y="76200"/>
            <a:ext cx="5880625" cy="478616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入网申请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EBD1EC-9898-D2BD-F84A-8B705A270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631" y="702502"/>
            <a:ext cx="8876198" cy="5273102"/>
          </a:xfrm>
          <a:prstGeom prst="rect">
            <a:avLst/>
          </a:prstGeom>
        </p:spPr>
      </p:pic>
      <p:sp>
        <p:nvSpPr>
          <p:cNvPr id="6" name="标注: 右箭头 5">
            <a:extLst>
              <a:ext uri="{FF2B5EF4-FFF2-40B4-BE49-F238E27FC236}">
                <a16:creationId xmlns:a16="http://schemas.microsoft.com/office/drawing/2014/main" id="{12186EAB-8C61-DDA8-99AB-C15814720779}"/>
              </a:ext>
            </a:extLst>
          </p:cNvPr>
          <p:cNvSpPr/>
          <p:nvPr/>
        </p:nvSpPr>
        <p:spPr>
          <a:xfrm>
            <a:off x="1398171" y="2868710"/>
            <a:ext cx="1880186" cy="1115884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档外资料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CD5275-43C3-6CB8-D7A1-C5ED5D824148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2D0BF0-7AA2-4539-391D-541D66C3264B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E68BF1-2038-9243-E7F5-8261371485A7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195E33-E974-BC93-E9E0-7A792CE8FCF6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入网把「库内资料→服务器路径」做成审批业务，路径落点受服务器路径设置约束，责任可追。</a:t>
            </a:r>
          </a:p>
        </p:txBody>
      </p:sp>
    </p:spTree>
    <p:extLst>
      <p:ext uri="{BB962C8B-B14F-4D97-AF65-F5344CB8AC3E}">
        <p14:creationId xmlns:p14="http://schemas.microsoft.com/office/powerpoint/2010/main" val="39620486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D041E-5F8C-AFDD-DDF2-CED7D029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70D3BE-857C-A723-7964-A8F7A7443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695" y="747702"/>
            <a:ext cx="9614535" cy="522790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0E3E76E-A023-1E74-61D8-F9D98F324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9905" y="76200"/>
            <a:ext cx="6078486" cy="494719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入网申请</a:t>
            </a:r>
          </a:p>
        </p:txBody>
      </p:sp>
      <p:sp>
        <p:nvSpPr>
          <p:cNvPr id="6" name="标注: 右箭头 5">
            <a:extLst>
              <a:ext uri="{FF2B5EF4-FFF2-40B4-BE49-F238E27FC236}">
                <a16:creationId xmlns:a16="http://schemas.microsoft.com/office/drawing/2014/main" id="{86FECBD4-F892-5AB5-7FA8-745A6868B4FE}"/>
              </a:ext>
            </a:extLst>
          </p:cNvPr>
          <p:cNvSpPr/>
          <p:nvPr/>
        </p:nvSpPr>
        <p:spPr>
          <a:xfrm>
            <a:off x="810771" y="2030445"/>
            <a:ext cx="1129727" cy="1153429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存档资料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01CEF3-8020-7C95-791B-057295D98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209" y="76200"/>
            <a:ext cx="2639024" cy="3693340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AD056778-6409-E090-D6F2-29F6A31D859A}"/>
              </a:ext>
            </a:extLst>
          </p:cNvPr>
          <p:cNvSpPr/>
          <p:nvPr/>
        </p:nvSpPr>
        <p:spPr>
          <a:xfrm rot="20157166">
            <a:off x="2822826" y="4542108"/>
            <a:ext cx="5506996" cy="2054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3E98C-F253-C754-05FB-69BD6C1B9A6B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BC05A2-C262-EA2D-618A-A9ABBC971B43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CCD5B4-2BD1-A3EC-CD1C-97F5C928D49A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E60E12-3C78-E596-FCCD-B622D138B82C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入网把「库内资料→服务器路径」做成审批业务，路径落点受服务器路径设置约束，责任可追。</a:t>
            </a:r>
          </a:p>
        </p:txBody>
      </p:sp>
    </p:spTree>
    <p:extLst>
      <p:ext uri="{BB962C8B-B14F-4D97-AF65-F5344CB8AC3E}">
        <p14:creationId xmlns:p14="http://schemas.microsoft.com/office/powerpoint/2010/main" val="313527681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8AE8-51CA-0D60-72ED-3F06CDD0A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E8DD6-AD36-3F7F-7BD3-5E4CAFBE0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899" y="76200"/>
            <a:ext cx="6078487" cy="494719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入网审批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98CA14-60EA-8A87-DB40-A944153DF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284" y="786362"/>
            <a:ext cx="9543433" cy="518924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D566E56-9FCF-421C-CE6B-811596CEBD04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85841E-EB2A-787A-082B-76947BC22273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807829-E003-5737-A218-18435687C74C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937E8F-5E02-13E0-A982-A1E14D60C012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入网审批关注密级、数据量与目标路径合规；办结后生成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更新在网台账，而不是只留申请单。</a:t>
            </a:r>
          </a:p>
        </p:txBody>
      </p:sp>
    </p:spTree>
    <p:extLst>
      <p:ext uri="{BB962C8B-B14F-4D97-AF65-F5344CB8AC3E}">
        <p14:creationId xmlns:p14="http://schemas.microsoft.com/office/powerpoint/2010/main" val="25873059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444EC-6855-206C-FBE2-F3463FEB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483BD-97FE-65D3-CB90-EF0B6295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550" y="76200"/>
            <a:ext cx="6111222" cy="497384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出网申请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47C8EF-9F34-B40D-9193-827260B97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986" y="697951"/>
            <a:ext cx="9706028" cy="527765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F5DDA66-BA5B-2C85-DE9C-1529BF6F6CF7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6A4E48-E7E3-5BA8-8631-D795264BF0B9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F50BAB-9A07-405A-0A72-39E48512D5CE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4E52E7-1E0C-F76D-49AB-7521BF06CAA7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出网明确目的地类别与接收单位，可联动后续建档，使「出网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建档」跨域链条不断档。</a:t>
            </a:r>
          </a:p>
        </p:txBody>
      </p:sp>
    </p:spTree>
    <p:extLst>
      <p:ext uri="{BB962C8B-B14F-4D97-AF65-F5344CB8AC3E}">
        <p14:creationId xmlns:p14="http://schemas.microsoft.com/office/powerpoint/2010/main" val="7000280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88AC-117D-43E2-011B-C5C6432C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6C37E-495C-E434-1DBD-1F7CCABE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643" y="76200"/>
            <a:ext cx="6094809" cy="496048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出网审批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02903E-D396-1786-427B-C35F500AC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194" y="802579"/>
            <a:ext cx="9513610" cy="517302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589E41A-EFB9-3902-3168-5CD2AB9B5F94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AD937F-75A2-A023-34A5-DB1D13761E69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151F15-6E6E-7CAC-4B9C-A5CED5D7818D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DA966F-CF9D-BACC-AC92-2F24BFD5F915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出网审批与交接确认分离，确保「批了」不等于「交了」；附件与路径补录在办结前闭环。</a:t>
            </a:r>
          </a:p>
        </p:txBody>
      </p:sp>
    </p:spTree>
    <p:extLst>
      <p:ext uri="{BB962C8B-B14F-4D97-AF65-F5344CB8AC3E}">
        <p14:creationId xmlns:p14="http://schemas.microsoft.com/office/powerpoint/2010/main" val="29531192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F984-CD0C-F246-01D5-7EC315BD9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C35D3-8204-DE92-5F45-2A6975A3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006" y="76200"/>
            <a:ext cx="6078487" cy="494719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在网数据台账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B1CE80-855B-6F73-E40D-BC2E36C55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788" y="1001148"/>
            <a:ext cx="9148425" cy="497445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C15D28F-57A3-9EA6-A512-A655B3A2A080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C461F0-F916-BA16-43BB-83E9C21BD3BB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1A0BE3-9326-90C7-8824-2365C9B8A932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4F5115-1FF4-47B8-8611-638430BEA435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在网台账回答「网上现在有什么」；版本、路径、来源入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出网可回溯，支撑盘点与处置。</a:t>
            </a:r>
          </a:p>
        </p:txBody>
      </p:sp>
    </p:spTree>
    <p:extLst>
      <p:ext uri="{BB962C8B-B14F-4D97-AF65-F5344CB8AC3E}">
        <p14:creationId xmlns:p14="http://schemas.microsoft.com/office/powerpoint/2010/main" val="3440992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EEEE0-F7B4-6160-7D35-94EEB5CB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0F1AB-580B-2BD2-7224-0353D640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469" y="76200"/>
            <a:ext cx="5948144" cy="48411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在网数据处置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1762DA-B193-B604-4016-D74FD8869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55" y="560311"/>
            <a:ext cx="9198093" cy="541529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CA550FF-52E2-FA98-23F1-A57A89C3A65A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24A045-F960-0641-88BC-F6091FF66C10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045F26-FF2F-1FA1-4EB7-45C36B5136D8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8FD86C-2EB1-2A90-D451-D113FCCAB19A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在网数据销号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处置必须单独审批，避免管理员私下删目录导致账网不一致。</a:t>
            </a:r>
          </a:p>
        </p:txBody>
      </p:sp>
    </p:spTree>
    <p:extLst>
      <p:ext uri="{BB962C8B-B14F-4D97-AF65-F5344CB8AC3E}">
        <p14:creationId xmlns:p14="http://schemas.microsoft.com/office/powerpoint/2010/main" val="36574395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4FEE2-929B-03B8-AB29-2B6F92B7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D30C7-1BF0-4000-FC3A-E3FB7A6F6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63" y="76200"/>
            <a:ext cx="6160991" cy="501434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跨域流转台账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3B2298-B13A-6FCF-FABE-C2FBBCC3B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549" y="755114"/>
            <a:ext cx="9600902" cy="522049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F37D112-E029-0F57-A8CE-475B0497A4AF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C9B663-392B-44A8-D380-E5AF2E4F39A1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F07D0D-652A-2A89-3732-C7F2B3034A4A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E4F003-49C1-57B4-CA2E-E5557DE36A25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跨域台账串联出网转建档等任务链，让跨业务进度可盯办，而不是靠人口头同步。</a:t>
            </a:r>
          </a:p>
        </p:txBody>
      </p:sp>
    </p:spTree>
    <p:extLst>
      <p:ext uri="{BB962C8B-B14F-4D97-AF65-F5344CB8AC3E}">
        <p14:creationId xmlns:p14="http://schemas.microsoft.com/office/powerpoint/2010/main" val="16735334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盘库与离库处置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盘库：对在库模拟/电子资料进行核对登记，支撑账实一致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离库：销毁/转交等正式审批，上传签批与现场照片（按规则）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可联动撤柜确认、低格留盘确认等实物动作勾选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管理价值：从“能借出”升级为“盘得准、处置有据”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33/50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C14EF-99E2-E9F2-42D0-56D8B496F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51980-6C07-AA19-B340-E63A7F556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4527" y="76200"/>
            <a:ext cx="6085618" cy="4953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模拟资料盘库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5F60B8-B07E-CEC6-D3F1-9D631716D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872" y="649112"/>
            <a:ext cx="7770257" cy="532649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7B96B52-C1C3-B358-0148-6996ECCA6EFD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F84FFC-D7B1-B0FD-2A41-5F83918624E5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691C1F-33A1-D5A0-C206-5FF4A370357C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F2F646-4BB0-614C-B115-8DB1614D0FEB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盘库登记丢失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拟销份数，先固化账实差异，再决定补登或进入离库，而不是直接改库存。</a:t>
            </a:r>
          </a:p>
        </p:txBody>
      </p:sp>
    </p:spTree>
    <p:extLst>
      <p:ext uri="{BB962C8B-B14F-4D97-AF65-F5344CB8AC3E}">
        <p14:creationId xmlns:p14="http://schemas.microsoft.com/office/powerpoint/2010/main" val="12350063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53A6F-4A69-0C91-9580-435AF22DE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AC5D5-A68D-C6CC-28FA-E71092CE1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121" y="76200"/>
            <a:ext cx="5880625" cy="478616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电子资料盘库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D0BA85-5046-33DD-3349-19DE7D0E8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575" y="817235"/>
            <a:ext cx="7136851" cy="515836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81E675-62E7-391F-74CF-5691FCE186A6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ECB0C9-68C4-4C0C-A537-680439FC48FB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0C472E-D100-77C3-3183-F9A93C765867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291516-D670-567C-7D74-882AE349B9A0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电子盘库核对袋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盘状态与位置，发现损坏、错位及时锁定，避免带病继续借出。</a:t>
            </a:r>
          </a:p>
        </p:txBody>
      </p:sp>
    </p:spTree>
    <p:extLst>
      <p:ext uri="{BB962C8B-B14F-4D97-AF65-F5344CB8AC3E}">
        <p14:creationId xmlns:p14="http://schemas.microsoft.com/office/powerpoint/2010/main" val="31685936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385A1-8E3B-7746-D0D4-97629820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8AD25-41AC-095B-9AAA-8A87EF44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650" y="76200"/>
            <a:ext cx="6002192" cy="48851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模拟资料离库处置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925EF6-4672-6918-D690-BA6338E6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164" y="639856"/>
            <a:ext cx="8971671" cy="533574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B44846B-52F9-7E1E-7C57-769B4FD8AAC1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55A367-340A-CDBC-0121-A4F93663355C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4ED78B-8439-D0F4-8BBA-033BB1486E71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FC987B-D7AA-F659-175C-62B8F9C3F0FF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离库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=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正式退出库房生命周期；要求签批、现场照片与撤柜确认，满足销毁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转交合规。</a:t>
            </a:r>
          </a:p>
        </p:txBody>
      </p:sp>
    </p:spTree>
    <p:extLst>
      <p:ext uri="{BB962C8B-B14F-4D97-AF65-F5344CB8AC3E}">
        <p14:creationId xmlns:p14="http://schemas.microsoft.com/office/powerpoint/2010/main" val="189325149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1C620-5C14-F0A0-4342-76A1B6A8F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E7F00-1B09-0244-06DC-7477D6E1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524" y="76200"/>
            <a:ext cx="5880625" cy="478616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电子资料离库处置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3C79ED-8717-C3A7-1B23-6633F7985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613" y="808312"/>
            <a:ext cx="7430774" cy="516729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95E6179-FB1F-312D-FF95-D7DC63608AAC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A56C54-64A9-DE15-5CB9-C3B7CCCA0CC0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E91764-1186-7CF2-07C8-61EBC4E41F74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5CC986-F890-B2AC-5BAA-E1D55B48C30F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电子离库可勾选低格留盘等实物动作，把「数据处置」与「介质处置」策略写进同一单据。</a:t>
            </a:r>
          </a:p>
        </p:txBody>
      </p:sp>
    </p:spTree>
    <p:extLst>
      <p:ext uri="{BB962C8B-B14F-4D97-AF65-F5344CB8AC3E}">
        <p14:creationId xmlns:p14="http://schemas.microsoft.com/office/powerpoint/2010/main" val="148670323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4444771-F643-E54A-E76A-B9E2ADE260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39A864-9B55-6C23-194B-AA22F0FE2610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64A6FD-D773-EAEA-C29D-1E0B2C6D7870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</a:rPr>
              <a:t>· C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A0BEEB-2874-6057-C2D0-6A2ED838E27F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库房与介质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0AA673-83D7-70AE-BF44-489B0E210699}"/>
              </a:ext>
            </a:extLst>
          </p:cNvPr>
          <p:cNvSpPr txBox="1"/>
          <p:nvPr/>
        </p:nvSpPr>
        <p:spPr>
          <a:xfrm>
            <a:off x="685800" y="3429000"/>
            <a:ext cx="108204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档案柜登记与开柜档口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硬盘全链路（登记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出库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归还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盘库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离库）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光盘概览与台账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97DCCC-C136-77FB-9385-B209B2557C28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37488642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五、库房与介质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档案柜：柜体登记、开柜查看、档口用途（年度/历史/混用/空白硬盘等）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硬盘：概览 KPI、初始登记、出库/归还、盘库、离库、台账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光盘：概览与台账，随资料业务联动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库管总览：盒袋与位置集中可视，减少“靠记忆找资料”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36/50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D991-4113-F09E-47C3-16351A722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B4EE2-B9DB-9742-5684-657CC1789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0" y="76200"/>
            <a:ext cx="4604160" cy="476545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档案柜登记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10001BB-9115-BA66-1B34-4FD7A5A81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233" y="659722"/>
            <a:ext cx="9129537" cy="531588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F24B0CB-9673-51EB-896A-F01F989E3B9E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8ED4BA-8759-BE72-B34E-D999E5A51E66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188882-269A-6620-C2E4-E79B0638317D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7F04DD-BAFA-D5EC-FDED-724FDC7E9F29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柜体是库房数字化底座；先登记规格与布局，后谈盒袋落位，避免「有资料无柜图」。</a:t>
            </a:r>
          </a:p>
        </p:txBody>
      </p:sp>
    </p:spTree>
    <p:extLst>
      <p:ext uri="{BB962C8B-B14F-4D97-AF65-F5344CB8AC3E}">
        <p14:creationId xmlns:p14="http://schemas.microsoft.com/office/powerpoint/2010/main" val="2343095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F5C6A-E1FF-F3E8-33D8-D44D9E46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B6DCA5F-60F3-46D2-4023-9B807CC3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64" y="558494"/>
            <a:ext cx="3698568" cy="401871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A295669-9E73-369C-0B09-A6E528CF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300" y="76200"/>
            <a:ext cx="5804541" cy="482294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档案柜登记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新增档案柜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B6685F-FFC7-63BA-D1E5-BBC11FDEF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859" y="1040787"/>
            <a:ext cx="2868209" cy="47393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703F59-E3C7-A245-AA98-121C92EAC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752" y="1706746"/>
            <a:ext cx="2571399" cy="426885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83365E5-F5E9-4777-BA76-56FB8E69A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915" y="3341323"/>
            <a:ext cx="2730721" cy="222063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745455C-324F-1CAD-DA8E-F80A34A30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0599" y="618096"/>
            <a:ext cx="2730722" cy="2056372"/>
          </a:xfrm>
          <a:prstGeom prst="rect">
            <a:avLst/>
          </a:prstGeom>
        </p:spPr>
      </p:pic>
      <p:sp>
        <p:nvSpPr>
          <p:cNvPr id="14" name="箭头: 下 13">
            <a:extLst>
              <a:ext uri="{FF2B5EF4-FFF2-40B4-BE49-F238E27FC236}">
                <a16:creationId xmlns:a16="http://schemas.microsoft.com/office/drawing/2014/main" id="{DE093764-22C8-B8A5-ABC9-F012CF15AD39}"/>
              </a:ext>
            </a:extLst>
          </p:cNvPr>
          <p:cNvSpPr/>
          <p:nvPr/>
        </p:nvSpPr>
        <p:spPr>
          <a:xfrm rot="20307247">
            <a:off x="7549488" y="1865406"/>
            <a:ext cx="215901" cy="28350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690B25-A61E-1BA8-BB83-C9CD1C9D0E70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CD376C-FCAC-7174-D56E-BF91BC6EC649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563F3F-4A02-023C-950C-647343C59B84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7816CB-1CDF-F8E6-59A9-1D622F30DA50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新增柜体向导化采集面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层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列与画布位置，支撑开柜平面图与库房总览一致渲染。</a:t>
            </a:r>
          </a:p>
        </p:txBody>
      </p:sp>
    </p:spTree>
    <p:extLst>
      <p:ext uri="{BB962C8B-B14F-4D97-AF65-F5344CB8AC3E}">
        <p14:creationId xmlns:p14="http://schemas.microsoft.com/office/powerpoint/2010/main" val="288725759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BE90E-7EBB-1982-20E0-07B9ED767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C83B0-2365-8E04-EF8A-E2BD32C6A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576" y="76200"/>
            <a:ext cx="6393474" cy="516053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开柜操作（标准滑道档案柜）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9EA77A-C411-CCA3-C213-214EA7AEC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569" y="900974"/>
            <a:ext cx="9622861" cy="507463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372BAAF-2B15-A394-6027-567C20A308EB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72A0E-3B2B-B67E-6D7B-295250B565D8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CD2167-3CDF-D2B3-8819-6E9E3533558F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702CFF-06E3-4CDD-E817-25F6BE3EC486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开柜所见即档口库存；点击档口即可查看盒袋，缩短「凭记忆找资料」路径。</a:t>
            </a:r>
          </a:p>
        </p:txBody>
      </p:sp>
    </p:spTree>
    <p:extLst>
      <p:ext uri="{BB962C8B-B14F-4D97-AF65-F5344CB8AC3E}">
        <p14:creationId xmlns:p14="http://schemas.microsoft.com/office/powerpoint/2010/main" val="370525460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DC81-EBA1-25ED-B39F-E3BE4B0D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63391-50C1-9A2E-EA2B-A76A52665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5816" y="76200"/>
            <a:ext cx="6214484" cy="518633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开柜操作（防磁磁盘柜）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02AD75-1B4D-9B61-7C4B-6827267B1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61" y="1014840"/>
            <a:ext cx="10725279" cy="496076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F39129D-ED65-BC9C-00C8-7DE77ECA1FAC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2AF1E2-3FC9-29DC-5893-0417B7883FA3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33BA74-E126-9F45-13A5-BB9B0486FAEF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131291-D8F3-0D7B-1138-00AF371A394C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磁盘柜开柜强调介质格口占用与空位，服务空盘领取、归还入格与电子立档选位。</a:t>
            </a:r>
          </a:p>
        </p:txBody>
      </p:sp>
    </p:spTree>
    <p:extLst>
      <p:ext uri="{BB962C8B-B14F-4D97-AF65-F5344CB8AC3E}">
        <p14:creationId xmlns:p14="http://schemas.microsoft.com/office/powerpoint/2010/main" val="12062667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118C-D0E3-11F3-AC65-EBFD2FE7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B3A503-8716-8329-F4DF-AD9809C63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35" y="76200"/>
            <a:ext cx="6072465" cy="516365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标识图例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D3E0BA-DDF9-1521-F1B7-41A8B40A6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023" y="906277"/>
            <a:ext cx="8929954" cy="506932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3ACF8A2-8725-DE63-F184-0441C3953F9F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5866F4-B883-3B0F-84E3-FB7A95CE93E8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355111-F0F9-F91E-840A-AC6024F2066F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854EC9-66F6-7F1E-8284-D64A96C65CA9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用统一图例表达占用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空闲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用途，降低培训成本，保证不同柜型「同一套读法」。</a:t>
            </a:r>
          </a:p>
        </p:txBody>
      </p:sp>
    </p:spTree>
    <p:extLst>
      <p:ext uri="{BB962C8B-B14F-4D97-AF65-F5344CB8AC3E}">
        <p14:creationId xmlns:p14="http://schemas.microsoft.com/office/powerpoint/2010/main" val="45546281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118C-D0E3-11F3-AC65-EBFD2FE7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50F5909-13A0-9590-54D9-1C7C03336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213" y="3050480"/>
            <a:ext cx="5265226" cy="292512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5B3A503-8716-8329-F4DF-AD9809C63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550" y="76200"/>
            <a:ext cx="6366287" cy="488629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设置档口用途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53119A-7175-C77D-672A-9BD181F99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764" y="714247"/>
            <a:ext cx="2978525" cy="1467926"/>
          </a:xfrm>
          <a:prstGeom prst="rect">
            <a:avLst/>
          </a:prstGeom>
        </p:spPr>
      </p:pic>
      <p:sp>
        <p:nvSpPr>
          <p:cNvPr id="7" name="箭头: 下 6">
            <a:extLst>
              <a:ext uri="{FF2B5EF4-FFF2-40B4-BE49-F238E27FC236}">
                <a16:creationId xmlns:a16="http://schemas.microsoft.com/office/drawing/2014/main" id="{688A5057-94A5-4390-72B8-80D710AA1530}"/>
              </a:ext>
            </a:extLst>
          </p:cNvPr>
          <p:cNvSpPr/>
          <p:nvPr/>
        </p:nvSpPr>
        <p:spPr>
          <a:xfrm>
            <a:off x="8430918" y="2245673"/>
            <a:ext cx="591521" cy="8048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1FB520-DE88-42AB-EE20-F6E60E9475D0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E270AB-A792-C1C9-79FF-2DFD6CD3E689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4E0ADF-9827-281C-3A5B-E619C25D4C0C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D807FA-CF41-196D-9D64-C597D50CA483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档口用途（年度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历史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混用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空白硬盘等）可配置，从制度上防止错柜错格混放。</a:t>
            </a:r>
          </a:p>
        </p:txBody>
      </p:sp>
    </p:spTree>
    <p:extLst>
      <p:ext uri="{BB962C8B-B14F-4D97-AF65-F5344CB8AC3E}">
        <p14:creationId xmlns:p14="http://schemas.microsoft.com/office/powerpoint/2010/main" val="293438613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3E8E-31FC-34C7-6EA9-72C3C3119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BB739-2709-0F16-DE8A-62557038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012" y="76200"/>
            <a:ext cx="4697979" cy="534434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715E71-FAC5-BA2E-EF4C-1DD66613C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286" y="1190022"/>
            <a:ext cx="2016533" cy="284741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303BEEB-1E2F-04EE-6EBA-358FB2F57BA4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F0595A-9CD2-6697-C450-0CF3AA106AE3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DA6F7D-945C-75F9-7ADB-FFCC91A1AF49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431067-847D-665B-150E-2E36AAD18F36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档案柜模块把「登记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开柜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用途」收束为一套库房操作语言，与立档落位、迁档目标同源。</a:t>
            </a:r>
          </a:p>
        </p:txBody>
      </p:sp>
    </p:spTree>
    <p:extLst>
      <p:ext uri="{BB962C8B-B14F-4D97-AF65-F5344CB8AC3E}">
        <p14:creationId xmlns:p14="http://schemas.microsoft.com/office/powerpoint/2010/main" val="62801458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A46D-388B-5B46-456E-D2AE7E9F8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46BDFD-0262-7241-5B33-A5A23377A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1939" y="76200"/>
            <a:ext cx="4232928" cy="48153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硬盘概览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150F4B-41CF-C937-D40F-0F10ABF24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858" y="630511"/>
            <a:ext cx="8613473" cy="51396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9E06271-E096-B97A-6A7E-226409ABE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753" y="3194306"/>
            <a:ext cx="3879391" cy="278129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A404A8B-2B5F-1055-60C3-06554EE2B187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5D1512-312B-2F75-B81C-827586750FF8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43655C-7D35-D126-133E-119F91419C72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706D59-1A60-60D4-5EE3-8832C813FF83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硬盘概览用 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KPI+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状态分布做库房驾驶舱，先看全局健康度，再下钻单盘业务。</a:t>
            </a:r>
          </a:p>
        </p:txBody>
      </p:sp>
    </p:spTree>
    <p:extLst>
      <p:ext uri="{BB962C8B-B14F-4D97-AF65-F5344CB8AC3E}">
        <p14:creationId xmlns:p14="http://schemas.microsoft.com/office/powerpoint/2010/main" val="19896913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1E53F-E54D-B092-D9F9-2D6F1A32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E33D7-CC25-7AC4-08A4-0EB3131FD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07" y="76200"/>
            <a:ext cx="4268208" cy="485544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批量登记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CC392A2-3D65-4B8E-156A-03B31B907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500" y="489698"/>
            <a:ext cx="5558816" cy="245681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F26BF4E-1AE8-69A9-EDC2-FF856FB1E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770" y="1718106"/>
            <a:ext cx="5410624" cy="281262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A6AC9E0-43E9-F04D-D93E-E2DAF07E0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031" y="2635127"/>
            <a:ext cx="3383686" cy="29122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8BD5E48-E5C8-58EE-2442-689801C53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293" y="3441620"/>
            <a:ext cx="1490208" cy="253398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97AAE94-FC7E-5D88-CB94-10A351ECA314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FB6112-0417-6424-AF8E-98E0F85F3E93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23D1A3-53F0-BE63-A8E2-90D38B1EC22D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D25ED6-A315-8F38-E2EF-4994304D6F6B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批量登记面向到货入库高峰，表格化采集编号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序列号，减少逐盘点选的重复劳动。</a:t>
            </a:r>
          </a:p>
        </p:txBody>
      </p:sp>
    </p:spTree>
    <p:extLst>
      <p:ext uri="{BB962C8B-B14F-4D97-AF65-F5344CB8AC3E}">
        <p14:creationId xmlns:p14="http://schemas.microsoft.com/office/powerpoint/2010/main" val="117058071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0D08-FA26-EB96-C8B9-B59F03C43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4492A-EA2A-295C-D3ED-FF05DC8E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9334" y="76200"/>
            <a:ext cx="4643115" cy="47280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交互式登记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44CB7D-3649-A110-CD7B-63383A29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442" y="528771"/>
            <a:ext cx="6755117" cy="544683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D971E9D-C074-378A-D004-83E38B1327A7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980380-18A3-B122-2339-DC44C6F7D475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E79F3C-FD0A-6881-1BBF-8C38F1F37019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3497B7-9E25-ADB5-7EB0-F647774290B1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交互式登记适合现场逐盘核验，边扫边确认，降低批量导入时的错号风险。</a:t>
            </a:r>
          </a:p>
        </p:txBody>
      </p:sp>
    </p:spTree>
    <p:extLst>
      <p:ext uri="{BB962C8B-B14F-4D97-AF65-F5344CB8AC3E}">
        <p14:creationId xmlns:p14="http://schemas.microsoft.com/office/powerpoint/2010/main" val="13577733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3D5B7-0636-5D29-582A-734F8A59A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22CE3-E482-CD72-645A-61519430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183" y="76200"/>
            <a:ext cx="4156186" cy="47280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批量登记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1BA1A28-AEB1-A292-DD47-B69836EEF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23" y="478845"/>
            <a:ext cx="5412920" cy="239233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2E208B1-D8DF-D2B5-0E5A-CE0779137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515" y="2001338"/>
            <a:ext cx="4598803" cy="239060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4CA4EAD-7534-D21A-AD7E-E3DABA3D3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413" y="3196642"/>
            <a:ext cx="2607007" cy="22438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39BBD5-0F23-A628-BD40-07964FE98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8359" y="4023320"/>
            <a:ext cx="1148118" cy="195228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641E09A-8B9B-9271-1F76-1E6169A8A8CF}"/>
              </a:ext>
            </a:extLst>
          </p:cNvPr>
          <p:cNvSpPr txBox="1"/>
          <p:nvPr/>
        </p:nvSpPr>
        <p:spPr>
          <a:xfrm>
            <a:off x="8017459" y="1138302"/>
            <a:ext cx="1160740" cy="320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硬盘参数表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D6B8FC-1933-EEE3-894C-98D85540732B}"/>
              </a:ext>
            </a:extLst>
          </p:cNvPr>
          <p:cNvSpPr txBox="1"/>
          <p:nvPr/>
        </p:nvSpPr>
        <p:spPr>
          <a:xfrm>
            <a:off x="8883351" y="2420709"/>
            <a:ext cx="1160740" cy="320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硬盘存放表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240D26-DA44-0FB6-BE04-7D47105D51B1}"/>
              </a:ext>
            </a:extLst>
          </p:cNvPr>
          <p:cNvSpPr txBox="1"/>
          <p:nvPr/>
        </p:nvSpPr>
        <p:spPr>
          <a:xfrm>
            <a:off x="9950537" y="3703116"/>
            <a:ext cx="1160740" cy="320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硬盘可视化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DB84AF38-F590-84C1-CC42-8487701D9242}"/>
              </a:ext>
            </a:extLst>
          </p:cNvPr>
          <p:cNvSpPr/>
          <p:nvPr/>
        </p:nvSpPr>
        <p:spPr>
          <a:xfrm>
            <a:off x="6782629" y="1153121"/>
            <a:ext cx="1160740" cy="32020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26874367-BC39-05F4-0DC4-FCEE809C810B}"/>
              </a:ext>
            </a:extLst>
          </p:cNvPr>
          <p:cNvSpPr/>
          <p:nvPr/>
        </p:nvSpPr>
        <p:spPr>
          <a:xfrm>
            <a:off x="7660381" y="2444142"/>
            <a:ext cx="1160740" cy="32020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51BF1AE9-DDF8-DC9C-DC06-BEF43E241D74}"/>
              </a:ext>
            </a:extLst>
          </p:cNvPr>
          <p:cNvSpPr/>
          <p:nvPr/>
        </p:nvSpPr>
        <p:spPr>
          <a:xfrm>
            <a:off x="8769079" y="3721606"/>
            <a:ext cx="1160740" cy="32020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DEBD62-220F-97CC-FB45-9A3B8EDEF5D1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898D60-ACF1-431E-B6AB-C5D0A79A0B5F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0F2942-4AD2-9E70-9D5E-B974A52ABC60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E84794-7548-C13A-5864-841287B7DD31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批量登记面向到货入库高峰，表格化采集编号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序列号，减少逐盘点选的重复劳动。</a:t>
            </a:r>
          </a:p>
        </p:txBody>
      </p:sp>
    </p:spTree>
    <p:extLst>
      <p:ext uri="{BB962C8B-B14F-4D97-AF65-F5344CB8AC3E}">
        <p14:creationId xmlns:p14="http://schemas.microsoft.com/office/powerpoint/2010/main" val="327948802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46C8-7F7B-A13E-C207-4323FDC5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1E1C3-4409-B2AF-40BC-01055E42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94" y="76200"/>
            <a:ext cx="4227099" cy="480868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出库申请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9663AF-4CF4-44A4-C122-0B679E5CC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796" y="742587"/>
            <a:ext cx="5537097" cy="33808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6B6521-7C7C-C2DA-2603-EAD4D04B1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662" y="1253774"/>
            <a:ext cx="2886543" cy="397800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B7030AB-C4B1-EBCC-2C4D-B9B6413EF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1291" y="3809600"/>
            <a:ext cx="2931204" cy="216600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21522C9-C2EB-213A-C006-6DFCFC00305B}"/>
              </a:ext>
            </a:extLst>
          </p:cNvPr>
          <p:cNvSpPr txBox="1"/>
          <p:nvPr/>
        </p:nvSpPr>
        <p:spPr>
          <a:xfrm>
            <a:off x="7423012" y="742588"/>
            <a:ext cx="1791170" cy="3256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线上填写申请信息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2D1BFC-932B-DFC0-2B7F-FDB3AE5EA541}"/>
              </a:ext>
            </a:extLst>
          </p:cNvPr>
          <p:cNvSpPr txBox="1"/>
          <p:nvPr/>
        </p:nvSpPr>
        <p:spPr>
          <a:xfrm>
            <a:off x="5715107" y="2889822"/>
            <a:ext cx="2401797" cy="3256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申请信息打印、线下签批</a:t>
            </a:r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C3EA8ED6-1D77-6EF2-6A5E-F3100FBAC56A}"/>
              </a:ext>
            </a:extLst>
          </p:cNvPr>
          <p:cNvSpPr/>
          <p:nvPr/>
        </p:nvSpPr>
        <p:spPr>
          <a:xfrm>
            <a:off x="6765334" y="698196"/>
            <a:ext cx="580230" cy="41445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AD09A7C0-A5B9-F2C5-2214-B27E6E79E660}"/>
              </a:ext>
            </a:extLst>
          </p:cNvPr>
          <p:cNvSpPr/>
          <p:nvPr/>
        </p:nvSpPr>
        <p:spPr>
          <a:xfrm rot="10800000">
            <a:off x="8235102" y="2876693"/>
            <a:ext cx="580230" cy="48086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4679D41-7923-1825-ABBE-2D5E4591F515}"/>
              </a:ext>
            </a:extLst>
          </p:cNvPr>
          <p:cNvSpPr txBox="1"/>
          <p:nvPr/>
        </p:nvSpPr>
        <p:spPr>
          <a:xfrm>
            <a:off x="2966762" y="4729769"/>
            <a:ext cx="977002" cy="3256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状态同步</a:t>
            </a:r>
          </a:p>
        </p:txBody>
      </p:sp>
      <p:sp>
        <p:nvSpPr>
          <p:cNvPr id="20" name="箭头: 左 19">
            <a:extLst>
              <a:ext uri="{FF2B5EF4-FFF2-40B4-BE49-F238E27FC236}">
                <a16:creationId xmlns:a16="http://schemas.microsoft.com/office/drawing/2014/main" id="{E9280616-EF8C-9E09-BD3F-6914089C81F5}"/>
              </a:ext>
            </a:extLst>
          </p:cNvPr>
          <p:cNvSpPr/>
          <p:nvPr/>
        </p:nvSpPr>
        <p:spPr>
          <a:xfrm rot="10800000">
            <a:off x="4229915" y="4740945"/>
            <a:ext cx="580230" cy="41445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8B5599-8CF4-C78C-1546-FA001BED4541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9AFE8A-B2A7-E2C0-7D6D-FD1EAF130724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161605-121C-EE5C-FD0D-8692ABFBD7C0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A2E37B-D20C-6440-2A65-B29CE60ADF7B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硬盘出库独立成单，可关联资料业务；去向类别与是否归还决定后续催还与台账状态。</a:t>
            </a:r>
          </a:p>
        </p:txBody>
      </p:sp>
    </p:spTree>
    <p:extLst>
      <p:ext uri="{BB962C8B-B14F-4D97-AF65-F5344CB8AC3E}">
        <p14:creationId xmlns:p14="http://schemas.microsoft.com/office/powerpoint/2010/main" val="166357724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1D44-6065-6313-E41B-AD24B2B6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28E75-2BA0-B2B8-F975-F133F15C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570" y="76200"/>
            <a:ext cx="5218730" cy="50269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出库申请的待办事项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9A0D065-CA22-B161-B52A-8C9133B44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230" y="797413"/>
            <a:ext cx="8794523" cy="517819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FE09237-7024-80A3-F25A-B0D8D1DA8A19}"/>
              </a:ext>
            </a:extLst>
          </p:cNvPr>
          <p:cNvSpPr txBox="1"/>
          <p:nvPr/>
        </p:nvSpPr>
        <p:spPr>
          <a:xfrm>
            <a:off x="9336871" y="3017515"/>
            <a:ext cx="1446900" cy="3404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待办提醒机制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C9DC1B7F-29AB-0D7D-093F-A34054DE0688}"/>
              </a:ext>
            </a:extLst>
          </p:cNvPr>
          <p:cNvSpPr/>
          <p:nvPr/>
        </p:nvSpPr>
        <p:spPr>
          <a:xfrm rot="16200000">
            <a:off x="9189751" y="3867424"/>
            <a:ext cx="1099522" cy="41622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343BDF53-AB0F-2D1A-FAC8-44A0147FE2EA}"/>
              </a:ext>
            </a:extLst>
          </p:cNvPr>
          <p:cNvSpPr/>
          <p:nvPr/>
        </p:nvSpPr>
        <p:spPr>
          <a:xfrm>
            <a:off x="9917892" y="967771"/>
            <a:ext cx="284861" cy="193785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9B65FB-0A7E-ED6B-9428-131385FF4E55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AD3895-5545-9152-5948-2F7AB9A57F53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52A9E9-5321-ED69-A600-1FE21E7956DC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E2FBD4-CE66-2048-AD74-6E13DD332FB6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出库待办接入统一待办中心，审批人与资料室同一入口处理，避免「业务办了、待办还挂着」。</a:t>
            </a:r>
          </a:p>
        </p:txBody>
      </p:sp>
    </p:spTree>
    <p:extLst>
      <p:ext uri="{BB962C8B-B14F-4D97-AF65-F5344CB8AC3E}">
        <p14:creationId xmlns:p14="http://schemas.microsoft.com/office/powerpoint/2010/main" val="310541122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992B1-C09D-ACAE-2999-2058FC481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A66AA-1721-14D6-C4F7-29C533F8B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27" y="76200"/>
            <a:ext cx="4498593" cy="482352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出库办理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384736-01D5-A25F-E6BD-5653F22E6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822" y="558552"/>
            <a:ext cx="8982356" cy="541705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EDF116B-EA1A-5AAF-096F-4EA620D4512E}"/>
              </a:ext>
            </a:extLst>
          </p:cNvPr>
          <p:cNvSpPr txBox="1"/>
          <p:nvPr/>
        </p:nvSpPr>
        <p:spPr>
          <a:xfrm>
            <a:off x="3188137" y="3057323"/>
            <a:ext cx="1184188" cy="10616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确认审批、</a:t>
            </a:r>
            <a:endParaRPr lang="en-US" altLang="zh-CN" dirty="0"/>
          </a:p>
          <a:p>
            <a:r>
              <a:rPr lang="zh-CN" altLang="en-US" dirty="0"/>
              <a:t>签字交接、</a:t>
            </a:r>
            <a:endParaRPr lang="en-US" altLang="zh-CN" dirty="0"/>
          </a:p>
          <a:p>
            <a:r>
              <a:rPr lang="zh-CN" altLang="en-US" dirty="0"/>
              <a:t>上传附件、</a:t>
            </a:r>
            <a:endParaRPr lang="en-US" altLang="zh-CN" dirty="0"/>
          </a:p>
          <a:p>
            <a:r>
              <a:rPr lang="zh-CN" altLang="en-US" dirty="0"/>
              <a:t>确认办结</a:t>
            </a:r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1092B835-8A45-AD68-C704-08B9F83CA36B}"/>
              </a:ext>
            </a:extLst>
          </p:cNvPr>
          <p:cNvSpPr/>
          <p:nvPr/>
        </p:nvSpPr>
        <p:spPr>
          <a:xfrm rot="10800000">
            <a:off x="4536996" y="3367573"/>
            <a:ext cx="1260997" cy="59713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A002D9-F65E-7A6C-66C4-B1BE9E85E6CB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B6714C-A655-4A1B-9AE7-E720A68B299A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51DAB7-136D-BC02-AEB0-E448DC7BE528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7F459E-9D27-B421-EA13-2AE7737F6CD8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办理侧重实物交接与状态切换；打印、签字、上传、办结分步确认，防止跳步导致账实漂移。</a:t>
            </a:r>
          </a:p>
        </p:txBody>
      </p:sp>
    </p:spTree>
    <p:extLst>
      <p:ext uri="{BB962C8B-B14F-4D97-AF65-F5344CB8AC3E}">
        <p14:creationId xmlns:p14="http://schemas.microsoft.com/office/powerpoint/2010/main" val="207307555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AF040-F589-6670-27B4-6CCF2153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927DE-C06E-EEA7-65A3-17F5B13C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7618" y="76200"/>
            <a:ext cx="4880492" cy="5233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出库办理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46333D-33C3-73C3-7744-9369F296E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84" y="2018169"/>
            <a:ext cx="5255607" cy="39326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2C1F199-732D-83BB-A8E7-C2A1A7ACE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669" y="2456891"/>
            <a:ext cx="1984688" cy="28623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B4487C4-6958-ED74-0F0E-58C1C3EB3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80" y="679751"/>
            <a:ext cx="11699240" cy="107030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8254AFD-F1D0-5383-396A-1A80694DE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0210" y="3451708"/>
            <a:ext cx="1929329" cy="249914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5D195E2-437C-93DB-68DC-9EC05BE6F3F5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3455DF-43DA-3021-5BF9-C6C48D66D7B8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66D3FE-4344-CC8B-D889-FF745642E139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FF43D4-7425-9B5A-3F9B-21DAEC5829D6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办理侧重实物交接与状态切换；打印、签字、上传、办结分步确认，防止跳步导致账实漂移。</a:t>
            </a:r>
          </a:p>
        </p:txBody>
      </p:sp>
    </p:spTree>
    <p:extLst>
      <p:ext uri="{BB962C8B-B14F-4D97-AF65-F5344CB8AC3E}">
        <p14:creationId xmlns:p14="http://schemas.microsoft.com/office/powerpoint/2010/main" val="368984210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31E5-A939-4408-53F9-DE16E99E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98A63-5F16-3325-0547-FEF59F46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3407" y="76200"/>
            <a:ext cx="5112861" cy="48170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出库申请及办理业务流程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1D9B0B-ECD0-FB23-8D43-3A1D9BEF05C5}"/>
              </a:ext>
            </a:extLst>
          </p:cNvPr>
          <p:cNvSpPr/>
          <p:nvPr/>
        </p:nvSpPr>
        <p:spPr>
          <a:xfrm>
            <a:off x="1006838" y="631194"/>
            <a:ext cx="2069712" cy="6201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线上申请、打印输出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7A5292-6E8C-C371-90C4-EF973DE63905}"/>
              </a:ext>
            </a:extLst>
          </p:cNvPr>
          <p:cNvSpPr/>
          <p:nvPr/>
        </p:nvSpPr>
        <p:spPr>
          <a:xfrm>
            <a:off x="2151069" y="1324679"/>
            <a:ext cx="2069712" cy="6201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线下审批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69AF5A-4095-3CC1-3A23-22DDF0F0BEE0}"/>
              </a:ext>
            </a:extLst>
          </p:cNvPr>
          <p:cNvSpPr/>
          <p:nvPr/>
        </p:nvSpPr>
        <p:spPr>
          <a:xfrm>
            <a:off x="3458416" y="1986852"/>
            <a:ext cx="2069712" cy="6201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审批确认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5369FF-27F6-0D22-F650-D2974BFF0E3E}"/>
              </a:ext>
            </a:extLst>
          </p:cNvPr>
          <p:cNvSpPr/>
          <p:nvPr/>
        </p:nvSpPr>
        <p:spPr>
          <a:xfrm>
            <a:off x="4725587" y="2649026"/>
            <a:ext cx="2069712" cy="6201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实物交接</a:t>
            </a:r>
            <a:endParaRPr lang="en-US" altLang="zh-CN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87CFC8-EB8C-04EF-364B-79CF57F0E5FB}"/>
              </a:ext>
            </a:extLst>
          </p:cNvPr>
          <p:cNvSpPr/>
          <p:nvPr/>
        </p:nvSpPr>
        <p:spPr>
          <a:xfrm>
            <a:off x="5919669" y="3326601"/>
            <a:ext cx="2069712" cy="6201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交接签字</a:t>
            </a:r>
            <a:endParaRPr lang="en-US" altLang="zh-CN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2B075D-39B7-AE28-B431-DDB2AA538A49}"/>
              </a:ext>
            </a:extLst>
          </p:cNvPr>
          <p:cNvSpPr/>
          <p:nvPr/>
        </p:nvSpPr>
        <p:spPr>
          <a:xfrm>
            <a:off x="7045739" y="3980763"/>
            <a:ext cx="2069712" cy="6201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附件上传</a:t>
            </a:r>
            <a:endParaRPr lang="en-US" altLang="zh-CN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FACCBA-B9B0-C261-4A3B-8137C6D78858}"/>
              </a:ext>
            </a:extLst>
          </p:cNvPr>
          <p:cNvSpPr/>
          <p:nvPr/>
        </p:nvSpPr>
        <p:spPr>
          <a:xfrm>
            <a:off x="8080594" y="4640541"/>
            <a:ext cx="2069712" cy="6201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确认办结</a:t>
            </a:r>
            <a:endParaRPr lang="en-US" altLang="zh-CN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E5D92D-F8B8-37EA-105B-D591E99008F2}"/>
              </a:ext>
            </a:extLst>
          </p:cNvPr>
          <p:cNvSpPr/>
          <p:nvPr/>
        </p:nvSpPr>
        <p:spPr>
          <a:xfrm>
            <a:off x="9115451" y="5355412"/>
            <a:ext cx="2069712" cy="6201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附件增补</a:t>
            </a:r>
            <a:endParaRPr lang="en-US" altLang="zh-CN" dirty="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9C75C95C-CFB0-C2D7-3E91-CD60639D929E}"/>
              </a:ext>
            </a:extLst>
          </p:cNvPr>
          <p:cNvSpPr/>
          <p:nvPr/>
        </p:nvSpPr>
        <p:spPr>
          <a:xfrm>
            <a:off x="1064532" y="3446700"/>
            <a:ext cx="3288461" cy="115425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CC87F0-51E9-239C-387F-248B14CFE16F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642BCB-5BFC-3356-DB78-1E2275C9D555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448D4F-B833-9CFB-430E-CD7FEB83071A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E5FD4F-079E-D62B-0E8B-EE1AB8517C91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流程页把线上申请与线下签批、交接、附件、办结画成一条链，统一培训口径与内控检查点。</a:t>
            </a:r>
          </a:p>
        </p:txBody>
      </p:sp>
    </p:spTree>
    <p:extLst>
      <p:ext uri="{BB962C8B-B14F-4D97-AF65-F5344CB8AC3E}">
        <p14:creationId xmlns:p14="http://schemas.microsoft.com/office/powerpoint/2010/main" val="368452623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D1FD9-F5D2-D75B-1E6D-4DF3A522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F6F0C-8C39-A33F-D378-4A1ED3CF8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256" y="76200"/>
            <a:ext cx="7064594" cy="484403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出库业务对应的数据库同步更新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91E375-1316-CD48-B680-0D20572B4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28" y="608511"/>
            <a:ext cx="5560805" cy="13541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6792DD-C0B9-58D3-E04C-2881B6D08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492" y="2252781"/>
            <a:ext cx="9212382" cy="77043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A5B75F-9E4F-9F0A-EABF-61725EB54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636" y="3229024"/>
            <a:ext cx="2821936" cy="2746581"/>
          </a:xfrm>
          <a:prstGeom prst="rect">
            <a:avLst/>
          </a:prstGeom>
        </p:spPr>
      </p:pic>
      <p:sp>
        <p:nvSpPr>
          <p:cNvPr id="12" name="箭头: 圆角右 11">
            <a:extLst>
              <a:ext uri="{FF2B5EF4-FFF2-40B4-BE49-F238E27FC236}">
                <a16:creationId xmlns:a16="http://schemas.microsoft.com/office/drawing/2014/main" id="{36C28640-85E7-BAC2-71E5-72C6F2A7F990}"/>
              </a:ext>
            </a:extLst>
          </p:cNvPr>
          <p:cNvSpPr/>
          <p:nvPr/>
        </p:nvSpPr>
        <p:spPr>
          <a:xfrm rot="10800000">
            <a:off x="3895191" y="3196586"/>
            <a:ext cx="585207" cy="68297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972945A-A67F-2629-ED1E-1DDD74901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017" y="3391172"/>
            <a:ext cx="2946647" cy="2296921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07AAF62A-7417-6602-B88A-7CD4836DD017}"/>
              </a:ext>
            </a:extLst>
          </p:cNvPr>
          <p:cNvSpPr/>
          <p:nvPr/>
        </p:nvSpPr>
        <p:spPr>
          <a:xfrm rot="10800000">
            <a:off x="8199829" y="5092210"/>
            <a:ext cx="725970" cy="3090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697E598-D180-0278-A34F-DE292F7AD5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4472" y="4435177"/>
            <a:ext cx="2194684" cy="125291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23E130A-EA11-BDAA-785E-86B49AC2B0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3936" y="961432"/>
            <a:ext cx="3997938" cy="217387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05B9847-DD09-04F5-2023-EE8AC331E689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50C9F7-AB2A-5C22-23FA-06684AC6B4A6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C73CF1-E814-C3C8-964B-FC8DBF632D3A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9DB3F6-FDF6-4F8A-884F-FE4AD1F5923E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强调「界面操作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=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多表一致性更新」：介质状态、位置、流水、锁同一事务落地，杜绝半成功。</a:t>
            </a:r>
          </a:p>
        </p:txBody>
      </p:sp>
    </p:spTree>
    <p:extLst>
      <p:ext uri="{BB962C8B-B14F-4D97-AF65-F5344CB8AC3E}">
        <p14:creationId xmlns:p14="http://schemas.microsoft.com/office/powerpoint/2010/main" val="53357419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6D102-315F-5467-7DAF-C3F3D816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85458-D1BD-FFB2-30B7-0B2B7AF56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109" y="76200"/>
            <a:ext cx="4454008" cy="37176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058DC7-E0CB-6192-7255-BD67E7D5C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643" y="554005"/>
            <a:ext cx="7276240" cy="39564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FDA04F-55B0-61BB-48A6-679D82F6D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611" y="2901824"/>
            <a:ext cx="1467674" cy="1039062"/>
          </a:xfrm>
          <a:prstGeom prst="rect">
            <a:avLst/>
          </a:prstGeom>
        </p:spPr>
      </p:pic>
      <p:sp>
        <p:nvSpPr>
          <p:cNvPr id="8" name="箭头: 下 7">
            <a:extLst>
              <a:ext uri="{FF2B5EF4-FFF2-40B4-BE49-F238E27FC236}">
                <a16:creationId xmlns:a16="http://schemas.microsoft.com/office/drawing/2014/main" id="{4E116C54-944B-92BF-2D1E-6677EC3949C8}"/>
              </a:ext>
            </a:extLst>
          </p:cNvPr>
          <p:cNvSpPr/>
          <p:nvPr/>
        </p:nvSpPr>
        <p:spPr>
          <a:xfrm>
            <a:off x="5655611" y="2472443"/>
            <a:ext cx="340177" cy="4702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1B7E362-AD8F-4148-B5CA-5F882D862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5429" y="3629853"/>
            <a:ext cx="1691575" cy="233756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18F75FA-400D-4003-1A57-2F3882A3B465}"/>
              </a:ext>
            </a:extLst>
          </p:cNvPr>
          <p:cNvSpPr txBox="1"/>
          <p:nvPr/>
        </p:nvSpPr>
        <p:spPr>
          <a:xfrm>
            <a:off x="3471777" y="4798634"/>
            <a:ext cx="2353922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归还人填写归还信息、</a:t>
            </a:r>
            <a:endParaRPr lang="en-US" altLang="zh-CN" dirty="0"/>
          </a:p>
          <a:p>
            <a:r>
              <a:rPr lang="zh-CN" altLang="en-US" dirty="0"/>
              <a:t>打印归还单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75FF9C92-A30C-F778-FF06-6C90C39B77BB}"/>
              </a:ext>
            </a:extLst>
          </p:cNvPr>
          <p:cNvSpPr/>
          <p:nvPr/>
        </p:nvSpPr>
        <p:spPr>
          <a:xfrm rot="7006408">
            <a:off x="3253209" y="3175056"/>
            <a:ext cx="2912384" cy="28104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046651B7-CF38-8559-FEAE-02F273109916}"/>
              </a:ext>
            </a:extLst>
          </p:cNvPr>
          <p:cNvSpPr/>
          <p:nvPr/>
        </p:nvSpPr>
        <p:spPr>
          <a:xfrm rot="5086196">
            <a:off x="6892452" y="3482220"/>
            <a:ext cx="252222" cy="332692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87FB9-F002-A751-9DBB-DA50DFBFC029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0C995-5BBF-3948-5782-D1EA7FB7842A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46CFC9-A105-F372-8B93-06C343C576B9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4E5CA7-9775-EEB0-012D-A593A26447E1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归还申请与出库对称设计，明确归还目标空白档口，保证盘回到正确格位而非「随手一搁」。</a:t>
            </a:r>
          </a:p>
        </p:txBody>
      </p:sp>
    </p:spTree>
    <p:extLst>
      <p:ext uri="{BB962C8B-B14F-4D97-AF65-F5344CB8AC3E}">
        <p14:creationId xmlns:p14="http://schemas.microsoft.com/office/powerpoint/2010/main" val="10226326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CF057-5A97-BC73-A0AE-6E1A0AC2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FE3B4-2526-413B-A7D7-335547E1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803" y="76200"/>
            <a:ext cx="4541764" cy="48698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归还办理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42F7515-5C8B-F4C1-B1A7-ADDC36B7A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710" y="563181"/>
            <a:ext cx="4480156" cy="236478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93ABAE5-505C-5C5A-8349-919CAA909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907" y="3055359"/>
            <a:ext cx="8382827" cy="87824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067A36F-0729-7FF9-DA95-DF2A980EF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320" y="4089596"/>
            <a:ext cx="5014971" cy="181562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68A994E-B972-9322-AFA8-8A95B7AFA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194" y="4159978"/>
            <a:ext cx="3509451" cy="181562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8D479C7-0064-4E1F-FBC0-7CAB16D30B34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AD7200-9594-3E2A-9CAF-E321D0DFD07F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C32C55-76C9-0775-C0EE-92BF2005054E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23D6EC-66A9-6C71-69F7-10A110FD20B9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归还办理核验盘号与状态后释放占用，流水留痕，闭环「借出必有归」的管理预期。</a:t>
            </a:r>
          </a:p>
        </p:txBody>
      </p:sp>
    </p:spTree>
    <p:extLst>
      <p:ext uri="{BB962C8B-B14F-4D97-AF65-F5344CB8AC3E}">
        <p14:creationId xmlns:p14="http://schemas.microsoft.com/office/powerpoint/2010/main" val="21352335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07D2-7E9E-BA0A-28A5-60C58AAD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A5FF4F4-F63B-4704-B41A-8BDA58942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792" y="538326"/>
            <a:ext cx="9999593" cy="543727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5667F3E-4733-FFE9-0563-84468E44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373" y="76200"/>
            <a:ext cx="4444441" cy="476545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盘库登记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6E7E5F-875F-3621-CF50-5AB3D04B8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722" y="1916997"/>
            <a:ext cx="5596847" cy="383662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7FB841-90D4-512C-DEDD-F58C3DACFF13}"/>
              </a:ext>
            </a:extLst>
          </p:cNvPr>
          <p:cNvSpPr txBox="1"/>
          <p:nvPr/>
        </p:nvSpPr>
        <p:spPr>
          <a:xfrm>
            <a:off x="10014641" y="2385791"/>
            <a:ext cx="1316673" cy="923330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损坏登记、</a:t>
            </a:r>
            <a:endParaRPr lang="en-US" altLang="zh-CN" dirty="0"/>
          </a:p>
          <a:p>
            <a:r>
              <a:rPr lang="zh-CN" altLang="en-US" dirty="0"/>
              <a:t>盘失登记、</a:t>
            </a:r>
            <a:endParaRPr lang="en-US" altLang="zh-CN" dirty="0"/>
          </a:p>
          <a:p>
            <a:r>
              <a:rPr lang="zh-CN" altLang="en-US" dirty="0"/>
              <a:t>拟销登记</a:t>
            </a:r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453A3703-12DF-9C44-5B6E-23D7F687C899}"/>
              </a:ext>
            </a:extLst>
          </p:cNvPr>
          <p:cNvSpPr/>
          <p:nvPr/>
        </p:nvSpPr>
        <p:spPr>
          <a:xfrm rot="19943028">
            <a:off x="8769472" y="2953227"/>
            <a:ext cx="1162250" cy="41970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E86C0C-9805-22E5-D9DD-DEBDFFC8DE3B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75ACF2-35A2-DF08-9757-B3EB206AF2A0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0332ED-C198-6846-FDF7-96B937A2FB11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184CAF-F552-9FED-E008-B482FE00FF22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硬盘盘库支持损坏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丢失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正常等登记类型，差异先入盘库单，再决定迁档或离库，流程可审。</a:t>
            </a:r>
          </a:p>
        </p:txBody>
      </p:sp>
    </p:spTree>
    <p:extLst>
      <p:ext uri="{BB962C8B-B14F-4D97-AF65-F5344CB8AC3E}">
        <p14:creationId xmlns:p14="http://schemas.microsoft.com/office/powerpoint/2010/main" val="6110818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B8AFE-76B1-7AF6-36EA-D9FCDEBA2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5044BF6-E53F-C681-48CF-F1193239C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205" y="538326"/>
            <a:ext cx="9999593" cy="543727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99334A9-D4C0-7924-A33E-30B21184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7786" y="76200"/>
            <a:ext cx="4444441" cy="476545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离库处置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97C9F3-6E94-0205-41EA-865792B40AE3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132DEF-3203-B91E-2D16-4B2056F8062F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D01BCD-BD50-22A8-D16F-2BF5760B1A62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618064-887A-6637-F6DE-DC4B82F8D654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硬盘离库走正式处置单，照片与签批齐备后才变更介质生命周期，满足资产与保密双重要求。</a:t>
            </a:r>
          </a:p>
        </p:txBody>
      </p:sp>
    </p:spTree>
    <p:extLst>
      <p:ext uri="{BB962C8B-B14F-4D97-AF65-F5344CB8AC3E}">
        <p14:creationId xmlns:p14="http://schemas.microsoft.com/office/powerpoint/2010/main" val="169342144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D6668-4D4A-00C4-BAE9-7ED529AA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740B611-C23A-9107-18F8-444FBF007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63" y="552745"/>
            <a:ext cx="9973074" cy="542285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F7803FE-1C54-299B-D3C1-5CED2709B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391" y="76200"/>
            <a:ext cx="4444442" cy="476546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离库登记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312A75-687C-E562-0EC4-135EA7872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463" y="1827575"/>
            <a:ext cx="5964552" cy="408868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1228ABB-2ED5-A2D3-0991-9BF4583C2D19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546714-D69D-A7CB-D922-93E647AF4C11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2B0FD8-DF6E-37CE-2B39-FDD844328083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7DBFDE-1486-1C4E-9E6B-DF948B89F4AA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离库登记固化处置前状态与位置快照，事后可回答「当时盘在哪、什么状态被处置」。</a:t>
            </a:r>
          </a:p>
        </p:txBody>
      </p:sp>
    </p:spTree>
    <p:extLst>
      <p:ext uri="{BB962C8B-B14F-4D97-AF65-F5344CB8AC3E}">
        <p14:creationId xmlns:p14="http://schemas.microsoft.com/office/powerpoint/2010/main" val="79023535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CA9A1-C9A0-A1BC-70E3-59880076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69453-4222-8657-A44B-D1219F85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460" y="76200"/>
            <a:ext cx="4984333" cy="534434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6D9AFD-48AD-DB54-7B31-DD699AA89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209" y="1289435"/>
            <a:ext cx="2109891" cy="465856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FCAF41B-64AB-90A2-4D9A-3774205C8224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F248C6-1D09-96D2-49D2-6E821342C773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A5DA4E-EE06-3F91-8E92-B0639738B13E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BAE8D3-D597-25DD-CF8F-83766EA4E535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硬盘域覆盖登记→出库→归还→盘库→离库全寿命，与资料立档用盘、出网带盘场景衔接。</a:t>
            </a:r>
          </a:p>
        </p:txBody>
      </p:sp>
    </p:spTree>
    <p:extLst>
      <p:ext uri="{BB962C8B-B14F-4D97-AF65-F5344CB8AC3E}">
        <p14:creationId xmlns:p14="http://schemas.microsoft.com/office/powerpoint/2010/main" val="380307085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4688-AB73-0543-D45F-CDB65A83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E00B84-2C62-EE1D-2927-5B14E6D5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295" y="76200"/>
            <a:ext cx="4560403" cy="488979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光盘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760901-3B27-2422-52E5-14837CA09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46" y="767713"/>
            <a:ext cx="5859498" cy="31861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E34C2F-2B07-6E20-DB9B-889F2933E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518" y="2228930"/>
            <a:ext cx="6890436" cy="374667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4B741E7-4452-635F-B239-AB8E0B32EA79}"/>
              </a:ext>
            </a:extLst>
          </p:cNvPr>
          <p:cNvSpPr/>
          <p:nvPr/>
        </p:nvSpPr>
        <p:spPr>
          <a:xfrm>
            <a:off x="0" y="6121400"/>
            <a:ext cx="12192000" cy="7366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9E3208-23C4-F084-2FD1-9F7C5E3F15B9}"/>
              </a:ext>
            </a:extLst>
          </p:cNvPr>
          <p:cNvSpPr/>
          <p:nvPr/>
        </p:nvSpPr>
        <p:spPr>
          <a:xfrm>
            <a:off x="0" y="6121400"/>
            <a:ext cx="12192000" cy="381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6FB1B2-9230-70A6-D8FE-77606285E373}"/>
              </a:ext>
            </a:extLst>
          </p:cNvPr>
          <p:cNvSpPr/>
          <p:nvPr/>
        </p:nvSpPr>
        <p:spPr>
          <a:xfrm>
            <a:off x="0" y="6159500"/>
            <a:ext cx="990600" cy="6985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01600" rIns="508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</a:t>
            </a:r>
          </a:p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6ADECA-5201-7105-6D20-7A027EBED59D}"/>
              </a:ext>
            </a:extLst>
          </p:cNvPr>
          <p:cNvSpPr txBox="1"/>
          <p:nvPr/>
        </p:nvSpPr>
        <p:spPr>
          <a:xfrm>
            <a:off x="1117600" y="6223000"/>
            <a:ext cx="10896600" cy="27699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光盘以台账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</a:rPr>
              <a:t>流转流水管理，随电子立档关联；体量小于硬盘但同样要求位置与状态可查。</a:t>
            </a:r>
          </a:p>
        </p:txBody>
      </p:sp>
    </p:spTree>
    <p:extLst>
      <p:ext uri="{BB962C8B-B14F-4D97-AF65-F5344CB8AC3E}">
        <p14:creationId xmlns:p14="http://schemas.microsoft.com/office/powerpoint/2010/main" val="56865663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785007-C2ED-6B0C-F941-6AFBCEB6FD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F5044C-DF50-FAC7-60DB-589A4ECB81C5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8E60B6-178C-A76C-FC3C-AAB11996BB02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第五部分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063517-0D72-6B71-3682-7BEBFDBA366B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内控治理与部署运维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B0AF9A-8D2A-100D-37DB-FB223AA52935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审批规则、待办驱动、用户权限与操作审计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内网桌面部署、备份还原、内置操作手册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FEF333-C7AD-8FB1-6796-07AE5FC4A897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189018516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六、内控治理能力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审批规则可配置：部门负责人、资料室、生产科、分管领导等节点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打印审批单/交接单；办结前签字栏留白，办结后可预填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附件：签批扫描、资料/处置/硬盘照片；支持高拍仪直拍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待办角标/弹窗/总览驱动办理；逾期设置可配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数据库操作日志、在线用户与登录记录，满足审计与运维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42/50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EE5DC-A8F2-8C66-2070-7253D043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个人设置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4231332-5976-8532-B76E-DBEBAA974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281" y="943584"/>
            <a:ext cx="3690621" cy="51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4693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6EAF8-FD5D-8684-19A6-B84B77D8B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0CF3C-B71B-62D2-CDD7-B43D7FEC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用户管理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DAC0A21-3921-2A5D-9807-20839BE00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635" y="1139848"/>
            <a:ext cx="7087833" cy="502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1206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4AFA8-A460-F5E0-EEC3-EE3B3866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8BB72-311D-AF12-0809-54EA39BF3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部门设置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4C961F-7E37-92C9-DD0A-C36094610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723" y="943583"/>
            <a:ext cx="6916366" cy="554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2693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C03B-8002-CAF9-4783-D52C3D6F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2E5C70-92D9-0A99-4A23-3F7EE09A4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角色概览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23F6E5-E2E3-735F-6DE7-D9CECE1E6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39" y="1439694"/>
            <a:ext cx="11655646" cy="472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1378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F256E-7D60-1EA8-2D2A-CE3E370C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9FC81-64F6-A599-6EF0-84EFD254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审核审批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A1CA94-5050-FC8B-6542-6D4EDC3D7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540" y="1036745"/>
            <a:ext cx="9625336" cy="56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8967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58CDA-AD30-4D78-F65F-955E94A4B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6D4B6-B620-78CE-98C6-491F5575D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服务器路径设置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A9DE20-9382-32E7-D825-FADA08EBC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559" y="773007"/>
            <a:ext cx="4842754" cy="593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2086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A25DC-2FB8-4974-6E30-C7CAFBA76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A994D-446A-20B8-6373-13F1FBE8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服务器路径设置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084CC3-46A0-DA06-66A4-7B6FF16B7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756" y="1482741"/>
            <a:ext cx="10012172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7534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3E584-63EF-6357-9DE4-3D0295712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366B8-4EE6-06BD-9DC4-9AFF5DB47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数据库操作日志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56C387-E535-61EC-8AA2-41A52B4F2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6686"/>
            <a:ext cx="12192000" cy="244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2934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0536E-C2EB-69DB-65D1-B5D5DC8F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E23E1-9BC9-0ACC-7C81-BAF09C14D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在线用户与登录记录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4502D3-73B9-49A7-BC39-5C26EFDD0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662" y="1538058"/>
            <a:ext cx="10031225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244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20728-898F-CC95-A94A-48FED434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A0B7E-3F30-3134-31A7-1B034722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待办事项总览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861031-F595-6171-D1D0-008E940B0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78" y="943584"/>
            <a:ext cx="8192643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2453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93662-9E7B-6DD0-FA59-214E52581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67ED0-BE3C-1599-E1B8-DAEEFA88F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高级数据管理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148687-607D-9ED8-2977-426354249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340913"/>
            <a:ext cx="11353800" cy="45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1176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部署与运维方式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形态：Windows 桌面客户端（WPF），非互联网公开系统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数据：内网数据库多终端共用；升级前全员退出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升级：只换程序文件，不覆盖业务库；支持自动迁移前备份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交付：覆盖发布脚本 / 自包含安装包 / 可选安装向导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运维：高级数据管理备份还原；操作手册内置（版本与库路径可见）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46/50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54763-EDA0-038F-B0F2-8F8B2120E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DC48E-FC63-38C4-65FB-9A0B5170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操作手册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7BF5013-E76D-BAA0-869B-4087DA50F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683" y="943584"/>
            <a:ext cx="9900592" cy="57222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B19AD45-DEC6-F644-8995-B29BE9C51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0933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E0B9-B3A3-8E18-2324-B05A2A5D3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F81EF-D541-4E9A-E7C1-98DE8A63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操作手册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8B3DB9-2F03-ECC5-8513-4D0D6F7BE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48512"/>
            <a:ext cx="5590974" cy="43691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589465D-F57F-75CD-F9EE-CBDE49D70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027" y="1228701"/>
            <a:ext cx="6481884" cy="418891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9EF56D-A27B-D991-D561-4345406D0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598" y="1404666"/>
            <a:ext cx="5856514" cy="440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1111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583A3A-7C51-BD6B-ED30-C06555B00A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FA0875-2A62-4D73-C84E-2BB196A84E45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C4FB1B-DD8F-E15B-E629-59CD8BE841C5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第六部分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AA7E4D-1BDE-8B29-F322-DE51E56A06C2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建设成效与请示事项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5D2E34-D5BD-05A2-3365-3ED8FB7EED83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闭环能力、内控留痕、角色分离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下一步计划与需领导审定事项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627FB5-A1C9-1B46-6DC1-C090DEE10FAB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70732647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建设成效（可按试运行数据再充实）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业务闭环已覆盖：建档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立档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借还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出入网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盘库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—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离库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历史存档、柜体档口、硬盘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/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光盘与年度资料同一工作台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审批、打印、附件、待办、日志齐全，满足内控与迎检留痕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角色权限清晰：申请侧与资料室办理侧分离，减少越权代办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试运行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资料室、航测外业室</a:t>
            </a:r>
            <a:r>
              <a:rPr lang="zh-CN" altLang="en-US" sz="1800" b="0" dirty="0">
                <a:solidFill>
                  <a:srgbClr val="C45C26"/>
                </a:solidFill>
                <a:latin typeface="Microsoft YaHei"/>
              </a:rPr>
              <a:t>等</a:t>
            </a:r>
            <a:endParaRPr sz="1800" b="0" dirty="0">
              <a:solidFill>
                <a:srgbClr val="C45C26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48/50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下一步计划与请示事项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C45C26"/>
                </a:solidFill>
                <a:latin typeface="Microsoft YaHei"/>
              </a:rPr>
              <a:t>按计划节点推进上线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：【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计划正式上线时间，如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 202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7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年</a:t>
            </a:r>
            <a:r>
              <a:rPr lang="en-US" sz="1800" b="0" dirty="0">
                <a:solidFill>
                  <a:srgbClr val="C45C26"/>
                </a:solidFill>
                <a:latin typeface="Microsoft YaHei"/>
              </a:rPr>
              <a:t>1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月】（</a:t>
            </a:r>
            <a:r>
              <a:rPr sz="1800" b="0" dirty="0" err="1">
                <a:solidFill>
                  <a:srgbClr val="C45C26"/>
                </a:solidFill>
                <a:latin typeface="Microsoft YaHei"/>
              </a:rPr>
              <a:t>请审定</a:t>
            </a:r>
            <a:r>
              <a:rPr sz="1800" b="0" dirty="0">
                <a:solidFill>
                  <a:srgbClr val="C45C26"/>
                </a:solidFill>
                <a:latin typeface="Microsoft YaHei"/>
              </a:rPr>
              <a:t>）</a:t>
            </a: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扩大试点科室培训，固化《操作规程》与角色分工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完成历史台账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/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存量数据导入与盘点核对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根据试运行反馈优化审批节点、逾期提醒与报表通报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请示：是否同意按上述计划进入试运行</a:t>
            </a:r>
            <a:r>
              <a:rPr sz="1800" b="0" dirty="0">
                <a:solidFill>
                  <a:srgbClr val="1F2A37"/>
                </a:solidFill>
                <a:latin typeface="Microsoft YaHei"/>
              </a:rPr>
              <a:t>/</a:t>
            </a:r>
            <a:r>
              <a:rPr sz="1800" b="0" dirty="0" err="1">
                <a:solidFill>
                  <a:srgbClr val="1F2A37"/>
                </a:solidFill>
                <a:latin typeface="Microsoft YaHei"/>
              </a:rPr>
              <a:t>正式上线阶段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1800" b="0" dirty="0" err="1">
                <a:solidFill>
                  <a:srgbClr val="1F2A37"/>
                </a:solidFill>
                <a:latin typeface="Microsoft YaHei"/>
              </a:rPr>
              <a:t>请示：建设投入与保障条件是否按本院数据口径予以确认</a:t>
            </a:r>
            <a:endParaRPr sz="1800" b="0" dirty="0">
              <a:solidFill>
                <a:srgbClr val="1F2A37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49/50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敬请批评指正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Microsoft YaHei"/>
              </a:rPr>
              <a:t>河北省第三测绘院 · 测绘资料管理系统</a:t>
            </a:r>
          </a:p>
          <a:p>
            <a:r>
              <a:rPr sz="1400" b="0">
                <a:solidFill>
                  <a:srgbClr val="FFFFFF"/>
                </a:solidFill>
                <a:latin typeface="Microsoft YaHei"/>
              </a:rPr>
              <a:t>数据填写：docs/ppt-report/institute_data.yaml</a:t>
            </a:r>
          </a:p>
          <a:p>
            <a:r>
              <a:rPr sz="1400" b="0">
                <a:solidFill>
                  <a:srgbClr val="FFFFFF"/>
                </a:solidFill>
                <a:latin typeface="Microsoft YaHei"/>
              </a:rPr>
              <a:t>重新生成：python docs/ppt-report/build_pptx.py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50/50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7945</Words>
  <Application>Microsoft Office PowerPoint</Application>
  <PresentationFormat>宽屏</PresentationFormat>
  <Paragraphs>775</Paragraphs>
  <Slides>134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134</vt:i4>
      </vt:variant>
    </vt:vector>
  </HeadingPairs>
  <TitlesOfParts>
    <vt:vector size="140" baseType="lpstr">
      <vt:lpstr>等线</vt:lpstr>
      <vt:lpstr>等线 Light</vt:lpstr>
      <vt:lpstr>黑体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历史存档.地形图图件</vt:lpstr>
      <vt:lpstr>历史存档.地形图图件</vt:lpstr>
      <vt:lpstr>历史存档.航摄胶片、像片</vt:lpstr>
      <vt:lpstr>历史存档.航摄胶片、像片</vt:lpstr>
      <vt:lpstr>历史存档.航摄胶片、像片</vt:lpstr>
      <vt:lpstr>历史存档.其他资料</vt:lpstr>
      <vt:lpstr>历史存档.资料台账与资料处置.台账</vt:lpstr>
      <vt:lpstr>历史存档.资料台账与资料处置.处置</vt:lpstr>
      <vt:lpstr>PowerPoint 演示文稿</vt:lpstr>
      <vt:lpstr>PowerPoint 演示文稿</vt:lpstr>
      <vt:lpstr>PowerPoint 演示文稿</vt:lpstr>
      <vt:lpstr>年度资料</vt:lpstr>
      <vt:lpstr>年度资料.项目信息</vt:lpstr>
      <vt:lpstr>年度资料.建档与立档</vt:lpstr>
      <vt:lpstr>年度资料.建档与立档.建档申请</vt:lpstr>
      <vt:lpstr>年度资料.建档与立档.建档申请.申请信息录入</vt:lpstr>
      <vt:lpstr>年度资料.建档与立档.建档审批</vt:lpstr>
      <vt:lpstr>年度资料.建档与立档.建档审批</vt:lpstr>
      <vt:lpstr>年度资料.建档与立档.资料立档（模拟介质）</vt:lpstr>
      <vt:lpstr>年度资料.建档与立档.资料立档（电子介质-1）</vt:lpstr>
      <vt:lpstr>年度资料.建档与立档.资料立档（电子介质-2）</vt:lpstr>
      <vt:lpstr>年度资料.建档与立档.资料立档（电子介质-3）</vt:lpstr>
      <vt:lpstr>年度资料.建档与立档.资料立档</vt:lpstr>
      <vt:lpstr>年度资料.建档与立档.存量光盘直办立档</vt:lpstr>
      <vt:lpstr>年度资料.建档与立档.存量光盘直办立档</vt:lpstr>
      <vt:lpstr>年度资料.建档与立档.存量硬盘直办立档</vt:lpstr>
      <vt:lpstr>年度资料.建档与立档.存量文本直办立档</vt:lpstr>
      <vt:lpstr>年度资料.建档与立档.存量文本直办立档</vt:lpstr>
      <vt:lpstr>年度资料.建档与立档.存量文本直办立档</vt:lpstr>
      <vt:lpstr>年度资料.建档与立档.立档台账</vt:lpstr>
      <vt:lpstr>年度资料.建档与立档.立档台账</vt:lpstr>
      <vt:lpstr>年度资料.建档与立档. 立档台账</vt:lpstr>
      <vt:lpstr>年度资料.建档与立档. 立档台账</vt:lpstr>
      <vt:lpstr>年度资料.迁档（模拟资料）</vt:lpstr>
      <vt:lpstr>年度资料.迁档（电子资料）</vt:lpstr>
      <vt:lpstr>年度资料.迁档（迁档台账）</vt:lpstr>
      <vt:lpstr>年度资料.检索.综合模式</vt:lpstr>
      <vt:lpstr>年度资料.检索.电子资料检索模式</vt:lpstr>
      <vt:lpstr>年度资料.检索.模拟资料检索模式</vt:lpstr>
      <vt:lpstr>年度资料.检索.检索池</vt:lpstr>
      <vt:lpstr>PowerPoint 演示文稿</vt:lpstr>
      <vt:lpstr>年度资料.实物流转</vt:lpstr>
      <vt:lpstr>年度资料.实物流转.借出申请</vt:lpstr>
      <vt:lpstr>年度资料.实物流转.借出申请</vt:lpstr>
      <vt:lpstr>年度资料.实物流转.借出申请</vt:lpstr>
      <vt:lpstr>年度资料.实物流转.借出申请</vt:lpstr>
      <vt:lpstr>年度资料.实物流转.借出审批</vt:lpstr>
      <vt:lpstr>年度资料.实物流转.借出审批</vt:lpstr>
      <vt:lpstr>年度资料.实物流转.借出前后比较</vt:lpstr>
      <vt:lpstr>年度资料.实物流转.归还申请（正常归还）</vt:lpstr>
      <vt:lpstr>年度资料.实物流转.归还申请（非正常归还）</vt:lpstr>
      <vt:lpstr>年度资料.实物流转.流转台账</vt:lpstr>
      <vt:lpstr>PowerPoint 演示文稿</vt:lpstr>
      <vt:lpstr>年度资料.出入网.入网申请</vt:lpstr>
      <vt:lpstr>年度资料.出入网.入网申请</vt:lpstr>
      <vt:lpstr>年度资料.出入网.入网审批</vt:lpstr>
      <vt:lpstr>年度资料.出入网.出网申请</vt:lpstr>
      <vt:lpstr>年度资料.出入网.出网审批</vt:lpstr>
      <vt:lpstr>年度资料.出入网.在网数据台账</vt:lpstr>
      <vt:lpstr>年度资料.出入网.在网数据处置</vt:lpstr>
      <vt:lpstr>年度资料.出入网.跨域流转台账</vt:lpstr>
      <vt:lpstr>PowerPoint 演示文稿</vt:lpstr>
      <vt:lpstr>年度资料.盘库与离库.模拟资料盘库</vt:lpstr>
      <vt:lpstr>年度资料.盘库与离库.电子资料盘库</vt:lpstr>
      <vt:lpstr>年度资料.盘库与离库.模拟资料离库处置</vt:lpstr>
      <vt:lpstr>年度资料.盘库与离库.电子资料离库处置</vt:lpstr>
      <vt:lpstr>PowerPoint 演示文稿</vt:lpstr>
      <vt:lpstr>PowerPoint 演示文稿</vt:lpstr>
      <vt:lpstr>库房与介质.档案柜.档案柜登记</vt:lpstr>
      <vt:lpstr>库房与介质.档案柜.档案柜登记.新增档案柜</vt:lpstr>
      <vt:lpstr>库房与介质.档案柜.开柜操作（标准滑道档案柜）</vt:lpstr>
      <vt:lpstr>库房与介质.档案柜.开柜操作（防磁磁盘柜）</vt:lpstr>
      <vt:lpstr>库房与介质.档案柜.开柜操作.标识图例</vt:lpstr>
      <vt:lpstr>库房与介质.档案柜.开柜操作.设置档口用途</vt:lpstr>
      <vt:lpstr>库房与介质.档案柜</vt:lpstr>
      <vt:lpstr>库房与介质.硬盘.硬盘概览</vt:lpstr>
      <vt:lpstr>库房与介质.硬盘.批量登记</vt:lpstr>
      <vt:lpstr>库房与介质.硬盘.交互式登记</vt:lpstr>
      <vt:lpstr>库房与介质.硬盘.批量登记</vt:lpstr>
      <vt:lpstr>库房与介质.硬盘.出库申请</vt:lpstr>
      <vt:lpstr>库房与介质.硬盘.出库申请的待办事项</vt:lpstr>
      <vt:lpstr>库房与介质.硬盘.出库办理</vt:lpstr>
      <vt:lpstr>库房与介质.硬盘.出库办理</vt:lpstr>
      <vt:lpstr>库房与介质.硬盘.出库申请及办理业务流程</vt:lpstr>
      <vt:lpstr>库房与介质.硬盘.出库业务对应的数据库同步更新</vt:lpstr>
      <vt:lpstr>库房与介质.硬盘.归还申请</vt:lpstr>
      <vt:lpstr>库房与介质.硬盘.归还办理</vt:lpstr>
      <vt:lpstr>库房与介质.硬盘.盘库登记</vt:lpstr>
      <vt:lpstr>库房与介质.硬盘.离库处置</vt:lpstr>
      <vt:lpstr>库房与介质.硬盘.离库登记</vt:lpstr>
      <vt:lpstr>库房与介质.硬盘</vt:lpstr>
      <vt:lpstr>库房与介质.光盘</vt:lpstr>
      <vt:lpstr>PowerPoint 演示文稿</vt:lpstr>
      <vt:lpstr>PowerPoint 演示文稿</vt:lpstr>
      <vt:lpstr>系统设置.个人设置</vt:lpstr>
      <vt:lpstr>系统设置.用户管理</vt:lpstr>
      <vt:lpstr>系统设置.部门设置</vt:lpstr>
      <vt:lpstr>系统设置.角色概览</vt:lpstr>
      <vt:lpstr>系统设置.审核审批</vt:lpstr>
      <vt:lpstr>系统设置.服务器路径设置</vt:lpstr>
      <vt:lpstr>系统设置.服务器路径设置</vt:lpstr>
      <vt:lpstr>系统设置.数据库操作日志</vt:lpstr>
      <vt:lpstr>系统设置.在线用户与登录记录</vt:lpstr>
      <vt:lpstr>系统设置.待办事项总览</vt:lpstr>
      <vt:lpstr>系统设置.高级数据管理</vt:lpstr>
      <vt:lpstr>PowerPoint 演示文稿</vt:lpstr>
      <vt:lpstr>操作手册</vt:lpstr>
      <vt:lpstr>操作手册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茂生 马</dc:creator>
  <cp:lastModifiedBy>茂生 马</cp:lastModifiedBy>
  <cp:revision>8</cp:revision>
  <dcterms:created xsi:type="dcterms:W3CDTF">2026-10-19T07:15:59Z</dcterms:created>
  <dcterms:modified xsi:type="dcterms:W3CDTF">2026-10-22T07:30:26Z</dcterms:modified>
</cp:coreProperties>
</file>